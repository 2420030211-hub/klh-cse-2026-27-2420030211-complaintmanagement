
<file path=[Content_Types].xml><?xml version="1.0" encoding="utf-8"?>
<Types xmlns="http://schemas.openxmlformats.org/package/2006/content-types">
  <Default Extension="fntdata" ContentType="application/x-fontdata"/>
  <Default Extension="jpeg" ContentType="image/jpeg"/>
  <Default Extension="jpg" ContentType="image/pn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257" r:id="rId3"/>
    <p:sldId id="266" r:id="rId4"/>
    <p:sldId id="267" r:id="rId5"/>
    <p:sldId id="278" r:id="rId6"/>
    <p:sldId id="268" r:id="rId7"/>
    <p:sldId id="269" r:id="rId8"/>
    <p:sldId id="260" r:id="rId9"/>
    <p:sldId id="270" r:id="rId10"/>
    <p:sldId id="271" r:id="rId11"/>
    <p:sldId id="272" r:id="rId12"/>
    <p:sldId id="273" r:id="rId13"/>
    <p:sldId id="274" r:id="rId14"/>
    <p:sldId id="275" r:id="rId15"/>
    <p:sldId id="276" r:id="rId16"/>
    <p:sldId id="277" r:id="rId17"/>
    <p:sldId id="265" r:id="rId18"/>
  </p:sldIdLst>
  <p:sldSz cx="18288000" cy="10287000"/>
  <p:notesSz cx="6858000" cy="9144000"/>
  <p:embeddedFontLst>
    <p:embeddedFont>
      <p:font typeface="Prata" panose="020B0604020202020204" charset="0"/>
      <p:regular r:id="rId20"/>
    </p:embeddedFont>
    <p:embeddedFont>
      <p:font typeface="Raleway" panose="020B0604020202020204" charset="0"/>
      <p:regular r:id="rId21"/>
    </p:embeddedFont>
    <p:embeddedFont>
      <p:font typeface="Raleway Bold"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1B44A"/>
    <a:srgbClr val="679A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1738" autoAdjust="0"/>
  </p:normalViewPr>
  <p:slideViewPr>
    <p:cSldViewPr>
      <p:cViewPr varScale="1">
        <p:scale>
          <a:sx n="39" d="100"/>
          <a:sy n="39" d="100"/>
        </p:scale>
        <p:origin x="940"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3E6CA9-397A-4E5A-A759-0034275F8D08}" type="datetimeFigureOut">
              <a:rPr lang="en-IN" smtClean="0"/>
              <a:t>13-08-2026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51B677-E104-40AF-8F31-261290023787}" type="slidenum">
              <a:rPr lang="en-IN" smtClean="0"/>
              <a:t>‹#›</a:t>
            </a:fld>
            <a:endParaRPr lang="en-IN"/>
          </a:p>
        </p:txBody>
      </p:sp>
    </p:spTree>
    <p:extLst>
      <p:ext uri="{BB962C8B-B14F-4D97-AF65-F5344CB8AC3E}">
        <p14:creationId xmlns:p14="http://schemas.microsoft.com/office/powerpoint/2010/main" val="2924733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huggingface.co/Mahesh9/distil-bert-fintuned-cfpb-complaints-data?utm_source=chatgpt.com"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dirty="0"/>
              <a:t>Good morning everyone.</a:t>
            </a:r>
          </a:p>
          <a:p>
            <a:r>
              <a:rPr lang="en-IN" b="0" dirty="0"/>
              <a:t>Our project is titled AI-Powered Banking Customer Complaint Management System using BERT.</a:t>
            </a:r>
          </a:p>
          <a:p>
            <a:r>
              <a:rPr lang="en-IN" b="0" dirty="0"/>
              <a:t>The objective of this project is to automate the complete complaint management process in banks using Artificial Intelligence.</a:t>
            </a:r>
          </a:p>
          <a:p>
            <a:r>
              <a:rPr lang="en-IN" b="0" dirty="0"/>
              <a:t>Instead of manually reading complaints, our system uses the BERT language model to understand complaint narratives, classify them into multiple categories, and automatically generate ticket information, assign departments, prioritize complaints, and provide dashboards for customers, employees, and administrators.</a:t>
            </a:r>
          </a:p>
          <a:p>
            <a:endParaRPr lang="en-IN" b="0" dirty="0"/>
          </a:p>
        </p:txBody>
      </p:sp>
      <p:sp>
        <p:nvSpPr>
          <p:cNvPr id="4" name="Slide Number Placeholder 3"/>
          <p:cNvSpPr>
            <a:spLocks noGrp="1"/>
          </p:cNvSpPr>
          <p:nvPr>
            <p:ph type="sldNum" sz="quarter" idx="5"/>
          </p:nvPr>
        </p:nvSpPr>
        <p:spPr/>
        <p:txBody>
          <a:bodyPr/>
          <a:lstStyle/>
          <a:p>
            <a:fld id="{5451B677-E104-40AF-8F31-261290023787}" type="slidenum">
              <a:rPr lang="en-IN" smtClean="0"/>
              <a:t>1</a:t>
            </a:fld>
            <a:endParaRPr lang="en-IN"/>
          </a:p>
        </p:txBody>
      </p:sp>
    </p:spTree>
    <p:extLst>
      <p:ext uri="{BB962C8B-B14F-4D97-AF65-F5344CB8AC3E}">
        <p14:creationId xmlns:p14="http://schemas.microsoft.com/office/powerpoint/2010/main" val="3030294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dirty="0"/>
              <a:t>Limitations of Existing Systems:</a:t>
            </a:r>
          </a:p>
          <a:p>
            <a:pPr lvl="0"/>
            <a:r>
              <a:rPr lang="en-IN" b="0" dirty="0"/>
              <a:t>Complaint classification only </a:t>
            </a:r>
          </a:p>
          <a:p>
            <a:pPr lvl="0"/>
            <a:r>
              <a:rPr lang="en-IN" b="0" dirty="0"/>
              <a:t>No automated ticket generation </a:t>
            </a:r>
          </a:p>
          <a:p>
            <a:pPr lvl="0"/>
            <a:r>
              <a:rPr lang="en-IN" b="0" dirty="0"/>
              <a:t>No department or employee assignment </a:t>
            </a:r>
          </a:p>
          <a:p>
            <a:pPr lvl="0"/>
            <a:r>
              <a:rPr lang="en-IN" b="0" dirty="0"/>
              <a:t>No end-to-end complaint management workflow</a:t>
            </a:r>
          </a:p>
          <a:p>
            <a:endParaRPr lang="en-IN" b="0" dirty="0"/>
          </a:p>
        </p:txBody>
      </p:sp>
      <p:sp>
        <p:nvSpPr>
          <p:cNvPr id="4" name="Slide Number Placeholder 3"/>
          <p:cNvSpPr>
            <a:spLocks noGrp="1"/>
          </p:cNvSpPr>
          <p:nvPr>
            <p:ph type="sldNum" sz="quarter" idx="5"/>
          </p:nvPr>
        </p:nvSpPr>
        <p:spPr/>
        <p:txBody>
          <a:bodyPr/>
          <a:lstStyle/>
          <a:p>
            <a:fld id="{5451B677-E104-40AF-8F31-261290023787}" type="slidenum">
              <a:rPr lang="en-IN" smtClean="0"/>
              <a:t>3</a:t>
            </a:fld>
            <a:endParaRPr lang="en-IN"/>
          </a:p>
        </p:txBody>
      </p:sp>
    </p:spTree>
    <p:extLst>
      <p:ext uri="{BB962C8B-B14F-4D97-AF65-F5344CB8AC3E}">
        <p14:creationId xmlns:p14="http://schemas.microsoft.com/office/powerpoint/2010/main" val="391171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7C014-6333-0153-3239-44A8FB6642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BFF677-C94B-F8CD-6E99-B0D36FA642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10B93A-B0E3-2670-4EDC-6B421C2916B4}"/>
              </a:ext>
            </a:extLst>
          </p:cNvPr>
          <p:cNvSpPr>
            <a:spLocks noGrp="1"/>
          </p:cNvSpPr>
          <p:nvPr>
            <p:ph type="body" idx="1"/>
          </p:nvPr>
        </p:nvSpPr>
        <p:spPr/>
        <p:txBody>
          <a:bodyPr/>
          <a:lstStyle/>
          <a:p>
            <a:r>
              <a:rPr lang="en-IN" b="0" dirty="0"/>
              <a:t>Existing studies focus on classification, topic </a:t>
            </a:r>
            <a:r>
              <a:rPr lang="en-IN" b="0" dirty="0" err="1"/>
              <a:t>modeling</a:t>
            </a:r>
            <a:r>
              <a:rPr lang="en-IN" b="0" dirty="0"/>
              <a:t>, or priority prediction, but none provides a complete AI-powered banking complaint management system.</a:t>
            </a:r>
          </a:p>
        </p:txBody>
      </p:sp>
      <p:sp>
        <p:nvSpPr>
          <p:cNvPr id="4" name="Slide Number Placeholder 3">
            <a:extLst>
              <a:ext uri="{FF2B5EF4-FFF2-40B4-BE49-F238E27FC236}">
                <a16:creationId xmlns:a16="http://schemas.microsoft.com/office/drawing/2014/main" id="{2DB8C6B4-BADC-AF95-6775-6549DA89E64C}"/>
              </a:ext>
            </a:extLst>
          </p:cNvPr>
          <p:cNvSpPr>
            <a:spLocks noGrp="1"/>
          </p:cNvSpPr>
          <p:nvPr>
            <p:ph type="sldNum" sz="quarter" idx="5"/>
          </p:nvPr>
        </p:nvSpPr>
        <p:spPr/>
        <p:txBody>
          <a:bodyPr/>
          <a:lstStyle/>
          <a:p>
            <a:fld id="{5451B677-E104-40AF-8F31-261290023787}" type="slidenum">
              <a:rPr lang="en-IN" smtClean="0"/>
              <a:t>4</a:t>
            </a:fld>
            <a:endParaRPr lang="en-IN"/>
          </a:p>
        </p:txBody>
      </p:sp>
    </p:spTree>
    <p:extLst>
      <p:ext uri="{BB962C8B-B14F-4D97-AF65-F5344CB8AC3E}">
        <p14:creationId xmlns:p14="http://schemas.microsoft.com/office/powerpoint/2010/main" val="1695750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131F5-0446-A4FF-FA44-72551D7023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2E124D-9B69-4371-56F3-6523E7F6F5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F76261-27D2-CEAC-22F8-10539BEC72C5}"/>
              </a:ext>
            </a:extLst>
          </p:cNvPr>
          <p:cNvSpPr>
            <a:spLocks noGrp="1"/>
          </p:cNvSpPr>
          <p:nvPr>
            <p:ph type="body" idx="1"/>
          </p:nvPr>
        </p:nvSpPr>
        <p:spPr/>
        <p:txBody>
          <a:bodyPr/>
          <a:lstStyle/>
          <a:p>
            <a:r>
              <a:rPr lang="en-IN" b="0" dirty="0"/>
              <a:t>Existing studies focus on classification, topic </a:t>
            </a:r>
            <a:r>
              <a:rPr lang="en-IN" b="0" dirty="0" err="1"/>
              <a:t>modeling</a:t>
            </a:r>
            <a:r>
              <a:rPr lang="en-IN" b="0" dirty="0"/>
              <a:t>, or priority prediction, but none provides a complete AI-powered banking complaint management system.</a:t>
            </a:r>
          </a:p>
        </p:txBody>
      </p:sp>
      <p:sp>
        <p:nvSpPr>
          <p:cNvPr id="4" name="Slide Number Placeholder 3">
            <a:extLst>
              <a:ext uri="{FF2B5EF4-FFF2-40B4-BE49-F238E27FC236}">
                <a16:creationId xmlns:a16="http://schemas.microsoft.com/office/drawing/2014/main" id="{3A184CE7-AF2B-E4FC-7817-0C19EC8DF624}"/>
              </a:ext>
            </a:extLst>
          </p:cNvPr>
          <p:cNvSpPr>
            <a:spLocks noGrp="1"/>
          </p:cNvSpPr>
          <p:nvPr>
            <p:ph type="sldNum" sz="quarter" idx="5"/>
          </p:nvPr>
        </p:nvSpPr>
        <p:spPr/>
        <p:txBody>
          <a:bodyPr/>
          <a:lstStyle/>
          <a:p>
            <a:fld id="{5451B677-E104-40AF-8F31-261290023787}" type="slidenum">
              <a:rPr lang="en-IN" smtClean="0"/>
              <a:t>5</a:t>
            </a:fld>
            <a:endParaRPr lang="en-IN"/>
          </a:p>
        </p:txBody>
      </p:sp>
    </p:spTree>
    <p:extLst>
      <p:ext uri="{BB962C8B-B14F-4D97-AF65-F5344CB8AC3E}">
        <p14:creationId xmlns:p14="http://schemas.microsoft.com/office/powerpoint/2010/main" val="33550587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B7859-FF56-17E3-4D13-EB40542C25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926EAF-B0A5-2EED-7C52-6B69107575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5829DA-1118-804A-3845-F58E6D7E8E43}"/>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B39D7AE9-6443-D5A8-CF5E-6A6E42473FE8}"/>
              </a:ext>
            </a:extLst>
          </p:cNvPr>
          <p:cNvSpPr>
            <a:spLocks noGrp="1"/>
          </p:cNvSpPr>
          <p:nvPr>
            <p:ph type="sldNum" sz="quarter" idx="5"/>
          </p:nvPr>
        </p:nvSpPr>
        <p:spPr/>
        <p:txBody>
          <a:bodyPr/>
          <a:lstStyle/>
          <a:p>
            <a:fld id="{5451B677-E104-40AF-8F31-261290023787}" type="slidenum">
              <a:rPr lang="en-IN" smtClean="0"/>
              <a:t>6</a:t>
            </a:fld>
            <a:endParaRPr lang="en-IN"/>
          </a:p>
        </p:txBody>
      </p:sp>
    </p:spTree>
    <p:extLst>
      <p:ext uri="{BB962C8B-B14F-4D97-AF65-F5344CB8AC3E}">
        <p14:creationId xmlns:p14="http://schemas.microsoft.com/office/powerpoint/2010/main" val="10938930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B1D2F-5B21-DEFF-C385-A50FC9E72F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2BAC92-A6F2-8666-8F7F-756D9DF126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A6FAD6-6B19-B17A-63DD-40728FA799D8}"/>
              </a:ext>
            </a:extLst>
          </p:cNvPr>
          <p:cNvSpPr>
            <a:spLocks noGrp="1"/>
          </p:cNvSpPr>
          <p:nvPr>
            <p:ph type="body" idx="1"/>
          </p:nvPr>
        </p:nvSpPr>
        <p:spPr/>
        <p:txBody>
          <a:bodyPr/>
          <a:lstStyle/>
          <a:p>
            <a:r>
              <a:rPr lang="en-IN" b="0" dirty="0"/>
              <a:t>Previous Project</a:t>
            </a:r>
          </a:p>
          <a:p>
            <a:r>
              <a:rPr lang="en-IN" b="0" dirty="0" err="1"/>
              <a:t>DistilBERT</a:t>
            </a:r>
            <a:r>
              <a:rPr lang="en-IN" b="0" dirty="0"/>
              <a:t> Fine-Tuned on CFPB Consumer Complaints</a:t>
            </a:r>
          </a:p>
          <a:p>
            <a:r>
              <a:rPr lang="en-IN" b="0" dirty="0"/>
              <a:t>Project Link (Hugging Face):</a:t>
            </a:r>
          </a:p>
          <a:p>
            <a:r>
              <a:rPr lang="en-IN" b="0" dirty="0">
                <a:hlinkClick r:id="rId3"/>
              </a:rPr>
              <a:t>Mahesh9/distil-</a:t>
            </a:r>
            <a:r>
              <a:rPr lang="en-IN" b="0" dirty="0" err="1">
                <a:hlinkClick r:id="rId3"/>
              </a:rPr>
              <a:t>bert</a:t>
            </a:r>
            <a:r>
              <a:rPr lang="en-IN" b="0" dirty="0">
                <a:hlinkClick r:id="rId3"/>
              </a:rPr>
              <a:t>-</a:t>
            </a:r>
            <a:r>
              <a:rPr lang="en-IN" b="0" dirty="0" err="1">
                <a:hlinkClick r:id="rId3"/>
              </a:rPr>
              <a:t>fintuned</a:t>
            </a:r>
            <a:r>
              <a:rPr lang="en-IN" b="0" dirty="0">
                <a:hlinkClick r:id="rId3"/>
              </a:rPr>
              <a:t>-</a:t>
            </a:r>
            <a:r>
              <a:rPr lang="en-IN" b="0" dirty="0" err="1">
                <a:hlinkClick r:id="rId3"/>
              </a:rPr>
              <a:t>cfpb</a:t>
            </a:r>
            <a:r>
              <a:rPr lang="en-IN" b="0" dirty="0">
                <a:hlinkClick r:id="rId3"/>
              </a:rPr>
              <a:t>-complaints-data</a:t>
            </a:r>
            <a:endParaRPr lang="en-IN" b="0" dirty="0"/>
          </a:p>
          <a:p>
            <a:r>
              <a:rPr lang="en-IN" b="0" dirty="0"/>
              <a:t>Reported Results</a:t>
            </a:r>
          </a:p>
          <a:p>
            <a:pPr lvl="0"/>
            <a:r>
              <a:rPr lang="en-IN" b="0" dirty="0"/>
              <a:t>Accuracy: 94.57% </a:t>
            </a:r>
          </a:p>
          <a:p>
            <a:pPr lvl="0"/>
            <a:r>
              <a:rPr lang="en-IN" b="0" dirty="0"/>
              <a:t>Precision: 86.32% </a:t>
            </a:r>
          </a:p>
          <a:p>
            <a:pPr lvl="0"/>
            <a:r>
              <a:rPr lang="en-IN" b="0" dirty="0"/>
              <a:t>Recall: 83.68% </a:t>
            </a:r>
          </a:p>
          <a:p>
            <a:pPr lvl="0"/>
            <a:r>
              <a:rPr lang="en-IN" b="0" dirty="0"/>
              <a:t>F1-Score: 84.84% </a:t>
            </a:r>
          </a:p>
          <a:p>
            <a:endParaRPr lang="en-IN" b="0" dirty="0"/>
          </a:p>
        </p:txBody>
      </p:sp>
      <p:sp>
        <p:nvSpPr>
          <p:cNvPr id="4" name="Slide Number Placeholder 3">
            <a:extLst>
              <a:ext uri="{FF2B5EF4-FFF2-40B4-BE49-F238E27FC236}">
                <a16:creationId xmlns:a16="http://schemas.microsoft.com/office/drawing/2014/main" id="{C3467044-4F95-CC17-29DB-C64B6D8A0C53}"/>
              </a:ext>
            </a:extLst>
          </p:cNvPr>
          <p:cNvSpPr>
            <a:spLocks noGrp="1"/>
          </p:cNvSpPr>
          <p:nvPr>
            <p:ph type="sldNum" sz="quarter" idx="5"/>
          </p:nvPr>
        </p:nvSpPr>
        <p:spPr/>
        <p:txBody>
          <a:bodyPr/>
          <a:lstStyle/>
          <a:p>
            <a:fld id="{5451B677-E104-40AF-8F31-261290023787}" type="slidenum">
              <a:rPr lang="en-IN" smtClean="0"/>
              <a:t>7</a:t>
            </a:fld>
            <a:endParaRPr lang="en-IN"/>
          </a:p>
        </p:txBody>
      </p:sp>
    </p:spTree>
    <p:extLst>
      <p:ext uri="{BB962C8B-B14F-4D97-AF65-F5344CB8AC3E}">
        <p14:creationId xmlns:p14="http://schemas.microsoft.com/office/powerpoint/2010/main" val="18021000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299F2-EDD3-2811-3527-0B7999F02F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A9766-23D6-2938-830D-A530F261A9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907A19-1AB9-A171-5BA4-B44C20F5F298}"/>
              </a:ext>
            </a:extLst>
          </p:cNvPr>
          <p:cNvSpPr>
            <a:spLocks noGrp="1"/>
          </p:cNvSpPr>
          <p:nvPr>
            <p:ph type="body" idx="1"/>
          </p:nvPr>
        </p:nvSpPr>
        <p:spPr/>
        <p:txBody>
          <a:bodyPr/>
          <a:lstStyle/>
          <a:p>
            <a:r>
              <a:rPr lang="en-IN" b="0" dirty="0"/>
              <a:t>Why These Columns?</a:t>
            </a:r>
          </a:p>
          <a:p>
            <a:pPr lvl="0"/>
            <a:r>
              <a:rPr lang="en-IN" b="0" dirty="0"/>
              <a:t>Complaint Narrative contains the contextual information required for classification. </a:t>
            </a:r>
          </a:p>
          <a:p>
            <a:pPr lvl="0"/>
            <a:r>
              <a:rPr lang="en-IN" b="0" dirty="0"/>
              <a:t>Product, Sub-product, Issue, and Sub-issue serve as target labels for BERT training. </a:t>
            </a:r>
          </a:p>
          <a:p>
            <a:pPr lvl="0"/>
            <a:r>
              <a:rPr lang="en-IN" b="0" dirty="0"/>
              <a:t>Other columns (Company, State, ZIP Code, Date Received, Company Response, etc.) were excluded because they are either unavailable during prediction, unrelated to complaint semantics, or may introduce bias and data leakage. </a:t>
            </a:r>
          </a:p>
          <a:p>
            <a:br>
              <a:rPr lang="en-IN" b="0" dirty="0"/>
            </a:br>
            <a:endParaRPr lang="en-IN" b="0" dirty="0"/>
          </a:p>
          <a:p>
            <a:r>
              <a:rPr lang="en-IN" b="0" dirty="0"/>
              <a:t>Why CFPB Dataset?</a:t>
            </a:r>
          </a:p>
          <a:p>
            <a:pPr lvl="0"/>
            <a:r>
              <a:rPr lang="en-IN" b="0" dirty="0"/>
              <a:t>Large real-world banking complaint dataset. </a:t>
            </a:r>
          </a:p>
          <a:p>
            <a:pPr lvl="0"/>
            <a:r>
              <a:rPr lang="en-IN" b="0" dirty="0"/>
              <a:t>Officially published by the U.S. Consumer Financial Protection Bureau. </a:t>
            </a:r>
          </a:p>
          <a:p>
            <a:pPr lvl="0"/>
            <a:r>
              <a:rPr lang="en-IN" b="0" dirty="0"/>
              <a:t>Contains diverse financial complaint narratives. </a:t>
            </a:r>
          </a:p>
          <a:p>
            <a:pPr lvl="0"/>
            <a:r>
              <a:rPr lang="en-IN" b="0" dirty="0"/>
              <a:t>Well-suited for training NLP and BERT-based complaint classification models.</a:t>
            </a:r>
          </a:p>
          <a:p>
            <a:endParaRPr lang="en-IN" b="0" dirty="0"/>
          </a:p>
        </p:txBody>
      </p:sp>
      <p:sp>
        <p:nvSpPr>
          <p:cNvPr id="4" name="Slide Number Placeholder 3">
            <a:extLst>
              <a:ext uri="{FF2B5EF4-FFF2-40B4-BE49-F238E27FC236}">
                <a16:creationId xmlns:a16="http://schemas.microsoft.com/office/drawing/2014/main" id="{A0ABD109-245F-8D02-ADAA-E365841A4710}"/>
              </a:ext>
            </a:extLst>
          </p:cNvPr>
          <p:cNvSpPr>
            <a:spLocks noGrp="1"/>
          </p:cNvSpPr>
          <p:nvPr>
            <p:ph type="sldNum" sz="quarter" idx="5"/>
          </p:nvPr>
        </p:nvSpPr>
        <p:spPr/>
        <p:txBody>
          <a:bodyPr/>
          <a:lstStyle/>
          <a:p>
            <a:fld id="{5451B677-E104-40AF-8F31-261290023787}" type="slidenum">
              <a:rPr lang="en-IN" smtClean="0"/>
              <a:t>11</a:t>
            </a:fld>
            <a:endParaRPr lang="en-IN"/>
          </a:p>
        </p:txBody>
      </p:sp>
    </p:spTree>
    <p:extLst>
      <p:ext uri="{BB962C8B-B14F-4D97-AF65-F5344CB8AC3E}">
        <p14:creationId xmlns:p14="http://schemas.microsoft.com/office/powerpoint/2010/main" val="16842199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72DCD-D099-0965-4FA3-2FED4481B1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A0D597-19C4-34A0-2BF5-379B8678EB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B96682-416C-7DEF-BE62-0FA050C3B659}"/>
              </a:ext>
            </a:extLst>
          </p:cNvPr>
          <p:cNvSpPr>
            <a:spLocks noGrp="1"/>
          </p:cNvSpPr>
          <p:nvPr>
            <p:ph type="body" idx="1"/>
          </p:nvPr>
        </p:nvSpPr>
        <p:spPr/>
        <p:txBody>
          <a:bodyPr/>
          <a:lstStyle/>
          <a:p>
            <a:r>
              <a:rPr lang="en-IN" b="0" dirty="0"/>
              <a:t>Why These Columns?</a:t>
            </a:r>
          </a:p>
          <a:p>
            <a:pPr lvl="0"/>
            <a:r>
              <a:rPr lang="en-IN" b="0" dirty="0"/>
              <a:t>Complaint Narrative contains the contextual information required for classification. </a:t>
            </a:r>
          </a:p>
          <a:p>
            <a:pPr lvl="0"/>
            <a:r>
              <a:rPr lang="en-IN" b="0" dirty="0"/>
              <a:t>Product, Sub-product, Issue, and Sub-issue serve as target labels for BERT training. </a:t>
            </a:r>
          </a:p>
          <a:p>
            <a:pPr lvl="0"/>
            <a:r>
              <a:rPr lang="en-IN" b="0" dirty="0"/>
              <a:t>Other columns (Company, State, ZIP Code, Date Received, Company Response, etc.) were excluded because they are either unavailable during prediction, unrelated to complaint semantics, or may introduce bias and data leakage. </a:t>
            </a:r>
          </a:p>
          <a:p>
            <a:br>
              <a:rPr lang="en-IN" b="0" dirty="0"/>
            </a:br>
            <a:endParaRPr lang="en-IN" b="0" dirty="0"/>
          </a:p>
          <a:p>
            <a:r>
              <a:rPr lang="en-IN" b="0" dirty="0"/>
              <a:t>Why CFPB Dataset?</a:t>
            </a:r>
          </a:p>
          <a:p>
            <a:pPr lvl="0"/>
            <a:r>
              <a:rPr lang="en-IN" b="0" dirty="0"/>
              <a:t>Large real-world banking complaint dataset. </a:t>
            </a:r>
          </a:p>
          <a:p>
            <a:pPr lvl="0"/>
            <a:r>
              <a:rPr lang="en-IN" b="0" dirty="0"/>
              <a:t>Officially published by the U.S. Consumer Financial Protection Bureau. </a:t>
            </a:r>
          </a:p>
          <a:p>
            <a:pPr lvl="0"/>
            <a:r>
              <a:rPr lang="en-IN" b="0" dirty="0"/>
              <a:t>Contains diverse financial complaint narratives. </a:t>
            </a:r>
          </a:p>
          <a:p>
            <a:pPr lvl="0"/>
            <a:r>
              <a:rPr lang="en-IN" b="0" dirty="0"/>
              <a:t>Well-suited for training NLP and BERT-based complaint classification models.</a:t>
            </a:r>
          </a:p>
          <a:p>
            <a:endParaRPr lang="en-IN" b="0" dirty="0"/>
          </a:p>
        </p:txBody>
      </p:sp>
      <p:sp>
        <p:nvSpPr>
          <p:cNvPr id="4" name="Slide Number Placeholder 3">
            <a:extLst>
              <a:ext uri="{FF2B5EF4-FFF2-40B4-BE49-F238E27FC236}">
                <a16:creationId xmlns:a16="http://schemas.microsoft.com/office/drawing/2014/main" id="{E4F7B6D4-0946-DE09-D255-61BE492B8C3B}"/>
              </a:ext>
            </a:extLst>
          </p:cNvPr>
          <p:cNvSpPr>
            <a:spLocks noGrp="1"/>
          </p:cNvSpPr>
          <p:nvPr>
            <p:ph type="sldNum" sz="quarter" idx="5"/>
          </p:nvPr>
        </p:nvSpPr>
        <p:spPr/>
        <p:txBody>
          <a:bodyPr/>
          <a:lstStyle/>
          <a:p>
            <a:fld id="{5451B677-E104-40AF-8F31-261290023787}" type="slidenum">
              <a:rPr lang="en-IN" smtClean="0"/>
              <a:t>12</a:t>
            </a:fld>
            <a:endParaRPr lang="en-IN"/>
          </a:p>
        </p:txBody>
      </p:sp>
    </p:spTree>
    <p:extLst>
      <p:ext uri="{BB962C8B-B14F-4D97-AF65-F5344CB8AC3E}">
        <p14:creationId xmlns:p14="http://schemas.microsoft.com/office/powerpoint/2010/main" val="9883890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CAD9A-DE51-2CC5-951C-BC8DB914BA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9FE83F-4F24-CAB2-B427-B6EFD41397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4EFDAE-ED17-F9DA-A336-A01CBF46C852}"/>
              </a:ext>
            </a:extLst>
          </p:cNvPr>
          <p:cNvSpPr>
            <a:spLocks noGrp="1"/>
          </p:cNvSpPr>
          <p:nvPr>
            <p:ph type="body" idx="1"/>
          </p:nvPr>
        </p:nvSpPr>
        <p:spPr/>
        <p:txBody>
          <a:bodyPr/>
          <a:lstStyle/>
          <a:p>
            <a:r>
              <a:rPr lang="en-IN" b="0" dirty="0"/>
              <a:t>Why These Columns?</a:t>
            </a:r>
          </a:p>
          <a:p>
            <a:pPr lvl="0"/>
            <a:r>
              <a:rPr lang="en-IN" b="0" dirty="0"/>
              <a:t>Complaint Narrative contains the contextual information required for classification. </a:t>
            </a:r>
          </a:p>
          <a:p>
            <a:pPr lvl="0"/>
            <a:r>
              <a:rPr lang="en-IN" b="0" dirty="0"/>
              <a:t>Product, Sub-product, Issue, and Sub-issue serve as target labels for BERT training. </a:t>
            </a:r>
          </a:p>
          <a:p>
            <a:pPr lvl="0"/>
            <a:r>
              <a:rPr lang="en-IN" b="0" dirty="0"/>
              <a:t>Other columns (Company, State, ZIP Code, Date Received, Company Response, etc.) were excluded because they are either unavailable during prediction, unrelated to complaint semantics, or may introduce bias and data leakage. </a:t>
            </a:r>
          </a:p>
          <a:p>
            <a:br>
              <a:rPr lang="en-IN" b="0" dirty="0"/>
            </a:br>
            <a:endParaRPr lang="en-IN" b="0" dirty="0"/>
          </a:p>
          <a:p>
            <a:r>
              <a:rPr lang="en-IN" b="0" dirty="0"/>
              <a:t>Why CFPB Dataset?</a:t>
            </a:r>
          </a:p>
          <a:p>
            <a:pPr lvl="0"/>
            <a:r>
              <a:rPr lang="en-IN" b="0" dirty="0"/>
              <a:t>Large real-world banking complaint dataset. </a:t>
            </a:r>
          </a:p>
          <a:p>
            <a:pPr lvl="0"/>
            <a:r>
              <a:rPr lang="en-IN" b="0" dirty="0"/>
              <a:t>Officially published by the U.S. Consumer Financial Protection Bureau. </a:t>
            </a:r>
          </a:p>
          <a:p>
            <a:pPr lvl="0"/>
            <a:r>
              <a:rPr lang="en-IN" b="0" dirty="0"/>
              <a:t>Contains diverse financial complaint narratives. </a:t>
            </a:r>
          </a:p>
          <a:p>
            <a:pPr lvl="0"/>
            <a:r>
              <a:rPr lang="en-IN" b="0" dirty="0"/>
              <a:t>Well-suited for training NLP and BERT-based complaint classification models.</a:t>
            </a:r>
          </a:p>
          <a:p>
            <a:endParaRPr lang="en-IN" b="0" dirty="0"/>
          </a:p>
        </p:txBody>
      </p:sp>
      <p:sp>
        <p:nvSpPr>
          <p:cNvPr id="4" name="Slide Number Placeholder 3">
            <a:extLst>
              <a:ext uri="{FF2B5EF4-FFF2-40B4-BE49-F238E27FC236}">
                <a16:creationId xmlns:a16="http://schemas.microsoft.com/office/drawing/2014/main" id="{BB6A1132-9BBE-3A13-AC03-CCF3E421648E}"/>
              </a:ext>
            </a:extLst>
          </p:cNvPr>
          <p:cNvSpPr>
            <a:spLocks noGrp="1"/>
          </p:cNvSpPr>
          <p:nvPr>
            <p:ph type="sldNum" sz="quarter" idx="5"/>
          </p:nvPr>
        </p:nvSpPr>
        <p:spPr/>
        <p:txBody>
          <a:bodyPr/>
          <a:lstStyle/>
          <a:p>
            <a:fld id="{5451B677-E104-40AF-8F31-261290023787}" type="slidenum">
              <a:rPr lang="en-IN" smtClean="0"/>
              <a:t>13</a:t>
            </a:fld>
            <a:endParaRPr lang="en-IN"/>
          </a:p>
        </p:txBody>
      </p:sp>
    </p:spTree>
    <p:extLst>
      <p:ext uri="{BB962C8B-B14F-4D97-AF65-F5344CB8AC3E}">
        <p14:creationId xmlns:p14="http://schemas.microsoft.com/office/powerpoint/2010/main" val="36830420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5D4F2-9100-132B-E6FB-25983C48E0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EA318E-59FB-D871-6DBC-5C5A536F37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0B3644-67D2-791F-36D2-F629E0269934}"/>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7525313F-377B-58EA-9B50-1112D53A188D}"/>
              </a:ext>
            </a:extLst>
          </p:cNvPr>
          <p:cNvSpPr>
            <a:spLocks noGrp="1"/>
          </p:cNvSpPr>
          <p:nvPr>
            <p:ph type="sldNum" sz="quarter" idx="5"/>
          </p:nvPr>
        </p:nvSpPr>
        <p:spPr/>
        <p:txBody>
          <a:bodyPr/>
          <a:lstStyle/>
          <a:p>
            <a:fld id="{5451B677-E104-40AF-8F31-261290023787}" type="slidenum">
              <a:rPr lang="en-IN" smtClean="0"/>
              <a:t>14</a:t>
            </a:fld>
            <a:endParaRPr lang="en-IN"/>
          </a:p>
        </p:txBody>
      </p:sp>
    </p:spTree>
    <p:extLst>
      <p:ext uri="{BB962C8B-B14F-4D97-AF65-F5344CB8AC3E}">
        <p14:creationId xmlns:p14="http://schemas.microsoft.com/office/powerpoint/2010/main" val="34396742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F81D4-EFF9-8CE8-688D-23AEF49AEF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64FF52-2469-D2A4-612C-C67479E0D3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9FE942-5D51-60C4-7711-4D4B3AAEEFC5}"/>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39E2FFD0-9065-D484-DA2C-4E34380A7291}"/>
              </a:ext>
            </a:extLst>
          </p:cNvPr>
          <p:cNvSpPr>
            <a:spLocks noGrp="1"/>
          </p:cNvSpPr>
          <p:nvPr>
            <p:ph type="sldNum" sz="quarter" idx="5"/>
          </p:nvPr>
        </p:nvSpPr>
        <p:spPr/>
        <p:txBody>
          <a:bodyPr/>
          <a:lstStyle/>
          <a:p>
            <a:fld id="{5451B677-E104-40AF-8F31-261290023787}" type="slidenum">
              <a:rPr lang="en-IN" smtClean="0"/>
              <a:t>15</a:t>
            </a:fld>
            <a:endParaRPr lang="en-IN"/>
          </a:p>
        </p:txBody>
      </p:sp>
    </p:spTree>
    <p:extLst>
      <p:ext uri="{BB962C8B-B14F-4D97-AF65-F5344CB8AC3E}">
        <p14:creationId xmlns:p14="http://schemas.microsoft.com/office/powerpoint/2010/main" val="512286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CC070-61D8-A630-38DC-BDCD592028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E346ED-7C8C-0540-26C5-7F7CEFDBEA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9850CE-FED1-9D44-FD9F-0720E814F2B4}"/>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71DDFDE7-70D4-445B-B60F-600FCF722D01}"/>
              </a:ext>
            </a:extLst>
          </p:cNvPr>
          <p:cNvSpPr>
            <a:spLocks noGrp="1"/>
          </p:cNvSpPr>
          <p:nvPr>
            <p:ph type="sldNum" sz="quarter" idx="5"/>
          </p:nvPr>
        </p:nvSpPr>
        <p:spPr/>
        <p:txBody>
          <a:bodyPr/>
          <a:lstStyle/>
          <a:p>
            <a:fld id="{5451B677-E104-40AF-8F31-261290023787}" type="slidenum">
              <a:rPr lang="en-IN" smtClean="0"/>
              <a:t>16</a:t>
            </a:fld>
            <a:endParaRPr lang="en-IN"/>
          </a:p>
        </p:txBody>
      </p:sp>
    </p:spTree>
    <p:extLst>
      <p:ext uri="{BB962C8B-B14F-4D97-AF65-F5344CB8AC3E}">
        <p14:creationId xmlns:p14="http://schemas.microsoft.com/office/powerpoint/2010/main" val="27107818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16.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hyperlink" Target="https://www.consumerfinance.gov/data-research/consumer-complaints/" TargetMode="External"/><Relationship Id="rId7" Type="http://schemas.openxmlformats.org/officeDocument/2006/relationships/hyperlink" Target="https://arxiv.org/abs/2407.06399"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hyperlink" Target="https://arxiv.org/abs/2205.07259" TargetMode="External"/><Relationship Id="rId5" Type="http://schemas.openxmlformats.org/officeDocument/2006/relationships/hyperlink" Target="https://arxiv.org/abs/1807.07468" TargetMode="External"/><Relationship Id="rId4" Type="http://schemas.openxmlformats.org/officeDocument/2006/relationships/hyperlink" Target="https://arxiv.org/abs/1810.04805"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sp>
        <p:nvSpPr>
          <p:cNvPr id="2" name="TextBox 2"/>
          <p:cNvSpPr txBox="1"/>
          <p:nvPr/>
        </p:nvSpPr>
        <p:spPr>
          <a:xfrm>
            <a:off x="2667000" y="1648825"/>
            <a:ext cx="12734892" cy="5713102"/>
          </a:xfrm>
          <a:prstGeom prst="rect">
            <a:avLst/>
          </a:prstGeom>
        </p:spPr>
        <p:txBody>
          <a:bodyPr lIns="0" tIns="0" rIns="0" bIns="0" rtlCol="0" anchor="t">
            <a:spAutoFit/>
          </a:bodyPr>
          <a:lstStyle/>
          <a:p>
            <a:pPr algn="ctr">
              <a:lnSpc>
                <a:spcPts val="11400"/>
              </a:lnSpc>
            </a:pPr>
            <a:r>
              <a:rPr lang="en-IN" sz="6600" b="1" dirty="0">
                <a:solidFill>
                  <a:schemeClr val="accent3">
                    <a:lumMod val="50000"/>
                  </a:schemeClr>
                </a:solidFill>
                <a:latin typeface="Prata" panose="020B0604020202020204" charset="0"/>
              </a:rPr>
              <a:t>AI-POWERED BANKING CUSTOMER COMPLAINT MANAGEMENT SYSTEM USING BERT</a:t>
            </a:r>
            <a:endParaRPr lang="en-US" sz="7200" b="1" dirty="0">
              <a:solidFill>
                <a:schemeClr val="accent3">
                  <a:lumMod val="50000"/>
                </a:schemeClr>
              </a:solidFill>
              <a:latin typeface="Prata" panose="020B0604020202020204" charset="0"/>
              <a:ea typeface="Prata"/>
              <a:cs typeface="Prata"/>
              <a:sym typeface="Prata"/>
            </a:endParaRPr>
          </a:p>
        </p:txBody>
      </p:sp>
      <p:grpSp>
        <p:nvGrpSpPr>
          <p:cNvPr id="3" name="Group 3"/>
          <p:cNvGrpSpPr/>
          <p:nvPr/>
        </p:nvGrpSpPr>
        <p:grpSpPr>
          <a:xfrm>
            <a:off x="0" y="8724900"/>
            <a:ext cx="18288000" cy="1562100"/>
            <a:chOff x="0" y="0"/>
            <a:chExt cx="12372622" cy="695960"/>
          </a:xfrm>
        </p:grpSpPr>
        <p:sp>
          <p:nvSpPr>
            <p:cNvPr id="4" name="Freeform 4"/>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p:cNvSpPr txBox="1"/>
          <p:nvPr/>
        </p:nvSpPr>
        <p:spPr>
          <a:xfrm>
            <a:off x="13182600" y="8877300"/>
            <a:ext cx="4953000" cy="1272656"/>
          </a:xfrm>
          <a:prstGeom prst="rect">
            <a:avLst/>
          </a:prstGeom>
        </p:spPr>
        <p:txBody>
          <a:bodyPr wrap="square"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Presentation by:</a:t>
            </a:r>
            <a:br>
              <a:rPr lang="en-US" sz="2400" dirty="0">
                <a:solidFill>
                  <a:srgbClr val="344E41"/>
                </a:solidFill>
                <a:latin typeface="Raleway"/>
                <a:ea typeface="Raleway"/>
                <a:cs typeface="Raleway"/>
                <a:sym typeface="Raleway"/>
              </a:rPr>
            </a:br>
            <a:r>
              <a:rPr lang="en-US" sz="2400" dirty="0">
                <a:solidFill>
                  <a:srgbClr val="344E41"/>
                </a:solidFill>
                <a:latin typeface="Raleway"/>
                <a:ea typeface="Raleway"/>
                <a:cs typeface="Raleway"/>
                <a:sym typeface="Raleway"/>
              </a:rPr>
              <a:t>B. Kundana Mani (2420030558)</a:t>
            </a:r>
            <a:br>
              <a:rPr lang="en-US" sz="2400" dirty="0">
                <a:solidFill>
                  <a:srgbClr val="344E41"/>
                </a:solidFill>
                <a:latin typeface="Raleway"/>
                <a:ea typeface="Raleway"/>
                <a:cs typeface="Raleway"/>
                <a:sym typeface="Raleway"/>
              </a:rPr>
            </a:br>
            <a:r>
              <a:rPr lang="en-US" sz="2400" dirty="0">
                <a:solidFill>
                  <a:srgbClr val="344E41"/>
                </a:solidFill>
                <a:latin typeface="Raleway"/>
                <a:ea typeface="Raleway"/>
                <a:cs typeface="Raleway"/>
                <a:sym typeface="Raleway"/>
              </a:rPr>
              <a:t>M. Sai Kridhay Kumar (2420030211)</a:t>
            </a:r>
          </a:p>
        </p:txBody>
      </p:sp>
      <p:pic>
        <p:nvPicPr>
          <p:cNvPr id="12" name="Picture 11">
            <a:extLst>
              <a:ext uri="{FF2B5EF4-FFF2-40B4-BE49-F238E27FC236}">
                <a16:creationId xmlns:a16="http://schemas.microsoft.com/office/drawing/2014/main" id="{379974A4-61A3-EAF9-0BB4-A555249B81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80961" y="-190500"/>
            <a:ext cx="4419600" cy="4419600"/>
          </a:xfrm>
          <a:prstGeom prst="rect">
            <a:avLst/>
          </a:prstGeom>
        </p:spPr>
      </p:pic>
      <p:pic>
        <p:nvPicPr>
          <p:cNvPr id="14" name="Picture 13">
            <a:extLst>
              <a:ext uri="{FF2B5EF4-FFF2-40B4-BE49-F238E27FC236}">
                <a16:creationId xmlns:a16="http://schemas.microsoft.com/office/drawing/2014/main" id="{16D97E24-C5C3-05EE-A0B9-E65D7339D3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52550" y="5753100"/>
            <a:ext cx="2705100" cy="2705100"/>
          </a:xfrm>
          <a:prstGeom prst="rect">
            <a:avLst/>
          </a:prstGeom>
        </p:spPr>
      </p:pic>
      <p:pic>
        <p:nvPicPr>
          <p:cNvPr id="6" name="Picture 5">
            <a:extLst>
              <a:ext uri="{FF2B5EF4-FFF2-40B4-BE49-F238E27FC236}">
                <a16:creationId xmlns:a16="http://schemas.microsoft.com/office/drawing/2014/main" id="{B1323845-B110-57C7-5554-C9B4B43B412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381" y="10783"/>
            <a:ext cx="2395447" cy="12006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a:off x="0" y="9258300"/>
            <a:ext cx="18288000" cy="1028700"/>
            <a:chOff x="0" y="0"/>
            <a:chExt cx="12372622" cy="695960"/>
          </a:xfrm>
        </p:grpSpPr>
        <p:sp>
          <p:nvSpPr>
            <p:cNvPr id="3" name="Freeform 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a:solidFill>
                  <a:srgbClr val="344E41"/>
                </a:solidFill>
                <a:latin typeface="Raleway"/>
                <a:ea typeface="Raleway"/>
                <a:cs typeface="Raleway"/>
                <a:sym typeface="Raleway"/>
              </a:rPr>
              <a:t>2</a:t>
            </a:r>
          </a:p>
        </p:txBody>
      </p:sp>
      <p:sp>
        <p:nvSpPr>
          <p:cNvPr id="8" name="TextBox 8"/>
          <p:cNvSpPr txBox="1"/>
          <p:nvPr/>
        </p:nvSpPr>
        <p:spPr>
          <a:xfrm>
            <a:off x="685800" y="399223"/>
            <a:ext cx="8267700" cy="829073"/>
          </a:xfrm>
          <a:prstGeom prst="rect">
            <a:avLst/>
          </a:prstGeom>
        </p:spPr>
        <p:txBody>
          <a:bodyPr wrap="square" lIns="0" tIns="0" rIns="0" bIns="0" rtlCol="0" anchor="t">
            <a:spAutoFit/>
          </a:bodyPr>
          <a:lstStyle/>
          <a:p>
            <a:pPr>
              <a:lnSpc>
                <a:spcPts val="6719"/>
              </a:lnSpc>
            </a:pPr>
            <a:r>
              <a:rPr lang="en-IN" sz="4800" dirty="0">
                <a:latin typeface="Prata" panose="020B0604020202020204" charset="0"/>
              </a:rPr>
              <a:t>PROBLEM STATEMENT</a:t>
            </a:r>
            <a:endParaRPr lang="en-US" sz="4800" dirty="0">
              <a:solidFill>
                <a:srgbClr val="344E41"/>
              </a:solidFill>
              <a:latin typeface="Prata" panose="020B0604020202020204" charset="0"/>
              <a:ea typeface="Prata"/>
              <a:cs typeface="Prata"/>
              <a:sym typeface="Prata"/>
            </a:endParaRPr>
          </a:p>
        </p:txBody>
      </p:sp>
      <p:sp>
        <p:nvSpPr>
          <p:cNvPr id="9" name="TextBox 9"/>
          <p:cNvSpPr txBox="1"/>
          <p:nvPr/>
        </p:nvSpPr>
        <p:spPr>
          <a:xfrm>
            <a:off x="279451" y="1219496"/>
            <a:ext cx="11544300" cy="8038804"/>
          </a:xfrm>
          <a:prstGeom prst="rect">
            <a:avLst/>
          </a:prstGeom>
        </p:spPr>
        <p:txBody>
          <a:bodyPr wrap="square" lIns="0" tIns="0" rIns="0" bIns="0" rtlCol="0" anchor="t">
            <a:spAutoFit/>
          </a:bodyPr>
          <a:lstStyle/>
          <a:p>
            <a:pPr marL="457200" lvl="0" indent="-457200" algn="just">
              <a:lnSpc>
                <a:spcPct val="150000"/>
              </a:lnSpc>
              <a:buFont typeface="Arial" panose="020B0604020202020204" pitchFamily="34" charset="0"/>
              <a:buChar char="•"/>
            </a:pPr>
            <a:r>
              <a:rPr lang="en-IN" sz="3200" dirty="0">
                <a:latin typeface="Raleway" panose="020B0604020202020204" charset="0"/>
              </a:rPr>
              <a:t>Banks receive a large volume of customer complaints, making manual classification and routing time-consuming and prone to errors. </a:t>
            </a:r>
          </a:p>
          <a:p>
            <a:pPr marL="457200" lvl="0" indent="-457200" algn="just">
              <a:lnSpc>
                <a:spcPct val="150000"/>
              </a:lnSpc>
              <a:buFont typeface="Arial" panose="020B0604020202020204" pitchFamily="34" charset="0"/>
              <a:buChar char="•"/>
            </a:pPr>
            <a:r>
              <a:rPr lang="en-IN" sz="3200" dirty="0">
                <a:latin typeface="Raleway" panose="020B0604020202020204" charset="0"/>
              </a:rPr>
              <a:t>Traditional keyword-based and machine learning approaches have limited ability to understand the contextual meaning of complaint narratives. </a:t>
            </a:r>
          </a:p>
          <a:p>
            <a:pPr marL="457200" lvl="0" indent="-457200" algn="just">
              <a:lnSpc>
                <a:spcPct val="150000"/>
              </a:lnSpc>
              <a:buFont typeface="Arial" panose="020B0604020202020204" pitchFamily="34" charset="0"/>
              <a:buChar char="•"/>
            </a:pPr>
            <a:r>
              <a:rPr lang="en-IN" sz="3200" dirty="0">
                <a:latin typeface="Raleway" panose="020B0604020202020204" charset="0"/>
              </a:rPr>
              <a:t>Incorrect categorization can lead to improper routing and delayed resolution. </a:t>
            </a:r>
          </a:p>
          <a:p>
            <a:pPr marL="457200" lvl="0" indent="-457200" algn="just">
              <a:lnSpc>
                <a:spcPct val="150000"/>
              </a:lnSpc>
              <a:buFont typeface="Arial" panose="020B0604020202020204" pitchFamily="34" charset="0"/>
              <a:buChar char="•"/>
            </a:pPr>
            <a:r>
              <a:rPr lang="en-IN" sz="3200" dirty="0">
                <a:latin typeface="Raleway" panose="020B0604020202020204" charset="0"/>
              </a:rPr>
              <a:t>Therefore, an intelligent system is required to automatically understand, classify, prioritize, and route customer complaints.</a:t>
            </a:r>
            <a:endParaRPr lang="en-IN" sz="3000" dirty="0">
              <a:latin typeface="Raleway" panose="020B0604020202020204" charset="0"/>
            </a:endParaRPr>
          </a:p>
        </p:txBody>
      </p:sp>
      <p:sp>
        <p:nvSpPr>
          <p:cNvPr id="14" name="Freeform 3">
            <a:extLst>
              <a:ext uri="{FF2B5EF4-FFF2-40B4-BE49-F238E27FC236}">
                <a16:creationId xmlns:a16="http://schemas.microsoft.com/office/drawing/2014/main" id="{2E92062A-461C-42E6-B9DF-0BD0FC9C94BB}"/>
              </a:ext>
            </a:extLst>
          </p:cNvPr>
          <p:cNvSpPr/>
          <p:nvPr/>
        </p:nvSpPr>
        <p:spPr>
          <a:xfrm>
            <a:off x="12236400" y="1825805"/>
            <a:ext cx="6878436" cy="7432495"/>
          </a:xfrm>
          <a:custGeom>
            <a:avLst/>
            <a:gdLst/>
            <a:ahLst/>
            <a:cxnLst/>
            <a:rect l="l" t="t" r="r" b="b"/>
            <a:pathLst>
              <a:path w="6878436" h="7432495">
                <a:moveTo>
                  <a:pt x="0" y="0"/>
                </a:moveTo>
                <a:lnTo>
                  <a:pt x="6878436" y="0"/>
                </a:lnTo>
                <a:lnTo>
                  <a:pt x="6878436" y="7432495"/>
                </a:lnTo>
                <a:lnTo>
                  <a:pt x="0" y="7432495"/>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pic>
        <p:nvPicPr>
          <p:cNvPr id="5" name="Picture 4">
            <a:extLst>
              <a:ext uri="{FF2B5EF4-FFF2-40B4-BE49-F238E27FC236}">
                <a16:creationId xmlns:a16="http://schemas.microsoft.com/office/drawing/2014/main" id="{E4560B50-1AE7-0AA6-E6E8-3C0056B5F6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D1FCDA2D-5949-F4F4-5BAA-67B15FCBBF8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5BFBD02-0473-DD04-9072-FB0A91E47942}"/>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1C7D216F-5B16-E230-082D-BDB0784A211D}"/>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8A3710EF-A4FD-C00B-0030-F3E7DDE5CAA9}"/>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3</a:t>
            </a:r>
          </a:p>
        </p:txBody>
      </p:sp>
      <p:sp>
        <p:nvSpPr>
          <p:cNvPr id="8" name="TextBox 8">
            <a:extLst>
              <a:ext uri="{FF2B5EF4-FFF2-40B4-BE49-F238E27FC236}">
                <a16:creationId xmlns:a16="http://schemas.microsoft.com/office/drawing/2014/main" id="{92CE9038-869F-CC30-FD38-6FD84EFCE6AD}"/>
              </a:ext>
            </a:extLst>
          </p:cNvPr>
          <p:cNvSpPr txBox="1"/>
          <p:nvPr/>
        </p:nvSpPr>
        <p:spPr>
          <a:xfrm>
            <a:off x="609600" y="493459"/>
            <a:ext cx="8267700" cy="829073"/>
          </a:xfrm>
          <a:prstGeom prst="rect">
            <a:avLst/>
          </a:prstGeom>
        </p:spPr>
        <p:txBody>
          <a:bodyPr wrap="square" lIns="0" tIns="0" rIns="0" bIns="0" rtlCol="0" anchor="t">
            <a:spAutoFit/>
          </a:bodyPr>
          <a:lstStyle/>
          <a:p>
            <a:pPr>
              <a:lnSpc>
                <a:spcPts val="6719"/>
              </a:lnSpc>
            </a:pPr>
            <a:r>
              <a:rPr lang="en-IN" sz="4800" dirty="0">
                <a:latin typeface="Prata" panose="020B0604020202020204" charset="0"/>
              </a:rPr>
              <a:t>EXISTING SYSTEM</a:t>
            </a:r>
            <a:endParaRPr lang="en-US" sz="4800" dirty="0">
              <a:solidFill>
                <a:srgbClr val="344E41"/>
              </a:solidFill>
              <a:latin typeface="Prata" panose="020B0604020202020204" charset="0"/>
              <a:ea typeface="Prata"/>
              <a:cs typeface="Prata"/>
              <a:sym typeface="Prata"/>
            </a:endParaRPr>
          </a:p>
        </p:txBody>
      </p:sp>
      <p:graphicFrame>
        <p:nvGraphicFramePr>
          <p:cNvPr id="4" name="Table 3">
            <a:extLst>
              <a:ext uri="{FF2B5EF4-FFF2-40B4-BE49-F238E27FC236}">
                <a16:creationId xmlns:a16="http://schemas.microsoft.com/office/drawing/2014/main" id="{2A2AD74E-158D-52DE-1C8D-2EF30AE76A64}"/>
              </a:ext>
            </a:extLst>
          </p:cNvPr>
          <p:cNvGraphicFramePr>
            <a:graphicFrameLocks noGrp="1"/>
          </p:cNvGraphicFramePr>
          <p:nvPr>
            <p:extLst>
              <p:ext uri="{D42A27DB-BD31-4B8C-83A1-F6EECF244321}">
                <p14:modId xmlns:p14="http://schemas.microsoft.com/office/powerpoint/2010/main" val="3245278799"/>
              </p:ext>
            </p:extLst>
          </p:nvPr>
        </p:nvGraphicFramePr>
        <p:xfrm>
          <a:off x="721518" y="2171700"/>
          <a:ext cx="10461171" cy="5608320"/>
        </p:xfrm>
        <a:graphic>
          <a:graphicData uri="http://schemas.openxmlformats.org/drawingml/2006/table">
            <a:tbl>
              <a:tblPr/>
              <a:tblGrid>
                <a:gridCol w="4800600">
                  <a:extLst>
                    <a:ext uri="{9D8B030D-6E8A-4147-A177-3AD203B41FA5}">
                      <a16:colId xmlns:a16="http://schemas.microsoft.com/office/drawing/2014/main" val="1440237190"/>
                    </a:ext>
                  </a:extLst>
                </a:gridCol>
                <a:gridCol w="5660571">
                  <a:extLst>
                    <a:ext uri="{9D8B030D-6E8A-4147-A177-3AD203B41FA5}">
                      <a16:colId xmlns:a16="http://schemas.microsoft.com/office/drawing/2014/main" val="4039171602"/>
                    </a:ext>
                  </a:extLst>
                </a:gridCol>
              </a:tblGrid>
              <a:tr h="516386">
                <a:tc>
                  <a:txBody>
                    <a:bodyPr/>
                    <a:lstStyle/>
                    <a:p>
                      <a:pPr algn="ctr">
                        <a:buNone/>
                      </a:pPr>
                      <a:r>
                        <a:rPr lang="en-IN" sz="3200" b="1" dirty="0">
                          <a:latin typeface="Raleway" panose="020B0604020202020204" charset="0"/>
                        </a:rPr>
                        <a:t>Existing Approach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B44A"/>
                    </a:solidFill>
                  </a:tcPr>
                </a:tc>
                <a:tc>
                  <a:txBody>
                    <a:bodyPr/>
                    <a:lstStyle/>
                    <a:p>
                      <a:pPr algn="ctr">
                        <a:buNone/>
                      </a:pPr>
                      <a:r>
                        <a:rPr lang="en-IN" sz="3200" b="1" dirty="0">
                          <a:latin typeface="Raleway" panose="020B0604020202020204" charset="0"/>
                        </a:rPr>
                        <a:t>Limitation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B44A"/>
                    </a:solidFill>
                  </a:tcPr>
                </a:tc>
                <a:extLst>
                  <a:ext uri="{0D108BD9-81ED-4DB2-BD59-A6C34878D82A}">
                    <a16:rowId xmlns:a16="http://schemas.microsoft.com/office/drawing/2014/main" val="3725265829"/>
                  </a:ext>
                </a:extLst>
              </a:tr>
              <a:tr h="516386">
                <a:tc>
                  <a:txBody>
                    <a:bodyPr/>
                    <a:lstStyle/>
                    <a:p>
                      <a:pPr>
                        <a:buNone/>
                      </a:pPr>
                      <a:r>
                        <a:rPr lang="en-IN" sz="3000" dirty="0">
                          <a:latin typeface="Raleway" panose="020B0604020202020204" charset="0"/>
                        </a:rPr>
                        <a:t>Manual Complaint 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000">
                          <a:latin typeface="Raleway" panose="020B0604020202020204" charset="0"/>
                        </a:rPr>
                        <a:t>Time-consuming and inconsistent</a:t>
                      </a:r>
                      <a:endParaRPr lang="en-IN" sz="3000" dirty="0">
                        <a:latin typeface="Raleway"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98678495"/>
                  </a:ext>
                </a:extLst>
              </a:tr>
              <a:tr h="516386">
                <a:tc>
                  <a:txBody>
                    <a:bodyPr/>
                    <a:lstStyle/>
                    <a:p>
                      <a:pPr>
                        <a:buNone/>
                      </a:pPr>
                      <a:r>
                        <a:rPr lang="en-IN" sz="3000" dirty="0">
                          <a:latin typeface="Raleway" panose="020B0604020202020204" charset="0"/>
                        </a:rPr>
                        <a:t>Keyword-Based Routing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000" dirty="0">
                          <a:latin typeface="Raleway" panose="020B0604020202020204" charset="0"/>
                        </a:rPr>
                        <a:t>Cannot understand semantic context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4284947"/>
                  </a:ext>
                </a:extLst>
              </a:tr>
              <a:tr h="706522">
                <a:tc>
                  <a:txBody>
                    <a:bodyPr/>
                    <a:lstStyle/>
                    <a:p>
                      <a:pPr>
                        <a:buNone/>
                      </a:pPr>
                      <a:r>
                        <a:rPr lang="en-IN" sz="3000" dirty="0">
                          <a:latin typeface="Raleway" panose="020B0604020202020204" charset="0"/>
                        </a:rPr>
                        <a:t>Logistic Regression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000" dirty="0">
                          <a:latin typeface="Raleway" panose="020B0604020202020204" charset="0"/>
                        </a:rPr>
                        <a:t>Relies on TF-IDF/Bag-of-Words features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7367265"/>
                  </a:ext>
                </a:extLst>
              </a:tr>
              <a:tr h="516386">
                <a:tc>
                  <a:txBody>
                    <a:bodyPr/>
                    <a:lstStyle/>
                    <a:p>
                      <a:pPr>
                        <a:buNone/>
                      </a:pPr>
                      <a:r>
                        <a:rPr lang="en-IN" sz="3000">
                          <a:latin typeface="Raleway" panose="020B0604020202020204" charset="0"/>
                        </a:rPr>
                        <a:t>Naïve Bayes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000" dirty="0">
                          <a:latin typeface="Raleway" panose="020B0604020202020204" charset="0"/>
                        </a:rPr>
                        <a:t>Limited contextual understanding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9132833"/>
                  </a:ext>
                </a:extLst>
              </a:tr>
              <a:tr h="903675">
                <a:tc>
                  <a:txBody>
                    <a:bodyPr/>
                    <a:lstStyle/>
                    <a:p>
                      <a:pPr>
                        <a:buNone/>
                      </a:pPr>
                      <a:r>
                        <a:rPr lang="en-IN" sz="3000">
                          <a:latin typeface="Raleway" panose="020B0604020202020204" charset="0"/>
                        </a:rPr>
                        <a:t>Support Vector Machine (SVM)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000" dirty="0">
                          <a:latin typeface="Raleway" panose="020B0604020202020204" charset="0"/>
                        </a:rPr>
                        <a:t>Requires handcrafted feature engineering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1928073"/>
                  </a:ext>
                </a:extLst>
              </a:tr>
            </a:tbl>
          </a:graphicData>
        </a:graphic>
      </p:graphicFrame>
      <p:sp>
        <p:nvSpPr>
          <p:cNvPr id="11" name="Freeform 3">
            <a:extLst>
              <a:ext uri="{FF2B5EF4-FFF2-40B4-BE49-F238E27FC236}">
                <a16:creationId xmlns:a16="http://schemas.microsoft.com/office/drawing/2014/main" id="{C8F863A2-CBF5-7E63-9084-507B5A005BBF}"/>
              </a:ext>
            </a:extLst>
          </p:cNvPr>
          <p:cNvSpPr/>
          <p:nvPr/>
        </p:nvSpPr>
        <p:spPr>
          <a:xfrm>
            <a:off x="11925979" y="2490193"/>
            <a:ext cx="6362021" cy="6768107"/>
          </a:xfrm>
          <a:custGeom>
            <a:avLst/>
            <a:gdLst/>
            <a:ahLst/>
            <a:cxnLst/>
            <a:rect l="l" t="t" r="r" b="b"/>
            <a:pathLst>
              <a:path w="6362021" h="6768107">
                <a:moveTo>
                  <a:pt x="0" y="0"/>
                </a:moveTo>
                <a:lnTo>
                  <a:pt x="6362021" y="0"/>
                </a:lnTo>
                <a:lnTo>
                  <a:pt x="6362021" y="6768107"/>
                </a:lnTo>
                <a:lnTo>
                  <a:pt x="0" y="6768107"/>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pic>
        <p:nvPicPr>
          <p:cNvPr id="13" name="Picture 12">
            <a:extLst>
              <a:ext uri="{FF2B5EF4-FFF2-40B4-BE49-F238E27FC236}">
                <a16:creationId xmlns:a16="http://schemas.microsoft.com/office/drawing/2014/main" id="{59A87421-4A75-8CAF-E2E6-CA3F116CCA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spTree>
    <p:extLst>
      <p:ext uri="{BB962C8B-B14F-4D97-AF65-F5344CB8AC3E}">
        <p14:creationId xmlns:p14="http://schemas.microsoft.com/office/powerpoint/2010/main" val="3705439952"/>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3C64104A-4657-9346-F7BA-3271E81E20A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D03CE99-6571-D347-6DC3-7EC9232D37EC}"/>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4BEC6BCB-3D33-7BD7-4048-016B68040B11}"/>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DFDA2098-85F8-412E-D982-E2FBFFD5AA43}"/>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4</a:t>
            </a:r>
          </a:p>
        </p:txBody>
      </p:sp>
      <p:sp>
        <p:nvSpPr>
          <p:cNvPr id="8" name="TextBox 8">
            <a:extLst>
              <a:ext uri="{FF2B5EF4-FFF2-40B4-BE49-F238E27FC236}">
                <a16:creationId xmlns:a16="http://schemas.microsoft.com/office/drawing/2014/main" id="{03BBB712-1BF3-B8EF-B523-5F67EE3C167C}"/>
              </a:ext>
            </a:extLst>
          </p:cNvPr>
          <p:cNvSpPr txBox="1"/>
          <p:nvPr/>
        </p:nvSpPr>
        <p:spPr>
          <a:xfrm>
            <a:off x="381000" y="498657"/>
            <a:ext cx="8267700" cy="829073"/>
          </a:xfrm>
          <a:prstGeom prst="rect">
            <a:avLst/>
          </a:prstGeom>
        </p:spPr>
        <p:txBody>
          <a:bodyPr wrap="square" lIns="0" tIns="0" rIns="0" bIns="0" rtlCol="0" anchor="t">
            <a:spAutoFit/>
          </a:bodyPr>
          <a:lstStyle/>
          <a:p>
            <a:pPr>
              <a:lnSpc>
                <a:spcPts val="6719"/>
              </a:lnSpc>
            </a:pPr>
            <a:r>
              <a:rPr lang="en-IN" sz="4800" dirty="0">
                <a:latin typeface="Prata" panose="020B0604020202020204" charset="0"/>
              </a:rPr>
              <a:t>LITERATURE SURVEY</a:t>
            </a:r>
            <a:endParaRPr lang="en-US" sz="4800" dirty="0">
              <a:solidFill>
                <a:srgbClr val="344E41"/>
              </a:solidFill>
              <a:latin typeface="Prata" panose="020B0604020202020204" charset="0"/>
              <a:ea typeface="Prata"/>
              <a:cs typeface="Prata"/>
              <a:sym typeface="Prata"/>
            </a:endParaRPr>
          </a:p>
        </p:txBody>
      </p:sp>
      <p:sp>
        <p:nvSpPr>
          <p:cNvPr id="9" name="Freeform 3">
            <a:extLst>
              <a:ext uri="{FF2B5EF4-FFF2-40B4-BE49-F238E27FC236}">
                <a16:creationId xmlns:a16="http://schemas.microsoft.com/office/drawing/2014/main" id="{6CD3DB02-1B54-7FBA-B37C-17E119580896}"/>
              </a:ext>
            </a:extLst>
          </p:cNvPr>
          <p:cNvSpPr/>
          <p:nvPr/>
        </p:nvSpPr>
        <p:spPr>
          <a:xfrm>
            <a:off x="12420600" y="3990132"/>
            <a:ext cx="6858000" cy="5300825"/>
          </a:xfrm>
          <a:custGeom>
            <a:avLst/>
            <a:gdLst/>
            <a:ahLst/>
            <a:cxnLst/>
            <a:rect l="l" t="t" r="r" b="b"/>
            <a:pathLst>
              <a:path w="7651884" h="6051944">
                <a:moveTo>
                  <a:pt x="0" y="0"/>
                </a:moveTo>
                <a:lnTo>
                  <a:pt x="7651884" y="0"/>
                </a:lnTo>
                <a:lnTo>
                  <a:pt x="7651884" y="6051944"/>
                </a:lnTo>
                <a:lnTo>
                  <a:pt x="0" y="6051944"/>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pic>
        <p:nvPicPr>
          <p:cNvPr id="12" name="Picture 11">
            <a:extLst>
              <a:ext uri="{FF2B5EF4-FFF2-40B4-BE49-F238E27FC236}">
                <a16:creationId xmlns:a16="http://schemas.microsoft.com/office/drawing/2014/main" id="{1D6039CF-0570-7BA1-14D9-C9B230D66D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25800" y="-69011"/>
            <a:ext cx="2395447" cy="1200650"/>
          </a:xfrm>
          <a:prstGeom prst="rect">
            <a:avLst/>
          </a:prstGeom>
          <a:noFill/>
          <a:ln>
            <a:noFill/>
          </a:ln>
        </p:spPr>
      </p:pic>
      <p:graphicFrame>
        <p:nvGraphicFramePr>
          <p:cNvPr id="5" name="Table 4">
            <a:extLst>
              <a:ext uri="{FF2B5EF4-FFF2-40B4-BE49-F238E27FC236}">
                <a16:creationId xmlns:a16="http://schemas.microsoft.com/office/drawing/2014/main" id="{24BC558B-FB52-CA81-58C8-62D8D5AD728E}"/>
              </a:ext>
            </a:extLst>
          </p:cNvPr>
          <p:cNvGraphicFramePr>
            <a:graphicFrameLocks noGrp="1"/>
          </p:cNvGraphicFramePr>
          <p:nvPr>
            <p:extLst>
              <p:ext uri="{D42A27DB-BD31-4B8C-83A1-F6EECF244321}">
                <p14:modId xmlns:p14="http://schemas.microsoft.com/office/powerpoint/2010/main" val="3459819432"/>
              </p:ext>
            </p:extLst>
          </p:nvPr>
        </p:nvGraphicFramePr>
        <p:xfrm>
          <a:off x="533400" y="1600201"/>
          <a:ext cx="10896600" cy="7220848"/>
        </p:xfrm>
        <a:graphic>
          <a:graphicData uri="http://schemas.openxmlformats.org/drawingml/2006/table">
            <a:tbl>
              <a:tblPr/>
              <a:tblGrid>
                <a:gridCol w="2179320">
                  <a:extLst>
                    <a:ext uri="{9D8B030D-6E8A-4147-A177-3AD203B41FA5}">
                      <a16:colId xmlns:a16="http://schemas.microsoft.com/office/drawing/2014/main" val="718398025"/>
                    </a:ext>
                  </a:extLst>
                </a:gridCol>
                <a:gridCol w="2179320">
                  <a:extLst>
                    <a:ext uri="{9D8B030D-6E8A-4147-A177-3AD203B41FA5}">
                      <a16:colId xmlns:a16="http://schemas.microsoft.com/office/drawing/2014/main" val="2935058954"/>
                    </a:ext>
                  </a:extLst>
                </a:gridCol>
                <a:gridCol w="2179320">
                  <a:extLst>
                    <a:ext uri="{9D8B030D-6E8A-4147-A177-3AD203B41FA5}">
                      <a16:colId xmlns:a16="http://schemas.microsoft.com/office/drawing/2014/main" val="208688201"/>
                    </a:ext>
                  </a:extLst>
                </a:gridCol>
                <a:gridCol w="2179320">
                  <a:extLst>
                    <a:ext uri="{9D8B030D-6E8A-4147-A177-3AD203B41FA5}">
                      <a16:colId xmlns:a16="http://schemas.microsoft.com/office/drawing/2014/main" val="2087361101"/>
                    </a:ext>
                  </a:extLst>
                </a:gridCol>
                <a:gridCol w="2179320">
                  <a:extLst>
                    <a:ext uri="{9D8B030D-6E8A-4147-A177-3AD203B41FA5}">
                      <a16:colId xmlns:a16="http://schemas.microsoft.com/office/drawing/2014/main" val="2639114996"/>
                    </a:ext>
                  </a:extLst>
                </a:gridCol>
              </a:tblGrid>
              <a:tr h="388337">
                <a:tc>
                  <a:txBody>
                    <a:bodyPr/>
                    <a:lstStyle/>
                    <a:p>
                      <a:pPr>
                        <a:buNone/>
                      </a:pPr>
                      <a:r>
                        <a:rPr lang="en-IN" sz="1800" dirty="0">
                          <a:latin typeface="Raleway" panose="020B0604020202020204" charset="0"/>
                        </a:rPr>
                        <a:t>Paper / Year</a:t>
                      </a:r>
                    </a:p>
                  </a:txBody>
                  <a:tcPr marL="47145" marR="47145" marT="23573" marB="235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B44A"/>
                    </a:solidFill>
                  </a:tcPr>
                </a:tc>
                <a:tc>
                  <a:txBody>
                    <a:bodyPr/>
                    <a:lstStyle/>
                    <a:p>
                      <a:pPr>
                        <a:buNone/>
                      </a:pPr>
                      <a:r>
                        <a:rPr lang="en-IN" sz="1800" dirty="0">
                          <a:latin typeface="Raleway" panose="020B0604020202020204" charset="0"/>
                        </a:rPr>
                        <a:t>Method Used</a:t>
                      </a:r>
                    </a:p>
                  </a:txBody>
                  <a:tcPr marL="47145" marR="47145" marT="23573" marB="235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B44A"/>
                    </a:solidFill>
                  </a:tcPr>
                </a:tc>
                <a:tc>
                  <a:txBody>
                    <a:bodyPr/>
                    <a:lstStyle/>
                    <a:p>
                      <a:pPr>
                        <a:buNone/>
                      </a:pPr>
                      <a:r>
                        <a:rPr lang="en-IN" sz="1800" dirty="0">
                          <a:latin typeface="Raleway" panose="020B0604020202020204" charset="0"/>
                        </a:rPr>
                        <a:t>Dataset</a:t>
                      </a:r>
                    </a:p>
                  </a:txBody>
                  <a:tcPr marL="47145" marR="47145" marT="23573" marB="235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B44A"/>
                    </a:solidFill>
                  </a:tcPr>
                </a:tc>
                <a:tc>
                  <a:txBody>
                    <a:bodyPr/>
                    <a:lstStyle/>
                    <a:p>
                      <a:pPr>
                        <a:buNone/>
                      </a:pPr>
                      <a:r>
                        <a:rPr lang="en-IN" sz="1800" dirty="0">
                          <a:latin typeface="Raleway" panose="020B0604020202020204" charset="0"/>
                        </a:rPr>
                        <a:t>What They Did</a:t>
                      </a:r>
                    </a:p>
                  </a:txBody>
                  <a:tcPr marL="47145" marR="47145" marT="23573" marB="235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B44A"/>
                    </a:solidFill>
                  </a:tcPr>
                </a:tc>
                <a:tc>
                  <a:txBody>
                    <a:bodyPr/>
                    <a:lstStyle/>
                    <a:p>
                      <a:pPr>
                        <a:buNone/>
                      </a:pPr>
                      <a:r>
                        <a:rPr lang="en-IN" sz="1800" dirty="0">
                          <a:latin typeface="Raleway" panose="020B0604020202020204" charset="0"/>
                        </a:rPr>
                        <a:t>Limitation</a:t>
                      </a:r>
                    </a:p>
                  </a:txBody>
                  <a:tcPr marL="47145" marR="47145" marT="23573" marB="235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B44A"/>
                    </a:solidFill>
                  </a:tcPr>
                </a:tc>
                <a:extLst>
                  <a:ext uri="{0D108BD9-81ED-4DB2-BD59-A6C34878D82A}">
                    <a16:rowId xmlns:a16="http://schemas.microsoft.com/office/drawing/2014/main" val="2979833329"/>
                  </a:ext>
                </a:extLst>
              </a:tr>
              <a:tr h="1660564">
                <a:tc>
                  <a:txBody>
                    <a:bodyPr/>
                    <a:lstStyle/>
                    <a:p>
                      <a:pPr>
                        <a:buNone/>
                      </a:pPr>
                      <a:r>
                        <a:rPr lang="en-IN" sz="1800" b="1">
                          <a:latin typeface="Raleway" panose="020B0604020202020204" charset="0"/>
                        </a:rPr>
                        <a:t>Bastani et al. (2019)</a:t>
                      </a:r>
                      <a:endParaRPr lang="en-IN" sz="1800">
                        <a:latin typeface="Raleway" panose="020B0604020202020204" charset="0"/>
                      </a:endParaRPr>
                    </a:p>
                  </a:txBody>
                  <a:tcPr marL="47145" marR="47145" marT="23573" marB="235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Raleway" panose="020B0604020202020204" charset="0"/>
                        </a:rPr>
                        <a:t>LDA</a:t>
                      </a:r>
                    </a:p>
                  </a:txBody>
                  <a:tcPr marL="47145" marR="47145" marT="23573" marB="235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Raleway" panose="020B0604020202020204" charset="0"/>
                        </a:rPr>
                        <a:t>CFPB</a:t>
                      </a:r>
                    </a:p>
                  </a:txBody>
                  <a:tcPr marL="47145" marR="47145" marT="23573" marB="235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Raleway" panose="020B0604020202020204" charset="0"/>
                        </a:rPr>
                        <a:t>Found common topics in consumer complaints</a:t>
                      </a:r>
                    </a:p>
                  </a:txBody>
                  <a:tcPr marL="47145" marR="47145" marT="23573" marB="235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Raleway" panose="020B0604020202020204" charset="0"/>
                        </a:rPr>
                        <a:t>Focuses on topics, not detailed complaint classification or management</a:t>
                      </a:r>
                    </a:p>
                  </a:txBody>
                  <a:tcPr marL="47145" marR="47145" marT="23573" marB="235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4699267"/>
                  </a:ext>
                </a:extLst>
              </a:tr>
              <a:tr h="1342507">
                <a:tc>
                  <a:txBody>
                    <a:bodyPr/>
                    <a:lstStyle/>
                    <a:p>
                      <a:pPr>
                        <a:buNone/>
                      </a:pPr>
                      <a:r>
                        <a:rPr lang="en-IN" sz="1800" b="1">
                          <a:latin typeface="Raleway" panose="020B0604020202020204" charset="0"/>
                        </a:rPr>
                        <a:t>Sangaraju et al. (2022)</a:t>
                      </a:r>
                      <a:endParaRPr lang="en-IN" sz="1800">
                        <a:latin typeface="Raleway" panose="020B0604020202020204" charset="0"/>
                      </a:endParaRPr>
                    </a:p>
                  </a:txBody>
                  <a:tcPr marL="47145" marR="47145" marT="23573" marB="235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Raleway" panose="020B0604020202020204" charset="0"/>
                        </a:rPr>
                        <a:t>BERT Embeddings + </a:t>
                      </a:r>
                      <a:r>
                        <a:rPr lang="en-IN" sz="1800" dirty="0" err="1">
                          <a:latin typeface="Raleway" panose="020B0604020202020204" charset="0"/>
                        </a:rPr>
                        <a:t>BERTopic</a:t>
                      </a:r>
                      <a:endParaRPr lang="en-IN" sz="1800" dirty="0">
                        <a:latin typeface="Raleway" panose="020B0604020202020204" charset="0"/>
                      </a:endParaRPr>
                    </a:p>
                  </a:txBody>
                  <a:tcPr marL="47145" marR="47145" marT="23573" marB="235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Raleway" panose="020B0604020202020204" charset="0"/>
                        </a:rPr>
                        <a:t>CFPB</a:t>
                      </a:r>
                    </a:p>
                  </a:txBody>
                  <a:tcPr marL="47145" marR="47145" marT="23573" marB="235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Raleway" panose="020B0604020202020204" charset="0"/>
                        </a:rPr>
                        <a:t>Used BERT-based representations to find complaint topics</a:t>
                      </a:r>
                    </a:p>
                  </a:txBody>
                  <a:tcPr marL="47145" marR="47145" marT="23573" marB="235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Raleway" panose="020B0604020202020204" charset="0"/>
                        </a:rPr>
                        <a:t>Mainly focuses on topic analysis, not complete complaint handling</a:t>
                      </a:r>
                    </a:p>
                  </a:txBody>
                  <a:tcPr marL="47145" marR="47145" marT="23573" marB="235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1665192"/>
                  </a:ext>
                </a:extLst>
              </a:tr>
              <a:tr h="1124478">
                <a:tc>
                  <a:txBody>
                    <a:bodyPr/>
                    <a:lstStyle/>
                    <a:p>
                      <a:pPr>
                        <a:buNone/>
                      </a:pPr>
                      <a:r>
                        <a:rPr lang="en-IN" sz="1800" b="1">
                          <a:latin typeface="Raleway" panose="020B0604020202020204" charset="0"/>
                        </a:rPr>
                        <a:t>Vaishnav et al. (2024)</a:t>
                      </a:r>
                      <a:endParaRPr lang="en-IN" sz="1800">
                        <a:latin typeface="Raleway" panose="020B0604020202020204" charset="0"/>
                      </a:endParaRPr>
                    </a:p>
                  </a:txBody>
                  <a:tcPr marL="47145" marR="47145" marT="23573" marB="235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Raleway" panose="020B0604020202020204" charset="0"/>
                        </a:rPr>
                        <a:t>Machine Learning + LDA</a:t>
                      </a:r>
                    </a:p>
                  </a:txBody>
                  <a:tcPr marL="47145" marR="47145" marT="23573" marB="235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Raleway" panose="020B0604020202020204" charset="0"/>
                        </a:rPr>
                        <a:t>CFPB</a:t>
                      </a:r>
                    </a:p>
                  </a:txBody>
                  <a:tcPr marL="47145" marR="47145" marT="23573" marB="235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Raleway" panose="020B0604020202020204" charset="0"/>
                        </a:rPr>
                        <a:t>Used complaint data for analysis and prediction</a:t>
                      </a:r>
                    </a:p>
                  </a:txBody>
                  <a:tcPr marL="47145" marR="47145" marT="23573" marB="235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Raleway" panose="020B0604020202020204" charset="0"/>
                        </a:rPr>
                        <a:t>Does not provide a complete complaint routing system</a:t>
                      </a:r>
                    </a:p>
                  </a:txBody>
                  <a:tcPr marL="47145" marR="47145" marT="23573" marB="235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6859427"/>
                  </a:ext>
                </a:extLst>
              </a:tr>
              <a:tr h="1342507">
                <a:tc>
                  <a:txBody>
                    <a:bodyPr/>
                    <a:lstStyle/>
                    <a:p>
                      <a:pPr>
                        <a:buNone/>
                      </a:pPr>
                      <a:r>
                        <a:rPr lang="en-IN" sz="1800" b="1">
                          <a:latin typeface="Raleway" panose="020B0604020202020204" charset="0"/>
                        </a:rPr>
                        <a:t>Marshan et al. (2023)</a:t>
                      </a:r>
                      <a:endParaRPr lang="en-IN" sz="1800">
                        <a:latin typeface="Raleway" panose="020B0604020202020204" charset="0"/>
                      </a:endParaRPr>
                    </a:p>
                  </a:txBody>
                  <a:tcPr marL="47145" marR="47145" marT="23573" marB="235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Raleway" panose="020B0604020202020204" charset="0"/>
                        </a:rPr>
                        <a:t>NLP + Emotion Detection</a:t>
                      </a:r>
                    </a:p>
                  </a:txBody>
                  <a:tcPr marL="47145" marR="47145" marT="23573" marB="235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Raleway" panose="020B0604020202020204" charset="0"/>
                        </a:rPr>
                        <a:t>Customer complaint data</a:t>
                      </a:r>
                    </a:p>
                  </a:txBody>
                  <a:tcPr marL="47145" marR="47145" marT="23573" marB="235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Raleway" panose="020B0604020202020204" charset="0"/>
                        </a:rPr>
                        <a:t>Analyzed customer complaints and emotions</a:t>
                      </a:r>
                    </a:p>
                  </a:txBody>
                  <a:tcPr marL="47145" marR="47145" marT="23573" marB="235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Raleway" panose="020B0604020202020204" charset="0"/>
                        </a:rPr>
                        <a:t>Focuses on emotion/priority, not the complete complaint lifecycle</a:t>
                      </a:r>
                    </a:p>
                  </a:txBody>
                  <a:tcPr marL="47145" marR="47145" marT="23573" marB="235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3426850"/>
                  </a:ext>
                </a:extLst>
              </a:tr>
              <a:tr h="1342507">
                <a:tc>
                  <a:txBody>
                    <a:bodyPr/>
                    <a:lstStyle/>
                    <a:p>
                      <a:pPr>
                        <a:buNone/>
                      </a:pPr>
                      <a:r>
                        <a:rPr lang="en-IN" sz="1800" b="1">
                          <a:latin typeface="Raleway" panose="020B0604020202020204" charset="0"/>
                        </a:rPr>
                        <a:t>Mokase et al. (2025)</a:t>
                      </a:r>
                      <a:endParaRPr lang="en-IN" sz="1800">
                        <a:latin typeface="Raleway" panose="020B0604020202020204" charset="0"/>
                      </a:endParaRPr>
                    </a:p>
                  </a:txBody>
                  <a:tcPr marL="47145" marR="47145" marT="23573" marB="235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Raleway" panose="020B0604020202020204" charset="0"/>
                        </a:rPr>
                        <a:t>LSTM vs BERT</a:t>
                      </a:r>
                    </a:p>
                  </a:txBody>
                  <a:tcPr marL="47145" marR="47145" marT="23573" marB="235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Raleway" panose="020B0604020202020204" charset="0"/>
                        </a:rPr>
                        <a:t>Complaint dataset</a:t>
                      </a:r>
                    </a:p>
                  </a:txBody>
                  <a:tcPr marL="47145" marR="47145" marT="23573" marB="235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Raleway" panose="020B0604020202020204" charset="0"/>
                        </a:rPr>
                        <a:t>Compared LSTM and BERT for complaint classification</a:t>
                      </a:r>
                    </a:p>
                  </a:txBody>
                  <a:tcPr marL="47145" marR="47145" marT="23573" marB="235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Raleway" panose="020B0604020202020204" charset="0"/>
                        </a:rPr>
                        <a:t>Mainly focuses on classification rather than complaint management</a:t>
                      </a:r>
                    </a:p>
                  </a:txBody>
                  <a:tcPr marL="47145" marR="47145" marT="23573" marB="235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0972936"/>
                  </a:ext>
                </a:extLst>
              </a:tr>
            </a:tbl>
          </a:graphicData>
        </a:graphic>
      </p:graphicFrame>
    </p:spTree>
    <p:extLst>
      <p:ext uri="{BB962C8B-B14F-4D97-AF65-F5344CB8AC3E}">
        <p14:creationId xmlns:p14="http://schemas.microsoft.com/office/powerpoint/2010/main" val="515330465"/>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6D2F13B1-02BD-0837-D021-5A21E5CF497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C4149FA-049D-2519-AEAD-6ADEF33B68E3}"/>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E69627A5-1401-1063-0A87-FA443CD994D6}"/>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C0730119-BB4A-7CFC-F3B6-39435ADE92FE}"/>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4</a:t>
            </a:r>
          </a:p>
        </p:txBody>
      </p:sp>
      <p:sp>
        <p:nvSpPr>
          <p:cNvPr id="8" name="TextBox 8">
            <a:extLst>
              <a:ext uri="{FF2B5EF4-FFF2-40B4-BE49-F238E27FC236}">
                <a16:creationId xmlns:a16="http://schemas.microsoft.com/office/drawing/2014/main" id="{990E2388-6078-292C-5D54-76E69268BB42}"/>
              </a:ext>
            </a:extLst>
          </p:cNvPr>
          <p:cNvSpPr txBox="1"/>
          <p:nvPr/>
        </p:nvSpPr>
        <p:spPr>
          <a:xfrm>
            <a:off x="598713" y="364773"/>
            <a:ext cx="8267700" cy="829073"/>
          </a:xfrm>
          <a:prstGeom prst="rect">
            <a:avLst/>
          </a:prstGeom>
        </p:spPr>
        <p:txBody>
          <a:bodyPr wrap="square" lIns="0" tIns="0" rIns="0" bIns="0" rtlCol="0" anchor="t">
            <a:spAutoFit/>
          </a:bodyPr>
          <a:lstStyle/>
          <a:p>
            <a:pPr>
              <a:lnSpc>
                <a:spcPts val="6719"/>
              </a:lnSpc>
            </a:pPr>
            <a:r>
              <a:rPr lang="en-IN" sz="4800" dirty="0">
                <a:latin typeface="Prata" panose="020B0604020202020204" charset="0"/>
              </a:rPr>
              <a:t>LITERATURE SURVEY</a:t>
            </a:r>
            <a:endParaRPr lang="en-US" sz="4800" dirty="0">
              <a:solidFill>
                <a:srgbClr val="344E41"/>
              </a:solidFill>
              <a:latin typeface="Prata" panose="020B0604020202020204" charset="0"/>
              <a:ea typeface="Prata"/>
              <a:cs typeface="Prata"/>
              <a:sym typeface="Prata"/>
            </a:endParaRPr>
          </a:p>
        </p:txBody>
      </p:sp>
      <p:sp>
        <p:nvSpPr>
          <p:cNvPr id="9" name="Freeform 3">
            <a:extLst>
              <a:ext uri="{FF2B5EF4-FFF2-40B4-BE49-F238E27FC236}">
                <a16:creationId xmlns:a16="http://schemas.microsoft.com/office/drawing/2014/main" id="{E086E855-2473-494E-4F65-760455DCD2EB}"/>
              </a:ext>
            </a:extLst>
          </p:cNvPr>
          <p:cNvSpPr/>
          <p:nvPr/>
        </p:nvSpPr>
        <p:spPr>
          <a:xfrm>
            <a:off x="12420600" y="3990132"/>
            <a:ext cx="6858000" cy="5300825"/>
          </a:xfrm>
          <a:custGeom>
            <a:avLst/>
            <a:gdLst/>
            <a:ahLst/>
            <a:cxnLst/>
            <a:rect l="l" t="t" r="r" b="b"/>
            <a:pathLst>
              <a:path w="7651884" h="6051944">
                <a:moveTo>
                  <a:pt x="0" y="0"/>
                </a:moveTo>
                <a:lnTo>
                  <a:pt x="7651884" y="0"/>
                </a:lnTo>
                <a:lnTo>
                  <a:pt x="7651884" y="6051944"/>
                </a:lnTo>
                <a:lnTo>
                  <a:pt x="0" y="6051944"/>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pic>
        <p:nvPicPr>
          <p:cNvPr id="12" name="Picture 11">
            <a:extLst>
              <a:ext uri="{FF2B5EF4-FFF2-40B4-BE49-F238E27FC236}">
                <a16:creationId xmlns:a16="http://schemas.microsoft.com/office/drawing/2014/main" id="{6F284766-99D2-EFB3-979F-DECADF32DC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25800" y="-69011"/>
            <a:ext cx="2395447" cy="1200650"/>
          </a:xfrm>
          <a:prstGeom prst="rect">
            <a:avLst/>
          </a:prstGeom>
          <a:noFill/>
          <a:ln>
            <a:noFill/>
          </a:ln>
        </p:spPr>
      </p:pic>
      <p:graphicFrame>
        <p:nvGraphicFramePr>
          <p:cNvPr id="4" name="Table 3">
            <a:extLst>
              <a:ext uri="{FF2B5EF4-FFF2-40B4-BE49-F238E27FC236}">
                <a16:creationId xmlns:a16="http://schemas.microsoft.com/office/drawing/2014/main" id="{8FFF4B78-30AC-8C16-8A38-833172263E8A}"/>
              </a:ext>
            </a:extLst>
          </p:cNvPr>
          <p:cNvGraphicFramePr>
            <a:graphicFrameLocks noGrp="1"/>
          </p:cNvGraphicFramePr>
          <p:nvPr>
            <p:extLst>
              <p:ext uri="{D42A27DB-BD31-4B8C-83A1-F6EECF244321}">
                <p14:modId xmlns:p14="http://schemas.microsoft.com/office/powerpoint/2010/main" val="2379025350"/>
              </p:ext>
            </p:extLst>
          </p:nvPr>
        </p:nvGraphicFramePr>
        <p:xfrm>
          <a:off x="631370" y="1478976"/>
          <a:ext cx="11157860" cy="7494194"/>
        </p:xfrm>
        <a:graphic>
          <a:graphicData uri="http://schemas.openxmlformats.org/drawingml/2006/table">
            <a:tbl>
              <a:tblPr/>
              <a:tblGrid>
                <a:gridCol w="2231572">
                  <a:extLst>
                    <a:ext uri="{9D8B030D-6E8A-4147-A177-3AD203B41FA5}">
                      <a16:colId xmlns:a16="http://schemas.microsoft.com/office/drawing/2014/main" val="3688326337"/>
                    </a:ext>
                  </a:extLst>
                </a:gridCol>
                <a:gridCol w="2231572">
                  <a:extLst>
                    <a:ext uri="{9D8B030D-6E8A-4147-A177-3AD203B41FA5}">
                      <a16:colId xmlns:a16="http://schemas.microsoft.com/office/drawing/2014/main" val="986760500"/>
                    </a:ext>
                  </a:extLst>
                </a:gridCol>
                <a:gridCol w="2231572">
                  <a:extLst>
                    <a:ext uri="{9D8B030D-6E8A-4147-A177-3AD203B41FA5}">
                      <a16:colId xmlns:a16="http://schemas.microsoft.com/office/drawing/2014/main" val="255639489"/>
                    </a:ext>
                  </a:extLst>
                </a:gridCol>
                <a:gridCol w="2231572">
                  <a:extLst>
                    <a:ext uri="{9D8B030D-6E8A-4147-A177-3AD203B41FA5}">
                      <a16:colId xmlns:a16="http://schemas.microsoft.com/office/drawing/2014/main" val="2539839532"/>
                    </a:ext>
                  </a:extLst>
                </a:gridCol>
                <a:gridCol w="2231572">
                  <a:extLst>
                    <a:ext uri="{9D8B030D-6E8A-4147-A177-3AD203B41FA5}">
                      <a16:colId xmlns:a16="http://schemas.microsoft.com/office/drawing/2014/main" val="744538776"/>
                    </a:ext>
                  </a:extLst>
                </a:gridCol>
              </a:tblGrid>
              <a:tr h="372197">
                <a:tc>
                  <a:txBody>
                    <a:bodyPr/>
                    <a:lstStyle/>
                    <a:p>
                      <a:pPr>
                        <a:buNone/>
                      </a:pPr>
                      <a:r>
                        <a:rPr lang="en-IN" sz="1800" dirty="0">
                          <a:latin typeface="Raleway" panose="020B0604020202020204" charset="0"/>
                        </a:rPr>
                        <a:t>Paper / Year</a:t>
                      </a:r>
                    </a:p>
                  </a:txBody>
                  <a:tcPr marL="44372" marR="44372" marT="22186" marB="221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B44A"/>
                    </a:solidFill>
                  </a:tcPr>
                </a:tc>
                <a:tc>
                  <a:txBody>
                    <a:bodyPr/>
                    <a:lstStyle/>
                    <a:p>
                      <a:pPr>
                        <a:buNone/>
                      </a:pPr>
                      <a:r>
                        <a:rPr lang="en-IN" sz="1800" dirty="0">
                          <a:latin typeface="Raleway" panose="020B0604020202020204" charset="0"/>
                        </a:rPr>
                        <a:t>Method Used</a:t>
                      </a:r>
                    </a:p>
                  </a:txBody>
                  <a:tcPr marL="44372" marR="44372" marT="22186" marB="221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B44A"/>
                    </a:solidFill>
                  </a:tcPr>
                </a:tc>
                <a:tc>
                  <a:txBody>
                    <a:bodyPr/>
                    <a:lstStyle/>
                    <a:p>
                      <a:pPr>
                        <a:buNone/>
                      </a:pPr>
                      <a:r>
                        <a:rPr lang="en-IN" sz="1800" dirty="0">
                          <a:latin typeface="Raleway" panose="020B0604020202020204" charset="0"/>
                        </a:rPr>
                        <a:t>Dataset</a:t>
                      </a:r>
                    </a:p>
                  </a:txBody>
                  <a:tcPr marL="44372" marR="44372" marT="22186" marB="221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B44A"/>
                    </a:solidFill>
                  </a:tcPr>
                </a:tc>
                <a:tc>
                  <a:txBody>
                    <a:bodyPr/>
                    <a:lstStyle/>
                    <a:p>
                      <a:pPr>
                        <a:buNone/>
                      </a:pPr>
                      <a:r>
                        <a:rPr lang="en-IN" sz="1800" dirty="0">
                          <a:latin typeface="Raleway" panose="020B0604020202020204" charset="0"/>
                        </a:rPr>
                        <a:t>What They Did</a:t>
                      </a:r>
                    </a:p>
                  </a:txBody>
                  <a:tcPr marL="44372" marR="44372" marT="22186" marB="221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B44A"/>
                    </a:solidFill>
                  </a:tcPr>
                </a:tc>
                <a:tc>
                  <a:txBody>
                    <a:bodyPr/>
                    <a:lstStyle/>
                    <a:p>
                      <a:pPr>
                        <a:buNone/>
                      </a:pPr>
                      <a:r>
                        <a:rPr lang="en-IN" sz="1800" dirty="0">
                          <a:latin typeface="Raleway" panose="020B0604020202020204" charset="0"/>
                        </a:rPr>
                        <a:t>Limitation</a:t>
                      </a:r>
                    </a:p>
                  </a:txBody>
                  <a:tcPr marL="44372" marR="44372" marT="22186" marB="221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B44A"/>
                    </a:solidFill>
                  </a:tcPr>
                </a:tc>
                <a:extLst>
                  <a:ext uri="{0D108BD9-81ED-4DB2-BD59-A6C34878D82A}">
                    <a16:rowId xmlns:a16="http://schemas.microsoft.com/office/drawing/2014/main" val="1339617820"/>
                  </a:ext>
                </a:extLst>
              </a:tr>
              <a:tr h="1380795">
                <a:tc>
                  <a:txBody>
                    <a:bodyPr/>
                    <a:lstStyle/>
                    <a:p>
                      <a:pPr>
                        <a:buNone/>
                      </a:pPr>
                      <a:r>
                        <a:rPr lang="en-IN" sz="1800" b="1" dirty="0">
                          <a:latin typeface="Raleway" panose="020B0604020202020204" charset="0"/>
                        </a:rPr>
                        <a:t>Casanueva et al. (2020)</a:t>
                      </a:r>
                      <a:endParaRPr lang="en-IN" sz="1800" dirty="0">
                        <a:latin typeface="Raleway" panose="020B0604020202020204" charset="0"/>
                      </a:endParaRPr>
                    </a:p>
                  </a:txBody>
                  <a:tcPr marL="44372" marR="44372" marT="22186" marB="221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Raleway" panose="020B0604020202020204" charset="0"/>
                        </a:rPr>
                        <a:t>Intent Classification</a:t>
                      </a:r>
                    </a:p>
                  </a:txBody>
                  <a:tcPr marL="44372" marR="44372" marT="22186" marB="221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Raleway" panose="020B0604020202020204" charset="0"/>
                        </a:rPr>
                        <a:t>BANKING77</a:t>
                      </a:r>
                    </a:p>
                  </a:txBody>
                  <a:tcPr marL="44372" marR="44372" marT="22186" marB="221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Raleway" panose="020B0604020202020204" charset="0"/>
                        </a:rPr>
                        <a:t>Classified banking customer queries into 77 intents</a:t>
                      </a:r>
                    </a:p>
                  </a:txBody>
                  <a:tcPr marL="44372" marR="44372" marT="22186" marB="221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Raleway" panose="020B0604020202020204" charset="0"/>
                        </a:rPr>
                        <a:t>Focuses on intent classification, not detailed complaint management</a:t>
                      </a:r>
                    </a:p>
                  </a:txBody>
                  <a:tcPr marL="44372" marR="44372" marT="22186" marB="221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73578131"/>
                  </a:ext>
                </a:extLst>
              </a:tr>
              <a:tr h="944754">
                <a:tc>
                  <a:txBody>
                    <a:bodyPr/>
                    <a:lstStyle/>
                    <a:p>
                      <a:pPr>
                        <a:buNone/>
                      </a:pPr>
                      <a:r>
                        <a:rPr lang="en-IN" sz="1800" b="1">
                          <a:latin typeface="Raleway" panose="020B0604020202020204" charset="0"/>
                        </a:rPr>
                        <a:t>Jarrar et al. (2023)</a:t>
                      </a:r>
                      <a:endParaRPr lang="en-IN" sz="1800">
                        <a:latin typeface="Raleway" panose="020B0604020202020204" charset="0"/>
                      </a:endParaRPr>
                    </a:p>
                  </a:txBody>
                  <a:tcPr marL="44372" marR="44372" marT="22186" marB="221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Raleway" panose="020B0604020202020204" charset="0"/>
                        </a:rPr>
                        <a:t>AraBERT</a:t>
                      </a:r>
                    </a:p>
                  </a:txBody>
                  <a:tcPr marL="44372" marR="44372" marT="22186" marB="221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Raleway" panose="020B0604020202020204" charset="0"/>
                        </a:rPr>
                        <a:t>ArBanking77</a:t>
                      </a:r>
                    </a:p>
                  </a:txBody>
                  <a:tcPr marL="44372" marR="44372" marT="22186" marB="221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Raleway" panose="020B0604020202020204" charset="0"/>
                        </a:rPr>
                        <a:t>Applied BERT to Arabic banking intent classification</a:t>
                      </a:r>
                    </a:p>
                  </a:txBody>
                  <a:tcPr marL="44372" marR="44372" marT="22186" marB="221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Raleway" panose="020B0604020202020204" charset="0"/>
                        </a:rPr>
                        <a:t>Focuses on Arabic intent detection</a:t>
                      </a:r>
                    </a:p>
                  </a:txBody>
                  <a:tcPr marL="44372" marR="44372" marT="22186" marB="221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1553384"/>
                  </a:ext>
                </a:extLst>
              </a:tr>
              <a:tr h="1380795">
                <a:tc>
                  <a:txBody>
                    <a:bodyPr/>
                    <a:lstStyle/>
                    <a:p>
                      <a:pPr>
                        <a:buNone/>
                      </a:pPr>
                      <a:r>
                        <a:rPr lang="en-IN" sz="1800" b="1">
                          <a:latin typeface="Raleway" panose="020B0604020202020204" charset="0"/>
                        </a:rPr>
                        <a:t>Gao et al. (2023)</a:t>
                      </a:r>
                      <a:endParaRPr lang="en-IN" sz="1800">
                        <a:latin typeface="Raleway" panose="020B0604020202020204" charset="0"/>
                      </a:endParaRPr>
                    </a:p>
                  </a:txBody>
                  <a:tcPr marL="44372" marR="44372" marT="22186" marB="221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Raleway" panose="020B0604020202020204" charset="0"/>
                        </a:rPr>
                        <a:t>NLP + Anomaly Detection</a:t>
                      </a:r>
                    </a:p>
                  </a:txBody>
                  <a:tcPr marL="44372" marR="44372" marT="22186" marB="221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Raleway" panose="020B0604020202020204" charset="0"/>
                        </a:rPr>
                        <a:t>CFPB</a:t>
                      </a:r>
                    </a:p>
                  </a:txBody>
                  <a:tcPr marL="44372" marR="44372" marT="22186" marB="221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Raleway" panose="020B0604020202020204" charset="0"/>
                        </a:rPr>
                        <a:t>Used complaint text to detect unusual complaint patterns</a:t>
                      </a:r>
                    </a:p>
                  </a:txBody>
                  <a:tcPr marL="44372" marR="44372" marT="22186" marB="221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Raleway" panose="020B0604020202020204" charset="0"/>
                        </a:rPr>
                        <a:t>Focuses on anomaly detection rather than complaint routing</a:t>
                      </a:r>
                    </a:p>
                  </a:txBody>
                  <a:tcPr marL="44372" marR="44372" marT="22186" marB="221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094984"/>
                  </a:ext>
                </a:extLst>
              </a:tr>
              <a:tr h="1598816">
                <a:tc>
                  <a:txBody>
                    <a:bodyPr/>
                    <a:lstStyle/>
                    <a:p>
                      <a:pPr>
                        <a:buNone/>
                      </a:pPr>
                      <a:r>
                        <a:rPr lang="en-IN" sz="1800" b="1">
                          <a:latin typeface="Raleway" panose="020B0604020202020204" charset="0"/>
                        </a:rPr>
                        <a:t>Towards Automated Customer Support (2018)</a:t>
                      </a:r>
                      <a:endParaRPr lang="en-IN" sz="1800">
                        <a:latin typeface="Raleway" panose="020B0604020202020204" charset="0"/>
                      </a:endParaRPr>
                    </a:p>
                  </a:txBody>
                  <a:tcPr marL="44372" marR="44372" marT="22186" marB="221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Raleway" panose="020B0604020202020204" charset="0"/>
                        </a:rPr>
                        <a:t>NLP / Neural Models</a:t>
                      </a:r>
                    </a:p>
                  </a:txBody>
                  <a:tcPr marL="44372" marR="44372" marT="22186" marB="221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Raleway" panose="020B0604020202020204" charset="0"/>
                        </a:rPr>
                        <a:t>Customer Support on Twitter</a:t>
                      </a:r>
                    </a:p>
                  </a:txBody>
                  <a:tcPr marL="44372" marR="44372" marT="22186" marB="221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Raleway" panose="020B0604020202020204" charset="0"/>
                        </a:rPr>
                        <a:t>Studied automated responses for customer-support conversations</a:t>
                      </a:r>
                    </a:p>
                  </a:txBody>
                  <a:tcPr marL="44372" marR="44372" marT="22186" marB="221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Raleway" panose="020B0604020202020204" charset="0"/>
                        </a:rPr>
                        <a:t>Focuses on support conversations rather than banking complaint management</a:t>
                      </a:r>
                    </a:p>
                  </a:txBody>
                  <a:tcPr marL="44372" marR="44372" marT="22186" marB="221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4302846"/>
                  </a:ext>
                </a:extLst>
              </a:tr>
              <a:tr h="1816837">
                <a:tc>
                  <a:txBody>
                    <a:bodyPr/>
                    <a:lstStyle/>
                    <a:p>
                      <a:pPr>
                        <a:buNone/>
                      </a:pPr>
                      <a:r>
                        <a:rPr lang="en-IN" sz="1800" b="1">
                          <a:latin typeface="Raleway" panose="020B0604020202020204" charset="0"/>
                        </a:rPr>
                        <a:t>Think Before You Classify</a:t>
                      </a:r>
                      <a:endParaRPr lang="en-IN" sz="1800">
                        <a:latin typeface="Raleway" panose="020B0604020202020204" charset="0"/>
                      </a:endParaRPr>
                    </a:p>
                  </a:txBody>
                  <a:tcPr marL="44372" marR="44372" marT="22186" marB="221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Raleway" panose="020B0604020202020204" charset="0"/>
                        </a:rPr>
                        <a:t>LLM-based Classification</a:t>
                      </a:r>
                    </a:p>
                  </a:txBody>
                  <a:tcPr marL="44372" marR="44372" marT="22186" marB="221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Raleway" panose="020B0604020202020204" charset="0"/>
                        </a:rPr>
                        <a:t>Financial complaint data</a:t>
                      </a:r>
                    </a:p>
                  </a:txBody>
                  <a:tcPr marL="44372" marR="44372" marT="22186" marB="221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Raleway" panose="020B0604020202020204" charset="0"/>
                        </a:rPr>
                        <a:t>Studied automated classification of financial complaints</a:t>
                      </a:r>
                    </a:p>
                  </a:txBody>
                  <a:tcPr marL="44372" marR="44372" marT="22186" marB="221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Raleway" panose="020B0604020202020204" charset="0"/>
                        </a:rPr>
                        <a:t>Focuses mainly on classification, not the complete complaint-management process</a:t>
                      </a:r>
                    </a:p>
                  </a:txBody>
                  <a:tcPr marL="44372" marR="44372" marT="22186" marB="221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2569956"/>
                  </a:ext>
                </a:extLst>
              </a:tr>
            </a:tbl>
          </a:graphicData>
        </a:graphic>
      </p:graphicFrame>
    </p:spTree>
    <p:extLst>
      <p:ext uri="{BB962C8B-B14F-4D97-AF65-F5344CB8AC3E}">
        <p14:creationId xmlns:p14="http://schemas.microsoft.com/office/powerpoint/2010/main" val="4183541036"/>
      </p:ext>
    </p:extLst>
  </p:cSld>
  <p:clrMapOvr>
    <a:masterClrMapping/>
  </p:clrMapOvr>
  <mc:AlternateContent xmlns:mc="http://schemas.openxmlformats.org/markup-compatibility/2006">
    <mc:Choice xmlns:p14="http://schemas.microsoft.com/office/powerpoint/2010/main" Requires="p14">
      <p:transition spd="slow" p14:dur="1500">
        <p14:revea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A482BD79-3E56-5D47-BB6B-05E845B9E08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4D76CFD-4C64-0D0D-CA86-B99346F846E1}"/>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B545C7C8-8D2F-0CFE-69FD-1DF9527A4881}"/>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96F5416E-B653-E8F4-D228-5AE9CE9A7A9A}"/>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5</a:t>
            </a:r>
          </a:p>
        </p:txBody>
      </p:sp>
      <p:sp>
        <p:nvSpPr>
          <p:cNvPr id="8" name="TextBox 8">
            <a:extLst>
              <a:ext uri="{FF2B5EF4-FFF2-40B4-BE49-F238E27FC236}">
                <a16:creationId xmlns:a16="http://schemas.microsoft.com/office/drawing/2014/main" id="{274D533C-C02E-3063-8FB0-61B56531CAFC}"/>
              </a:ext>
            </a:extLst>
          </p:cNvPr>
          <p:cNvSpPr txBox="1"/>
          <p:nvPr/>
        </p:nvSpPr>
        <p:spPr>
          <a:xfrm>
            <a:off x="457200" y="979923"/>
            <a:ext cx="12268200" cy="829073"/>
          </a:xfrm>
          <a:prstGeom prst="rect">
            <a:avLst/>
          </a:prstGeom>
        </p:spPr>
        <p:txBody>
          <a:bodyPr wrap="square" lIns="0" tIns="0" rIns="0" bIns="0" rtlCol="0" anchor="t">
            <a:spAutoFit/>
          </a:bodyPr>
          <a:lstStyle/>
          <a:p>
            <a:pPr>
              <a:lnSpc>
                <a:spcPts val="6719"/>
              </a:lnSpc>
            </a:pPr>
            <a:r>
              <a:rPr lang="en-IN" sz="4800" dirty="0">
                <a:latin typeface="Prata" panose="020B0604020202020204" charset="0"/>
              </a:rPr>
              <a:t>RESEARCH GAP IDENTIFICATION</a:t>
            </a:r>
            <a:endParaRPr lang="en-US" sz="4800" dirty="0">
              <a:solidFill>
                <a:srgbClr val="344E41"/>
              </a:solidFill>
              <a:latin typeface="Prata" panose="020B0604020202020204" charset="0"/>
              <a:ea typeface="Prata"/>
              <a:cs typeface="Prata"/>
              <a:sym typeface="Prata"/>
            </a:endParaRPr>
          </a:p>
        </p:txBody>
      </p:sp>
      <p:graphicFrame>
        <p:nvGraphicFramePr>
          <p:cNvPr id="4" name="Table 3">
            <a:extLst>
              <a:ext uri="{FF2B5EF4-FFF2-40B4-BE49-F238E27FC236}">
                <a16:creationId xmlns:a16="http://schemas.microsoft.com/office/drawing/2014/main" id="{EFA98705-769C-42AE-733F-AF3742227893}"/>
              </a:ext>
            </a:extLst>
          </p:cNvPr>
          <p:cNvGraphicFramePr>
            <a:graphicFrameLocks noGrp="1"/>
          </p:cNvGraphicFramePr>
          <p:nvPr>
            <p:extLst>
              <p:ext uri="{D42A27DB-BD31-4B8C-83A1-F6EECF244321}">
                <p14:modId xmlns:p14="http://schemas.microsoft.com/office/powerpoint/2010/main" val="472585845"/>
              </p:ext>
            </p:extLst>
          </p:nvPr>
        </p:nvGraphicFramePr>
        <p:xfrm>
          <a:off x="457200" y="2247900"/>
          <a:ext cx="10591800" cy="6156960"/>
        </p:xfrm>
        <a:graphic>
          <a:graphicData uri="http://schemas.openxmlformats.org/drawingml/2006/table">
            <a:tbl>
              <a:tblPr/>
              <a:tblGrid>
                <a:gridCol w="4800600">
                  <a:extLst>
                    <a:ext uri="{9D8B030D-6E8A-4147-A177-3AD203B41FA5}">
                      <a16:colId xmlns:a16="http://schemas.microsoft.com/office/drawing/2014/main" val="441812026"/>
                    </a:ext>
                  </a:extLst>
                </a:gridCol>
                <a:gridCol w="5791200">
                  <a:extLst>
                    <a:ext uri="{9D8B030D-6E8A-4147-A177-3AD203B41FA5}">
                      <a16:colId xmlns:a16="http://schemas.microsoft.com/office/drawing/2014/main" val="2133055373"/>
                    </a:ext>
                  </a:extLst>
                </a:gridCol>
              </a:tblGrid>
              <a:tr h="0">
                <a:tc>
                  <a:txBody>
                    <a:bodyPr/>
                    <a:lstStyle/>
                    <a:p>
                      <a:pPr algn="ctr">
                        <a:buNone/>
                      </a:pPr>
                      <a:r>
                        <a:rPr lang="en-IN" sz="3200" b="1" dirty="0">
                          <a:latin typeface="Raleway" panose="020B0604020202020204" charset="0"/>
                        </a:rPr>
                        <a:t>Existing Research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B44A"/>
                    </a:solidFill>
                  </a:tcPr>
                </a:tc>
                <a:tc>
                  <a:txBody>
                    <a:bodyPr/>
                    <a:lstStyle/>
                    <a:p>
                      <a:pPr algn="ctr">
                        <a:buNone/>
                      </a:pPr>
                      <a:r>
                        <a:rPr lang="en-IN" sz="3200" b="1" dirty="0">
                          <a:latin typeface="Raleway" panose="020B0604020202020204" charset="0"/>
                        </a:rPr>
                        <a:t>Proposed 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B44A"/>
                    </a:solidFill>
                  </a:tcPr>
                </a:tc>
                <a:extLst>
                  <a:ext uri="{0D108BD9-81ED-4DB2-BD59-A6C34878D82A}">
                    <a16:rowId xmlns:a16="http://schemas.microsoft.com/office/drawing/2014/main" val="1370522901"/>
                  </a:ext>
                </a:extLst>
              </a:tr>
              <a:tr h="0">
                <a:tc>
                  <a:txBody>
                    <a:bodyPr/>
                    <a:lstStyle/>
                    <a:p>
                      <a:pPr>
                        <a:buNone/>
                      </a:pPr>
                      <a:r>
                        <a:rPr lang="en-IN" sz="3000">
                          <a:latin typeface="Raleway" panose="020B0604020202020204" charset="0"/>
                        </a:rPr>
                        <a:t>Complaint classification only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000" dirty="0">
                          <a:latin typeface="Raleway" panose="020B0604020202020204" charset="0"/>
                        </a:rPr>
                        <a:t>Complete complaint lifecycle management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8472702"/>
                  </a:ext>
                </a:extLst>
              </a:tr>
              <a:tr h="0">
                <a:tc>
                  <a:txBody>
                    <a:bodyPr/>
                    <a:lstStyle/>
                    <a:p>
                      <a:pPr>
                        <a:buNone/>
                      </a:pPr>
                      <a:r>
                        <a:rPr lang="en-IN" sz="3000">
                          <a:latin typeface="Raleway" panose="020B0604020202020204" charset="0"/>
                        </a:rPr>
                        <a:t>No automatic ticket generation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000" dirty="0">
                          <a:latin typeface="Raleway" panose="020B0604020202020204" charset="0"/>
                        </a:rPr>
                        <a:t>Automatic ticket ID generation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7059427"/>
                  </a:ext>
                </a:extLst>
              </a:tr>
              <a:tr h="0">
                <a:tc>
                  <a:txBody>
                    <a:bodyPr/>
                    <a:lstStyle/>
                    <a:p>
                      <a:pPr>
                        <a:buNone/>
                      </a:pPr>
                      <a:r>
                        <a:rPr lang="en-IN" sz="3000">
                          <a:latin typeface="Raleway" panose="020B0604020202020204" charset="0"/>
                        </a:rPr>
                        <a:t>No department mapping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000">
                          <a:latin typeface="Raleway" panose="020B0604020202020204" charset="0"/>
                        </a:rPr>
                        <a:t>Business Rule Engine for routing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07608209"/>
                  </a:ext>
                </a:extLst>
              </a:tr>
              <a:tr h="0">
                <a:tc>
                  <a:txBody>
                    <a:bodyPr/>
                    <a:lstStyle/>
                    <a:p>
                      <a:pPr>
                        <a:buNone/>
                      </a:pPr>
                      <a:r>
                        <a:rPr lang="en-IN" sz="3000">
                          <a:latin typeface="Raleway" panose="020B0604020202020204" charset="0"/>
                        </a:rPr>
                        <a:t>No employee assignment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000">
                          <a:latin typeface="Raleway" panose="020B0604020202020204" charset="0"/>
                        </a:rPr>
                        <a:t>Intelligent employee allocation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69803095"/>
                  </a:ext>
                </a:extLst>
              </a:tr>
              <a:tr h="0">
                <a:tc>
                  <a:txBody>
                    <a:bodyPr/>
                    <a:lstStyle/>
                    <a:p>
                      <a:pPr>
                        <a:buNone/>
                      </a:pPr>
                      <a:r>
                        <a:rPr lang="en-IN" sz="3000">
                          <a:latin typeface="Raleway" panose="020B0604020202020204" charset="0"/>
                        </a:rPr>
                        <a:t>No complaint tracking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000">
                          <a:latin typeface="Raleway" panose="020B0604020202020204" charset="0"/>
                        </a:rPr>
                        <a:t>Customer complaint tracking portal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00956056"/>
                  </a:ext>
                </a:extLst>
              </a:tr>
              <a:tr h="0">
                <a:tc>
                  <a:txBody>
                    <a:bodyPr/>
                    <a:lstStyle/>
                    <a:p>
                      <a:pPr>
                        <a:buNone/>
                      </a:pPr>
                      <a:r>
                        <a:rPr lang="en-IN" sz="3000">
                          <a:latin typeface="Raleway" panose="020B0604020202020204" charset="0"/>
                        </a:rPr>
                        <a:t>No analytics dashboard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000" dirty="0">
                          <a:latin typeface="Raleway" panose="020B0604020202020204" charset="0"/>
                        </a:rPr>
                        <a:t>Admin dashboard with complaint analytics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52246571"/>
                  </a:ext>
                </a:extLst>
              </a:tr>
            </a:tbl>
          </a:graphicData>
        </a:graphic>
      </p:graphicFrame>
      <p:sp>
        <p:nvSpPr>
          <p:cNvPr id="10" name="TextBox 9">
            <a:extLst>
              <a:ext uri="{FF2B5EF4-FFF2-40B4-BE49-F238E27FC236}">
                <a16:creationId xmlns:a16="http://schemas.microsoft.com/office/drawing/2014/main" id="{753DEA34-2F2D-FD82-1726-702C429BE178}"/>
              </a:ext>
            </a:extLst>
          </p:cNvPr>
          <p:cNvSpPr txBox="1"/>
          <p:nvPr/>
        </p:nvSpPr>
        <p:spPr>
          <a:xfrm>
            <a:off x="11277600" y="3621018"/>
            <a:ext cx="7010400" cy="3473708"/>
          </a:xfrm>
          <a:prstGeom prst="rect">
            <a:avLst/>
          </a:prstGeom>
          <a:noFill/>
        </p:spPr>
        <p:txBody>
          <a:bodyPr wrap="square">
            <a:spAutoFit/>
          </a:bodyPr>
          <a:lstStyle/>
          <a:p>
            <a:pPr algn="just">
              <a:lnSpc>
                <a:spcPct val="150000"/>
              </a:lnSpc>
            </a:pPr>
            <a:r>
              <a:rPr lang="en-IN" sz="3000" dirty="0">
                <a:latin typeface="Raleway" panose="020B0604020202020204" charset="0"/>
              </a:rPr>
              <a:t>Existing studies do not integrate BERT-based complaint classification, business rule automation, and web-based complaint management into a single intelligent banking solution.</a:t>
            </a:r>
          </a:p>
        </p:txBody>
      </p:sp>
      <p:pic>
        <p:nvPicPr>
          <p:cNvPr id="12" name="Picture 11">
            <a:extLst>
              <a:ext uri="{FF2B5EF4-FFF2-40B4-BE49-F238E27FC236}">
                <a16:creationId xmlns:a16="http://schemas.microsoft.com/office/drawing/2014/main" id="{BDDCAF05-F2A8-8E9A-68BD-32707ECAB7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spTree>
    <p:extLst>
      <p:ext uri="{BB962C8B-B14F-4D97-AF65-F5344CB8AC3E}">
        <p14:creationId xmlns:p14="http://schemas.microsoft.com/office/powerpoint/2010/main" val="1528221001"/>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2D44A824-59BE-7C49-4488-3258CB353A4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7387DA7-D892-3AD3-BAA6-E93843AFFAD7}"/>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232397B4-1C42-22A4-6697-6064907A5A2C}"/>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89DA7E6B-9B33-265A-1C3E-187AFC7DD79E}"/>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6</a:t>
            </a:r>
          </a:p>
        </p:txBody>
      </p:sp>
      <p:sp>
        <p:nvSpPr>
          <p:cNvPr id="8" name="TextBox 8">
            <a:extLst>
              <a:ext uri="{FF2B5EF4-FFF2-40B4-BE49-F238E27FC236}">
                <a16:creationId xmlns:a16="http://schemas.microsoft.com/office/drawing/2014/main" id="{0B5891AA-9AF8-0E5A-C8DF-5710F63B8B8E}"/>
              </a:ext>
            </a:extLst>
          </p:cNvPr>
          <p:cNvSpPr txBox="1"/>
          <p:nvPr/>
        </p:nvSpPr>
        <p:spPr>
          <a:xfrm>
            <a:off x="533400" y="843303"/>
            <a:ext cx="12268200" cy="829073"/>
          </a:xfrm>
          <a:prstGeom prst="rect">
            <a:avLst/>
          </a:prstGeom>
        </p:spPr>
        <p:txBody>
          <a:bodyPr wrap="square" lIns="0" tIns="0" rIns="0" bIns="0" rtlCol="0" anchor="t">
            <a:spAutoFit/>
          </a:bodyPr>
          <a:lstStyle/>
          <a:p>
            <a:pPr>
              <a:lnSpc>
                <a:spcPts val="6719"/>
              </a:lnSpc>
            </a:pPr>
            <a:r>
              <a:rPr lang="en-IN" sz="4800" dirty="0">
                <a:latin typeface="Prata" panose="020B0604020202020204" charset="0"/>
              </a:rPr>
              <a:t>OBJECTIVES</a:t>
            </a:r>
            <a:endParaRPr lang="en-US" sz="4800" dirty="0">
              <a:solidFill>
                <a:srgbClr val="344E41"/>
              </a:solidFill>
              <a:latin typeface="Prata" panose="020B0604020202020204" charset="0"/>
              <a:ea typeface="Prata"/>
              <a:cs typeface="Prata"/>
              <a:sym typeface="Prata"/>
            </a:endParaRPr>
          </a:p>
        </p:txBody>
      </p:sp>
      <p:sp>
        <p:nvSpPr>
          <p:cNvPr id="10" name="TextBox 9">
            <a:extLst>
              <a:ext uri="{FF2B5EF4-FFF2-40B4-BE49-F238E27FC236}">
                <a16:creationId xmlns:a16="http://schemas.microsoft.com/office/drawing/2014/main" id="{6B2AB3B6-F0F5-DD3D-FFCC-FCB911AE7D12}"/>
              </a:ext>
            </a:extLst>
          </p:cNvPr>
          <p:cNvSpPr txBox="1"/>
          <p:nvPr/>
        </p:nvSpPr>
        <p:spPr>
          <a:xfrm>
            <a:off x="253521" y="1672376"/>
            <a:ext cx="12115800" cy="7392473"/>
          </a:xfrm>
          <a:prstGeom prst="rect">
            <a:avLst/>
          </a:prstGeom>
          <a:noFill/>
        </p:spPr>
        <p:txBody>
          <a:bodyPr wrap="square">
            <a:spAutoFit/>
          </a:bodyPr>
          <a:lstStyle/>
          <a:p>
            <a:pPr marL="457200" lvl="0" indent="-457200" algn="just">
              <a:lnSpc>
                <a:spcPct val="150000"/>
              </a:lnSpc>
              <a:buFont typeface="Arial" panose="020B0604020202020204" pitchFamily="34" charset="0"/>
              <a:buChar char="•"/>
            </a:pPr>
            <a:r>
              <a:rPr lang="en-IN" sz="3200" dirty="0">
                <a:latin typeface="Raleway" panose="020B0604020202020204" charset="0"/>
              </a:rPr>
              <a:t>To improve the contextual understanding and accuracy of customer complaint classification. </a:t>
            </a:r>
          </a:p>
          <a:p>
            <a:pPr marL="457200" lvl="0" indent="-457200" algn="just">
              <a:lnSpc>
                <a:spcPct val="150000"/>
              </a:lnSpc>
              <a:buFont typeface="Arial" panose="020B0604020202020204" pitchFamily="34" charset="0"/>
              <a:buChar char="•"/>
            </a:pPr>
            <a:r>
              <a:rPr lang="en-IN" sz="3200" dirty="0">
                <a:latin typeface="Raleway" panose="020B0604020202020204" charset="0"/>
              </a:rPr>
              <a:t>To reduce delays and inconsistencies caused by manual complaint categorization and routing. </a:t>
            </a:r>
          </a:p>
          <a:p>
            <a:pPr marL="457200" lvl="0" indent="-457200" algn="just">
              <a:lnSpc>
                <a:spcPct val="150000"/>
              </a:lnSpc>
              <a:buFont typeface="Arial" panose="020B0604020202020204" pitchFamily="34" charset="0"/>
              <a:buChar char="•"/>
            </a:pPr>
            <a:r>
              <a:rPr lang="en-IN" sz="3200" dirty="0">
                <a:latin typeface="Raleway" panose="020B0604020202020204" charset="0"/>
              </a:rPr>
              <a:t>To enable automated prioritization and department-wise complaint routing. </a:t>
            </a:r>
          </a:p>
          <a:p>
            <a:pPr marL="457200" lvl="0" indent="-457200" algn="just">
              <a:lnSpc>
                <a:spcPct val="150000"/>
              </a:lnSpc>
              <a:buFont typeface="Arial" panose="020B0604020202020204" pitchFamily="34" charset="0"/>
              <a:buChar char="•"/>
            </a:pPr>
            <a:r>
              <a:rPr lang="en-IN" sz="3200" dirty="0">
                <a:latin typeface="Raleway" panose="020B0604020202020204" charset="0"/>
              </a:rPr>
              <a:t>To reduce manual effort in complaint handling and improve resolution efficiency. </a:t>
            </a:r>
          </a:p>
          <a:p>
            <a:pPr marL="457200" lvl="0" indent="-457200" algn="just">
              <a:lnSpc>
                <a:spcPct val="150000"/>
              </a:lnSpc>
              <a:buFont typeface="Arial" panose="020B0604020202020204" pitchFamily="34" charset="0"/>
              <a:buChar char="•"/>
            </a:pPr>
            <a:r>
              <a:rPr lang="en-IN" sz="3200" dirty="0">
                <a:latin typeface="Raleway" panose="020B0604020202020204" charset="0"/>
              </a:rPr>
              <a:t>To provide a centralized platform for transparent complaint tracking and management.</a:t>
            </a:r>
          </a:p>
        </p:txBody>
      </p:sp>
      <p:sp>
        <p:nvSpPr>
          <p:cNvPr id="6" name="Freeform 3">
            <a:extLst>
              <a:ext uri="{FF2B5EF4-FFF2-40B4-BE49-F238E27FC236}">
                <a16:creationId xmlns:a16="http://schemas.microsoft.com/office/drawing/2014/main" id="{47DCE94E-D04E-35B9-F1B9-EC2BF7BD4189}"/>
              </a:ext>
            </a:extLst>
          </p:cNvPr>
          <p:cNvSpPr/>
          <p:nvPr/>
        </p:nvSpPr>
        <p:spPr>
          <a:xfrm>
            <a:off x="12622842" y="4451565"/>
            <a:ext cx="6105552" cy="4806735"/>
          </a:xfrm>
          <a:custGeom>
            <a:avLst/>
            <a:gdLst/>
            <a:ahLst/>
            <a:cxnLst/>
            <a:rect l="l" t="t" r="r" b="b"/>
            <a:pathLst>
              <a:path w="6105552" h="4806735">
                <a:moveTo>
                  <a:pt x="0" y="0"/>
                </a:moveTo>
                <a:lnTo>
                  <a:pt x="6105552" y="0"/>
                </a:lnTo>
                <a:lnTo>
                  <a:pt x="6105552" y="4806735"/>
                </a:lnTo>
                <a:lnTo>
                  <a:pt x="0" y="4806735"/>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pic>
        <p:nvPicPr>
          <p:cNvPr id="11" name="Picture 10">
            <a:extLst>
              <a:ext uri="{FF2B5EF4-FFF2-40B4-BE49-F238E27FC236}">
                <a16:creationId xmlns:a16="http://schemas.microsoft.com/office/drawing/2014/main" id="{40B0C86B-2A11-923C-CD2A-C2F787F087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spTree>
    <p:extLst>
      <p:ext uri="{BB962C8B-B14F-4D97-AF65-F5344CB8AC3E}">
        <p14:creationId xmlns:p14="http://schemas.microsoft.com/office/powerpoint/2010/main" val="3109226471"/>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sp>
        <p:nvSpPr>
          <p:cNvPr id="18" name="Oval 17">
            <a:extLst>
              <a:ext uri="{FF2B5EF4-FFF2-40B4-BE49-F238E27FC236}">
                <a16:creationId xmlns:a16="http://schemas.microsoft.com/office/drawing/2014/main" id="{C447B2CA-1DFC-4815-F585-0A6330E07A4A}"/>
              </a:ext>
            </a:extLst>
          </p:cNvPr>
          <p:cNvSpPr/>
          <p:nvPr/>
        </p:nvSpPr>
        <p:spPr>
          <a:xfrm>
            <a:off x="6594925" y="-2592982"/>
            <a:ext cx="16204972" cy="14980372"/>
          </a:xfrm>
          <a:prstGeom prst="ellipse">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p:cNvSpPr txBox="1"/>
          <p:nvPr/>
        </p:nvSpPr>
        <p:spPr>
          <a:xfrm>
            <a:off x="827265" y="2552700"/>
            <a:ext cx="5767660" cy="4443524"/>
          </a:xfrm>
          <a:prstGeom prst="rect">
            <a:avLst/>
          </a:prstGeom>
        </p:spPr>
        <p:txBody>
          <a:bodyPr wrap="square" lIns="0" tIns="0" rIns="0" bIns="0" rtlCol="0" anchor="t">
            <a:spAutoFit/>
          </a:bodyPr>
          <a:lstStyle/>
          <a:p>
            <a:pPr>
              <a:lnSpc>
                <a:spcPct val="150000"/>
              </a:lnSpc>
            </a:pPr>
            <a:r>
              <a:rPr lang="en-IN" sz="6600" b="1" dirty="0">
                <a:latin typeface="Prata" panose="020B0604020202020204" charset="0"/>
              </a:rPr>
              <a:t>Innovation, Creativity &amp; </a:t>
            </a:r>
            <a:br>
              <a:rPr lang="en-IN" sz="6600" b="1" dirty="0">
                <a:latin typeface="Prata" panose="020B0604020202020204" charset="0"/>
              </a:rPr>
            </a:br>
            <a:r>
              <a:rPr lang="en-IN" sz="6600" b="1" dirty="0">
                <a:latin typeface="Prata" panose="020B0604020202020204" charset="0"/>
              </a:rPr>
              <a:t>Novelty</a:t>
            </a:r>
            <a:endParaRPr lang="en-US" sz="6600" b="1" dirty="0">
              <a:solidFill>
                <a:srgbClr val="344E41"/>
              </a:solidFill>
              <a:latin typeface="Prata" panose="020B0604020202020204" charset="0"/>
              <a:ea typeface="Prata"/>
              <a:cs typeface="Prata"/>
              <a:sym typeface="Prata"/>
            </a:endParaRPr>
          </a:p>
        </p:txBody>
      </p:sp>
      <p:grpSp>
        <p:nvGrpSpPr>
          <p:cNvPr id="3" name="Group 3"/>
          <p:cNvGrpSpPr/>
          <p:nvPr/>
        </p:nvGrpSpPr>
        <p:grpSpPr>
          <a:xfrm>
            <a:off x="0" y="9258300"/>
            <a:ext cx="18288000" cy="1028700"/>
            <a:chOff x="0" y="0"/>
            <a:chExt cx="12372622" cy="695960"/>
          </a:xfrm>
        </p:grpSpPr>
        <p:sp>
          <p:nvSpPr>
            <p:cNvPr id="4" name="Freeform 4"/>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5" name="TextBox 5"/>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7</a:t>
            </a:r>
          </a:p>
        </p:txBody>
      </p:sp>
      <p:sp>
        <p:nvSpPr>
          <p:cNvPr id="8" name="TextBox 8"/>
          <p:cNvSpPr txBox="1"/>
          <p:nvPr/>
        </p:nvSpPr>
        <p:spPr>
          <a:xfrm>
            <a:off x="8193196" y="1699403"/>
            <a:ext cx="7427803" cy="596895"/>
          </a:xfrm>
          <a:prstGeom prst="rect">
            <a:avLst/>
          </a:prstGeom>
        </p:spPr>
        <p:txBody>
          <a:bodyPr wrap="square" lIns="0" tIns="0" rIns="0" bIns="0" rtlCol="0" anchor="t">
            <a:spAutoFit/>
          </a:bodyPr>
          <a:lstStyle/>
          <a:p>
            <a:pPr>
              <a:lnSpc>
                <a:spcPts val="3359"/>
              </a:lnSpc>
            </a:pPr>
            <a:r>
              <a:rPr lang="en-IN" sz="8800" dirty="0">
                <a:latin typeface="Raleway Bold" panose="020B0604020202020204" charset="0"/>
              </a:rPr>
              <a:t>INNOVATION</a:t>
            </a:r>
            <a:endParaRPr lang="en-US" sz="8800" b="1" dirty="0">
              <a:solidFill>
                <a:srgbClr val="344E41"/>
              </a:solidFill>
              <a:latin typeface="Raleway Bold" panose="020B0604020202020204" charset="0"/>
              <a:ea typeface="Raleway Bold"/>
              <a:cs typeface="Raleway Bold"/>
              <a:sym typeface="Raleway Bold"/>
            </a:endParaRPr>
          </a:p>
        </p:txBody>
      </p:sp>
      <p:sp>
        <p:nvSpPr>
          <p:cNvPr id="9" name="TextBox 9"/>
          <p:cNvSpPr txBox="1"/>
          <p:nvPr/>
        </p:nvSpPr>
        <p:spPr>
          <a:xfrm>
            <a:off x="7086600" y="2296298"/>
            <a:ext cx="10963378" cy="5822812"/>
          </a:xfrm>
          <a:prstGeom prst="rect">
            <a:avLst/>
          </a:prstGeom>
        </p:spPr>
        <p:txBody>
          <a:bodyPr wrap="square" lIns="0" tIns="0" rIns="0" bIns="0" rtlCol="0" anchor="t">
            <a:spAutoFit/>
          </a:bodyPr>
          <a:lstStyle/>
          <a:p>
            <a:pPr marL="571500" lvl="0" indent="-571500" algn="just">
              <a:lnSpc>
                <a:spcPct val="150000"/>
              </a:lnSpc>
              <a:buFont typeface="Arial" panose="020B0604020202020204" pitchFamily="34" charset="0"/>
              <a:buChar char="•"/>
            </a:pPr>
            <a:r>
              <a:rPr lang="en-IN" sz="3200" dirty="0">
                <a:latin typeface="Raleway" panose="020B0604020202020204" charset="0"/>
              </a:rPr>
              <a:t>Context-aware complaint classification using fine-tuned BERT instead of relying only on keyword-based classification. </a:t>
            </a:r>
          </a:p>
          <a:p>
            <a:pPr marL="571500" lvl="0" indent="-571500" algn="just">
              <a:lnSpc>
                <a:spcPct val="150000"/>
              </a:lnSpc>
              <a:buFont typeface="Arial" panose="020B0604020202020204" pitchFamily="34" charset="0"/>
              <a:buChar char="•"/>
            </a:pPr>
            <a:r>
              <a:rPr lang="en-IN" sz="3200" dirty="0">
                <a:latin typeface="Raleway" panose="020B0604020202020204" charset="0"/>
              </a:rPr>
              <a:t>Automated routing based on predicted complaint categories through a Business Rule Engine. </a:t>
            </a:r>
          </a:p>
          <a:p>
            <a:pPr marL="571500" lvl="0" indent="-571500" algn="just">
              <a:lnSpc>
                <a:spcPct val="150000"/>
              </a:lnSpc>
              <a:buFont typeface="Arial" panose="020B0604020202020204" pitchFamily="34" charset="0"/>
              <a:buChar char="•"/>
            </a:pPr>
            <a:r>
              <a:rPr lang="en-IN" sz="3200" dirty="0">
                <a:latin typeface="Raleway" panose="020B0604020202020204" charset="0"/>
              </a:rPr>
              <a:t>Integration of AI classification with ticket generation, priority assignment, department routing, and employee assignment.</a:t>
            </a:r>
          </a:p>
        </p:txBody>
      </p:sp>
      <p:pic>
        <p:nvPicPr>
          <p:cNvPr id="20" name="Picture 19">
            <a:extLst>
              <a:ext uri="{FF2B5EF4-FFF2-40B4-BE49-F238E27FC236}">
                <a16:creationId xmlns:a16="http://schemas.microsoft.com/office/drawing/2014/main" id="{730917DD-627B-9BB1-E09E-0830E29D90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51" y="0"/>
            <a:ext cx="2395447" cy="12006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D62D4B53-D597-6B8B-7CC6-418F2CCDE718}"/>
            </a:ext>
          </a:extLst>
        </p:cNvPr>
        <p:cNvGrpSpPr/>
        <p:nvPr/>
      </p:nvGrpSpPr>
      <p:grpSpPr>
        <a:xfrm>
          <a:off x="0" y="0"/>
          <a:ext cx="0" cy="0"/>
          <a:chOff x="0" y="0"/>
          <a:chExt cx="0" cy="0"/>
        </a:xfrm>
      </p:grpSpPr>
      <p:sp>
        <p:nvSpPr>
          <p:cNvPr id="18" name="Oval 17">
            <a:extLst>
              <a:ext uri="{FF2B5EF4-FFF2-40B4-BE49-F238E27FC236}">
                <a16:creationId xmlns:a16="http://schemas.microsoft.com/office/drawing/2014/main" id="{04393C07-B8D1-E96A-97A2-B49DD088C769}"/>
              </a:ext>
            </a:extLst>
          </p:cNvPr>
          <p:cNvSpPr/>
          <p:nvPr/>
        </p:nvSpPr>
        <p:spPr>
          <a:xfrm>
            <a:off x="6594925" y="-2592982"/>
            <a:ext cx="16204972" cy="14980372"/>
          </a:xfrm>
          <a:prstGeom prst="ellipse">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3" name="Group 3">
            <a:extLst>
              <a:ext uri="{FF2B5EF4-FFF2-40B4-BE49-F238E27FC236}">
                <a16:creationId xmlns:a16="http://schemas.microsoft.com/office/drawing/2014/main" id="{2DB5812B-4261-BE48-7433-915D6E3021E0}"/>
              </a:ext>
            </a:extLst>
          </p:cNvPr>
          <p:cNvGrpSpPr/>
          <p:nvPr/>
        </p:nvGrpSpPr>
        <p:grpSpPr>
          <a:xfrm>
            <a:off x="0" y="9258300"/>
            <a:ext cx="18288000" cy="1028700"/>
            <a:chOff x="0" y="0"/>
            <a:chExt cx="12372622" cy="695960"/>
          </a:xfrm>
        </p:grpSpPr>
        <p:sp>
          <p:nvSpPr>
            <p:cNvPr id="4" name="Freeform 4">
              <a:extLst>
                <a:ext uri="{FF2B5EF4-FFF2-40B4-BE49-F238E27FC236}">
                  <a16:creationId xmlns:a16="http://schemas.microsoft.com/office/drawing/2014/main" id="{73C7F735-F38F-DF24-2BC3-A8CDD44EAD42}"/>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5" name="TextBox 5">
            <a:extLst>
              <a:ext uri="{FF2B5EF4-FFF2-40B4-BE49-F238E27FC236}">
                <a16:creationId xmlns:a16="http://schemas.microsoft.com/office/drawing/2014/main" id="{3942615C-B40B-A529-389B-5733F4446092}"/>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8</a:t>
            </a:r>
          </a:p>
        </p:txBody>
      </p:sp>
      <p:sp>
        <p:nvSpPr>
          <p:cNvPr id="8" name="TextBox 8">
            <a:extLst>
              <a:ext uri="{FF2B5EF4-FFF2-40B4-BE49-F238E27FC236}">
                <a16:creationId xmlns:a16="http://schemas.microsoft.com/office/drawing/2014/main" id="{644022B8-4D47-9236-AEF2-D5BDD1D4BB25}"/>
              </a:ext>
            </a:extLst>
          </p:cNvPr>
          <p:cNvSpPr txBox="1"/>
          <p:nvPr/>
        </p:nvSpPr>
        <p:spPr>
          <a:xfrm>
            <a:off x="8617457" y="2403516"/>
            <a:ext cx="6477000" cy="596895"/>
          </a:xfrm>
          <a:prstGeom prst="rect">
            <a:avLst/>
          </a:prstGeom>
        </p:spPr>
        <p:txBody>
          <a:bodyPr wrap="square" lIns="0" tIns="0" rIns="0" bIns="0" rtlCol="0" anchor="t">
            <a:spAutoFit/>
          </a:bodyPr>
          <a:lstStyle/>
          <a:p>
            <a:pPr>
              <a:lnSpc>
                <a:spcPts val="3359"/>
              </a:lnSpc>
            </a:pPr>
            <a:r>
              <a:rPr lang="en-IN" sz="8800" dirty="0">
                <a:latin typeface="Raleway Bold" panose="020B0604020202020204" charset="0"/>
              </a:rPr>
              <a:t>CREATIVITY</a:t>
            </a:r>
            <a:endParaRPr lang="en-US" sz="8800" b="1" dirty="0">
              <a:solidFill>
                <a:srgbClr val="344E41"/>
              </a:solidFill>
              <a:latin typeface="Raleway Bold" panose="020B0604020202020204" charset="0"/>
              <a:ea typeface="Raleway Bold"/>
              <a:cs typeface="Raleway Bold"/>
              <a:sym typeface="Raleway Bold"/>
            </a:endParaRPr>
          </a:p>
        </p:txBody>
      </p:sp>
      <p:sp>
        <p:nvSpPr>
          <p:cNvPr id="9" name="TextBox 9">
            <a:extLst>
              <a:ext uri="{FF2B5EF4-FFF2-40B4-BE49-F238E27FC236}">
                <a16:creationId xmlns:a16="http://schemas.microsoft.com/office/drawing/2014/main" id="{D0DCDCB2-23F5-7966-9FE2-979BCA3AB5AC}"/>
              </a:ext>
            </a:extLst>
          </p:cNvPr>
          <p:cNvSpPr txBox="1"/>
          <p:nvPr/>
        </p:nvSpPr>
        <p:spPr>
          <a:xfrm>
            <a:off x="8487750" y="3128273"/>
            <a:ext cx="9762869" cy="4959371"/>
          </a:xfrm>
          <a:prstGeom prst="rect">
            <a:avLst/>
          </a:prstGeom>
        </p:spPr>
        <p:txBody>
          <a:bodyPr wrap="square" lIns="0" tIns="0" rIns="0" bIns="0" rtlCol="0" anchor="t">
            <a:spAutoFit/>
          </a:bodyPr>
          <a:lstStyle/>
          <a:p>
            <a:pPr marL="342900" lvl="0" indent="-342900">
              <a:lnSpc>
                <a:spcPct val="150000"/>
              </a:lnSpc>
              <a:buFont typeface="Arial" panose="020B0604020202020204" pitchFamily="34" charset="0"/>
              <a:buChar char="•"/>
            </a:pPr>
            <a:r>
              <a:rPr lang="en-IN" sz="4400" dirty="0">
                <a:latin typeface="Raleway" panose="020B0604020202020204" charset="0"/>
              </a:rPr>
              <a:t>Integration of AI, NLP, Flask, and MySQL into a single platform. </a:t>
            </a:r>
          </a:p>
          <a:p>
            <a:pPr marL="342900" lvl="0" indent="-342900">
              <a:lnSpc>
                <a:spcPct val="150000"/>
              </a:lnSpc>
              <a:buFont typeface="Arial" panose="020B0604020202020204" pitchFamily="34" charset="0"/>
              <a:buChar char="•"/>
            </a:pPr>
            <a:r>
              <a:rPr lang="en-IN" sz="4400" dirty="0">
                <a:latin typeface="Raleway" panose="020B0604020202020204" charset="0"/>
              </a:rPr>
              <a:t>Role-based web application for Customers, Employees, and Administrators.</a:t>
            </a:r>
          </a:p>
        </p:txBody>
      </p:sp>
      <p:sp>
        <p:nvSpPr>
          <p:cNvPr id="7" name="TextBox 2">
            <a:extLst>
              <a:ext uri="{FF2B5EF4-FFF2-40B4-BE49-F238E27FC236}">
                <a16:creationId xmlns:a16="http://schemas.microsoft.com/office/drawing/2014/main" id="{DFD459F6-5167-2F37-C264-DBAAD823F57E}"/>
              </a:ext>
            </a:extLst>
          </p:cNvPr>
          <p:cNvSpPr txBox="1"/>
          <p:nvPr/>
        </p:nvSpPr>
        <p:spPr>
          <a:xfrm>
            <a:off x="827265" y="2552700"/>
            <a:ext cx="5767660" cy="4443524"/>
          </a:xfrm>
          <a:prstGeom prst="rect">
            <a:avLst/>
          </a:prstGeom>
        </p:spPr>
        <p:txBody>
          <a:bodyPr wrap="square" lIns="0" tIns="0" rIns="0" bIns="0" rtlCol="0" anchor="t">
            <a:spAutoFit/>
          </a:bodyPr>
          <a:lstStyle/>
          <a:p>
            <a:pPr>
              <a:lnSpc>
                <a:spcPct val="150000"/>
              </a:lnSpc>
            </a:pPr>
            <a:r>
              <a:rPr lang="en-IN" sz="6600" b="1" dirty="0">
                <a:latin typeface="Prata" panose="020B0604020202020204" charset="0"/>
              </a:rPr>
              <a:t>Innovation, Creativity &amp; </a:t>
            </a:r>
            <a:br>
              <a:rPr lang="en-IN" sz="6600" b="1" dirty="0">
                <a:latin typeface="Prata" panose="020B0604020202020204" charset="0"/>
              </a:rPr>
            </a:br>
            <a:r>
              <a:rPr lang="en-IN" sz="6600" b="1" dirty="0">
                <a:latin typeface="Prata" panose="020B0604020202020204" charset="0"/>
              </a:rPr>
              <a:t>Novelty</a:t>
            </a:r>
            <a:endParaRPr lang="en-US" sz="6600" b="1" dirty="0">
              <a:solidFill>
                <a:srgbClr val="344E41"/>
              </a:solidFill>
              <a:latin typeface="Prata" panose="020B0604020202020204" charset="0"/>
              <a:ea typeface="Prata"/>
              <a:cs typeface="Prata"/>
              <a:sym typeface="Prata"/>
            </a:endParaRPr>
          </a:p>
        </p:txBody>
      </p:sp>
      <p:pic>
        <p:nvPicPr>
          <p:cNvPr id="15" name="Picture 14">
            <a:extLst>
              <a:ext uri="{FF2B5EF4-FFF2-40B4-BE49-F238E27FC236}">
                <a16:creationId xmlns:a16="http://schemas.microsoft.com/office/drawing/2014/main" id="{2BB07865-6589-7F2C-3F69-4040CEFC76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8015"/>
            <a:ext cx="2395447" cy="1200650"/>
          </a:xfrm>
          <a:prstGeom prst="rect">
            <a:avLst/>
          </a:prstGeom>
          <a:noFill/>
          <a:ln>
            <a:noFill/>
          </a:ln>
        </p:spPr>
      </p:pic>
    </p:spTree>
    <p:extLst>
      <p:ext uri="{BB962C8B-B14F-4D97-AF65-F5344CB8AC3E}">
        <p14:creationId xmlns:p14="http://schemas.microsoft.com/office/powerpoint/2010/main" val="2030514121"/>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C0AAE4C7-1528-7910-E679-9F0535E77B34}"/>
            </a:ext>
          </a:extLst>
        </p:cNvPr>
        <p:cNvGrpSpPr/>
        <p:nvPr/>
      </p:nvGrpSpPr>
      <p:grpSpPr>
        <a:xfrm>
          <a:off x="0" y="0"/>
          <a:ext cx="0" cy="0"/>
          <a:chOff x="0" y="0"/>
          <a:chExt cx="0" cy="0"/>
        </a:xfrm>
      </p:grpSpPr>
      <p:sp>
        <p:nvSpPr>
          <p:cNvPr id="18" name="Oval 17">
            <a:extLst>
              <a:ext uri="{FF2B5EF4-FFF2-40B4-BE49-F238E27FC236}">
                <a16:creationId xmlns:a16="http://schemas.microsoft.com/office/drawing/2014/main" id="{1A9D9A83-AFD4-CA0B-A90C-67310756BB81}"/>
              </a:ext>
            </a:extLst>
          </p:cNvPr>
          <p:cNvSpPr/>
          <p:nvPr/>
        </p:nvSpPr>
        <p:spPr>
          <a:xfrm>
            <a:off x="6594925" y="-2592982"/>
            <a:ext cx="16204972" cy="14980372"/>
          </a:xfrm>
          <a:prstGeom prst="ellipse">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3" name="Group 3">
            <a:extLst>
              <a:ext uri="{FF2B5EF4-FFF2-40B4-BE49-F238E27FC236}">
                <a16:creationId xmlns:a16="http://schemas.microsoft.com/office/drawing/2014/main" id="{5F209B21-5DF4-BE05-7F35-C746C75F6D96}"/>
              </a:ext>
            </a:extLst>
          </p:cNvPr>
          <p:cNvGrpSpPr/>
          <p:nvPr/>
        </p:nvGrpSpPr>
        <p:grpSpPr>
          <a:xfrm>
            <a:off x="0" y="9258300"/>
            <a:ext cx="18288000" cy="1028700"/>
            <a:chOff x="0" y="0"/>
            <a:chExt cx="12372622" cy="695960"/>
          </a:xfrm>
        </p:grpSpPr>
        <p:sp>
          <p:nvSpPr>
            <p:cNvPr id="4" name="Freeform 4">
              <a:extLst>
                <a:ext uri="{FF2B5EF4-FFF2-40B4-BE49-F238E27FC236}">
                  <a16:creationId xmlns:a16="http://schemas.microsoft.com/office/drawing/2014/main" id="{2499D301-2189-179B-7A59-7F6BE6BA3F77}"/>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5" name="TextBox 5">
            <a:extLst>
              <a:ext uri="{FF2B5EF4-FFF2-40B4-BE49-F238E27FC236}">
                <a16:creationId xmlns:a16="http://schemas.microsoft.com/office/drawing/2014/main" id="{25E8B3EA-7D28-47DC-34FF-FABAB13C3BFD}"/>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9</a:t>
            </a:r>
          </a:p>
        </p:txBody>
      </p:sp>
      <p:sp>
        <p:nvSpPr>
          <p:cNvPr id="8" name="TextBox 8">
            <a:extLst>
              <a:ext uri="{FF2B5EF4-FFF2-40B4-BE49-F238E27FC236}">
                <a16:creationId xmlns:a16="http://schemas.microsoft.com/office/drawing/2014/main" id="{F54D7150-B41D-C18B-FF7F-CD914E20D809}"/>
              </a:ext>
            </a:extLst>
          </p:cNvPr>
          <p:cNvSpPr txBox="1"/>
          <p:nvPr/>
        </p:nvSpPr>
        <p:spPr>
          <a:xfrm>
            <a:off x="8610600" y="1279886"/>
            <a:ext cx="6477000" cy="596895"/>
          </a:xfrm>
          <a:prstGeom prst="rect">
            <a:avLst/>
          </a:prstGeom>
        </p:spPr>
        <p:txBody>
          <a:bodyPr wrap="square" lIns="0" tIns="0" rIns="0" bIns="0" rtlCol="0" anchor="t">
            <a:spAutoFit/>
          </a:bodyPr>
          <a:lstStyle/>
          <a:p>
            <a:pPr>
              <a:lnSpc>
                <a:spcPts val="3359"/>
              </a:lnSpc>
            </a:pPr>
            <a:r>
              <a:rPr lang="en-IN" sz="8800" dirty="0">
                <a:latin typeface="Raleway Bold" panose="020B0604020202020204" charset="0"/>
              </a:rPr>
              <a:t>NOVELTY</a:t>
            </a:r>
            <a:endParaRPr lang="en-US" sz="8800" b="1" dirty="0">
              <a:solidFill>
                <a:srgbClr val="344E41"/>
              </a:solidFill>
              <a:latin typeface="Raleway Bold" panose="020B0604020202020204" charset="0"/>
              <a:ea typeface="Raleway Bold"/>
              <a:cs typeface="Raleway Bold"/>
              <a:sym typeface="Raleway Bold"/>
            </a:endParaRPr>
          </a:p>
        </p:txBody>
      </p:sp>
      <p:sp>
        <p:nvSpPr>
          <p:cNvPr id="9" name="TextBox 9">
            <a:extLst>
              <a:ext uri="{FF2B5EF4-FFF2-40B4-BE49-F238E27FC236}">
                <a16:creationId xmlns:a16="http://schemas.microsoft.com/office/drawing/2014/main" id="{0259A27C-A229-ADDE-AEDD-4C251B67925F}"/>
              </a:ext>
            </a:extLst>
          </p:cNvPr>
          <p:cNvSpPr txBox="1"/>
          <p:nvPr/>
        </p:nvSpPr>
        <p:spPr>
          <a:xfrm>
            <a:off x="7920746" y="1999379"/>
            <a:ext cx="9762869" cy="6990696"/>
          </a:xfrm>
          <a:prstGeom prst="rect">
            <a:avLst/>
          </a:prstGeom>
        </p:spPr>
        <p:txBody>
          <a:bodyPr wrap="square" lIns="0" tIns="0" rIns="0" bIns="0" rtlCol="0" anchor="t">
            <a:spAutoFit/>
          </a:bodyPr>
          <a:lstStyle/>
          <a:p>
            <a:pPr marL="342900" lvl="0" indent="-342900" algn="just">
              <a:lnSpc>
                <a:spcPct val="150000"/>
              </a:lnSpc>
              <a:buFont typeface="Arial" panose="020B0604020202020204" pitchFamily="34" charset="0"/>
              <a:buChar char="•"/>
            </a:pPr>
            <a:r>
              <a:rPr lang="en-IN" sz="4400" dirty="0">
                <a:latin typeface="Raleway" panose="020B0604020202020204" charset="0"/>
              </a:rPr>
              <a:t>Uses Complaint Narrative as the primary input for prediction. </a:t>
            </a:r>
          </a:p>
          <a:p>
            <a:pPr marL="342900" lvl="0" indent="-342900" algn="just">
              <a:lnSpc>
                <a:spcPct val="150000"/>
              </a:lnSpc>
              <a:buFont typeface="Arial" panose="020B0604020202020204" pitchFamily="34" charset="0"/>
              <a:buChar char="•"/>
            </a:pPr>
            <a:r>
              <a:rPr lang="en-IN" sz="4400" dirty="0">
                <a:latin typeface="Raleway" panose="020B0604020202020204" charset="0"/>
              </a:rPr>
              <a:t>Predicts four complaint categories simultaneously. </a:t>
            </a:r>
          </a:p>
          <a:p>
            <a:pPr marL="342900" lvl="0" indent="-342900" algn="just">
              <a:lnSpc>
                <a:spcPct val="150000"/>
              </a:lnSpc>
              <a:buFont typeface="Arial" panose="020B0604020202020204" pitchFamily="34" charset="0"/>
              <a:buChar char="•"/>
            </a:pPr>
            <a:r>
              <a:rPr lang="en-IN" sz="4400" dirty="0">
                <a:latin typeface="Raleway" panose="020B0604020202020204" charset="0"/>
              </a:rPr>
              <a:t>Combines AI-based classification with automated ticket generation and complaint tracking.</a:t>
            </a:r>
          </a:p>
        </p:txBody>
      </p:sp>
      <p:sp>
        <p:nvSpPr>
          <p:cNvPr id="7" name="TextBox 2">
            <a:extLst>
              <a:ext uri="{FF2B5EF4-FFF2-40B4-BE49-F238E27FC236}">
                <a16:creationId xmlns:a16="http://schemas.microsoft.com/office/drawing/2014/main" id="{7FF75ACB-5554-BADE-1CBA-74DB2526AED5}"/>
              </a:ext>
            </a:extLst>
          </p:cNvPr>
          <p:cNvSpPr txBox="1"/>
          <p:nvPr/>
        </p:nvSpPr>
        <p:spPr>
          <a:xfrm>
            <a:off x="827265" y="2552700"/>
            <a:ext cx="5767660" cy="4443524"/>
          </a:xfrm>
          <a:prstGeom prst="rect">
            <a:avLst/>
          </a:prstGeom>
        </p:spPr>
        <p:txBody>
          <a:bodyPr wrap="square" lIns="0" tIns="0" rIns="0" bIns="0" rtlCol="0" anchor="t">
            <a:spAutoFit/>
          </a:bodyPr>
          <a:lstStyle/>
          <a:p>
            <a:pPr>
              <a:lnSpc>
                <a:spcPct val="150000"/>
              </a:lnSpc>
            </a:pPr>
            <a:r>
              <a:rPr lang="en-IN" sz="6600" b="1" dirty="0">
                <a:latin typeface="Prata" panose="020B0604020202020204" charset="0"/>
              </a:rPr>
              <a:t>Innovation, Creativity &amp; </a:t>
            </a:r>
            <a:br>
              <a:rPr lang="en-IN" sz="6600" b="1" dirty="0">
                <a:latin typeface="Prata" panose="020B0604020202020204" charset="0"/>
              </a:rPr>
            </a:br>
            <a:r>
              <a:rPr lang="en-IN" sz="6600" b="1" dirty="0">
                <a:latin typeface="Prata" panose="020B0604020202020204" charset="0"/>
              </a:rPr>
              <a:t>Novelty</a:t>
            </a:r>
            <a:endParaRPr lang="en-US" sz="6600" b="1" dirty="0">
              <a:solidFill>
                <a:srgbClr val="344E41"/>
              </a:solidFill>
              <a:latin typeface="Prata" panose="020B0604020202020204" charset="0"/>
              <a:ea typeface="Prata"/>
              <a:cs typeface="Prata"/>
              <a:sym typeface="Prata"/>
            </a:endParaRPr>
          </a:p>
        </p:txBody>
      </p:sp>
      <p:pic>
        <p:nvPicPr>
          <p:cNvPr id="11" name="Picture 10">
            <a:extLst>
              <a:ext uri="{FF2B5EF4-FFF2-40B4-BE49-F238E27FC236}">
                <a16:creationId xmlns:a16="http://schemas.microsoft.com/office/drawing/2014/main" id="{74A84684-48BE-16C6-B7EA-753BC821FE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8015"/>
            <a:ext cx="2395447" cy="1200650"/>
          </a:xfrm>
          <a:prstGeom prst="rect">
            <a:avLst/>
          </a:prstGeom>
          <a:noFill/>
          <a:ln>
            <a:noFill/>
          </a:ln>
        </p:spPr>
      </p:pic>
    </p:spTree>
    <p:extLst>
      <p:ext uri="{BB962C8B-B14F-4D97-AF65-F5344CB8AC3E}">
        <p14:creationId xmlns:p14="http://schemas.microsoft.com/office/powerpoint/2010/main" val="343353998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89036EBA-1E17-3D12-D5E7-71E18F19932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5AFE4EC-8030-EEDF-125C-9D6C23CDA501}"/>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A5C6207F-BEAC-89A3-2A69-4CA071EB0FDD}"/>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8C3F85A7-898A-6388-68A2-34BB8B1392DB}"/>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10</a:t>
            </a:r>
          </a:p>
        </p:txBody>
      </p:sp>
      <p:sp>
        <p:nvSpPr>
          <p:cNvPr id="8" name="TextBox 8">
            <a:extLst>
              <a:ext uri="{FF2B5EF4-FFF2-40B4-BE49-F238E27FC236}">
                <a16:creationId xmlns:a16="http://schemas.microsoft.com/office/drawing/2014/main" id="{E8765F8C-7E0D-2568-F841-31BC7D14BDA7}"/>
              </a:ext>
            </a:extLst>
          </p:cNvPr>
          <p:cNvSpPr txBox="1"/>
          <p:nvPr/>
        </p:nvSpPr>
        <p:spPr>
          <a:xfrm>
            <a:off x="217715" y="275819"/>
            <a:ext cx="12268200" cy="829073"/>
          </a:xfrm>
          <a:prstGeom prst="rect">
            <a:avLst/>
          </a:prstGeom>
        </p:spPr>
        <p:txBody>
          <a:bodyPr wrap="square" lIns="0" tIns="0" rIns="0" bIns="0" rtlCol="0" anchor="t">
            <a:spAutoFit/>
          </a:bodyPr>
          <a:lstStyle/>
          <a:p>
            <a:pPr>
              <a:lnSpc>
                <a:spcPts val="6719"/>
              </a:lnSpc>
            </a:pPr>
            <a:r>
              <a:rPr lang="en-IN" sz="4800" dirty="0">
                <a:latin typeface="Prata" panose="020B0604020202020204" charset="0"/>
              </a:rPr>
              <a:t>DATASET</a:t>
            </a:r>
            <a:endParaRPr lang="en-US" sz="4800" dirty="0">
              <a:solidFill>
                <a:srgbClr val="344E41"/>
              </a:solidFill>
              <a:latin typeface="Prata" panose="020B0604020202020204" charset="0"/>
              <a:ea typeface="Prata"/>
              <a:cs typeface="Prata"/>
              <a:sym typeface="Prata"/>
            </a:endParaRPr>
          </a:p>
        </p:txBody>
      </p:sp>
      <p:sp>
        <p:nvSpPr>
          <p:cNvPr id="5" name="TextBox 4">
            <a:extLst>
              <a:ext uri="{FF2B5EF4-FFF2-40B4-BE49-F238E27FC236}">
                <a16:creationId xmlns:a16="http://schemas.microsoft.com/office/drawing/2014/main" id="{8148E353-AB00-6680-D343-F4243D3D2052}"/>
              </a:ext>
            </a:extLst>
          </p:cNvPr>
          <p:cNvSpPr txBox="1"/>
          <p:nvPr/>
        </p:nvSpPr>
        <p:spPr>
          <a:xfrm>
            <a:off x="201386" y="999879"/>
            <a:ext cx="10276114" cy="1077218"/>
          </a:xfrm>
          <a:prstGeom prst="rect">
            <a:avLst/>
          </a:prstGeom>
          <a:noFill/>
        </p:spPr>
        <p:txBody>
          <a:bodyPr wrap="square">
            <a:spAutoFit/>
          </a:bodyPr>
          <a:lstStyle/>
          <a:p>
            <a:r>
              <a:rPr lang="en-IN" sz="3200" dirty="0">
                <a:latin typeface="Raleway" panose="020B0604020202020204" charset="0"/>
              </a:rPr>
              <a:t>Dataset: CFPB Consumer Complaint Database </a:t>
            </a:r>
            <a:br>
              <a:rPr lang="en-IN" sz="3200" dirty="0">
                <a:latin typeface="Raleway" panose="020B0604020202020204" charset="0"/>
              </a:rPr>
            </a:br>
            <a:r>
              <a:rPr lang="en-IN" sz="3200" dirty="0">
                <a:latin typeface="Raleway" panose="020B0604020202020204" charset="0"/>
              </a:rPr>
              <a:t>(CCDB)</a:t>
            </a:r>
          </a:p>
        </p:txBody>
      </p:sp>
      <p:graphicFrame>
        <p:nvGraphicFramePr>
          <p:cNvPr id="9" name="Table 8">
            <a:extLst>
              <a:ext uri="{FF2B5EF4-FFF2-40B4-BE49-F238E27FC236}">
                <a16:creationId xmlns:a16="http://schemas.microsoft.com/office/drawing/2014/main" id="{85C26D68-2F79-6584-DEAF-64CF07F93ED7}"/>
              </a:ext>
            </a:extLst>
          </p:cNvPr>
          <p:cNvGraphicFramePr>
            <a:graphicFrameLocks noGrp="1"/>
          </p:cNvGraphicFramePr>
          <p:nvPr>
            <p:extLst>
              <p:ext uri="{D42A27DB-BD31-4B8C-83A1-F6EECF244321}">
                <p14:modId xmlns:p14="http://schemas.microsoft.com/office/powerpoint/2010/main" val="3048114334"/>
              </p:ext>
            </p:extLst>
          </p:nvPr>
        </p:nvGraphicFramePr>
        <p:xfrm>
          <a:off x="239486" y="2070675"/>
          <a:ext cx="9437914" cy="7071360"/>
        </p:xfrm>
        <a:graphic>
          <a:graphicData uri="http://schemas.openxmlformats.org/drawingml/2006/table">
            <a:tbl>
              <a:tblPr/>
              <a:tblGrid>
                <a:gridCol w="4360555">
                  <a:extLst>
                    <a:ext uri="{9D8B030D-6E8A-4147-A177-3AD203B41FA5}">
                      <a16:colId xmlns:a16="http://schemas.microsoft.com/office/drawing/2014/main" val="1560930645"/>
                    </a:ext>
                  </a:extLst>
                </a:gridCol>
                <a:gridCol w="5077359">
                  <a:extLst>
                    <a:ext uri="{9D8B030D-6E8A-4147-A177-3AD203B41FA5}">
                      <a16:colId xmlns:a16="http://schemas.microsoft.com/office/drawing/2014/main" val="3994016520"/>
                    </a:ext>
                  </a:extLst>
                </a:gridCol>
              </a:tblGrid>
              <a:tr h="518562">
                <a:tc>
                  <a:txBody>
                    <a:bodyPr/>
                    <a:lstStyle/>
                    <a:p>
                      <a:pPr algn="ctr">
                        <a:buNone/>
                      </a:pPr>
                      <a:r>
                        <a:rPr lang="en-IN" sz="3200" b="1">
                          <a:latin typeface="Raleway" panose="020B0604020202020204" charset="0"/>
                        </a:rPr>
                        <a:t>Attribute</a:t>
                      </a:r>
                      <a:endParaRPr lang="en-IN" sz="3200">
                        <a:latin typeface="Raleway"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B44A"/>
                    </a:solidFill>
                  </a:tcPr>
                </a:tc>
                <a:tc>
                  <a:txBody>
                    <a:bodyPr/>
                    <a:lstStyle/>
                    <a:p>
                      <a:pPr algn="ctr">
                        <a:buNone/>
                      </a:pPr>
                      <a:r>
                        <a:rPr lang="en-IN" sz="3200" b="1" dirty="0">
                          <a:latin typeface="Raleway" panose="020B0604020202020204" charset="0"/>
                        </a:rPr>
                        <a:t>Details</a:t>
                      </a:r>
                      <a:endParaRPr lang="en-IN" sz="3200" dirty="0">
                        <a:latin typeface="Raleway"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B44A"/>
                    </a:solidFill>
                  </a:tcPr>
                </a:tc>
                <a:extLst>
                  <a:ext uri="{0D108BD9-81ED-4DB2-BD59-A6C34878D82A}">
                    <a16:rowId xmlns:a16="http://schemas.microsoft.com/office/drawing/2014/main" val="1628041036"/>
                  </a:ext>
                </a:extLst>
              </a:tr>
              <a:tr h="1310051">
                <a:tc>
                  <a:txBody>
                    <a:bodyPr/>
                    <a:lstStyle/>
                    <a:p>
                      <a:pPr>
                        <a:buNone/>
                      </a:pPr>
                      <a:r>
                        <a:rPr lang="en-IN" sz="3000" b="1" dirty="0">
                          <a:latin typeface="Raleway" panose="020B0604020202020204" charset="0"/>
                        </a:rPr>
                        <a:t>Dataset Name</a:t>
                      </a:r>
                      <a:endParaRPr lang="en-IN" sz="3000" dirty="0">
                        <a:latin typeface="Raleway"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000" dirty="0">
                          <a:latin typeface="Raleway" panose="020B0604020202020204" charset="0"/>
                        </a:rPr>
                        <a:t>Consumer Financial Protection Bureau (CFPB) Consumer Complaint Database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3779754"/>
                  </a:ext>
                </a:extLst>
              </a:tr>
              <a:tr h="900660">
                <a:tc>
                  <a:txBody>
                    <a:bodyPr/>
                    <a:lstStyle/>
                    <a:p>
                      <a:pPr>
                        <a:buNone/>
                      </a:pPr>
                      <a:r>
                        <a:rPr lang="en-IN" sz="3000" b="1">
                          <a:latin typeface="Raleway" panose="020B0604020202020204" charset="0"/>
                        </a:rPr>
                        <a:t>Source</a:t>
                      </a:r>
                      <a:endParaRPr lang="en-IN" sz="3000">
                        <a:latin typeface="Raleway"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000" dirty="0">
                          <a:latin typeface="Raleway" panose="020B0604020202020204" charset="0"/>
                        </a:rPr>
                        <a:t>Consumer Financial Protection Bureau (CFPB)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5024035"/>
                  </a:ext>
                </a:extLst>
              </a:tr>
              <a:tr h="491269">
                <a:tc>
                  <a:txBody>
                    <a:bodyPr/>
                    <a:lstStyle/>
                    <a:p>
                      <a:pPr>
                        <a:buNone/>
                      </a:pPr>
                      <a:r>
                        <a:rPr lang="en-IN" sz="3000" b="1">
                          <a:latin typeface="Raleway" panose="020B0604020202020204" charset="0"/>
                        </a:rPr>
                        <a:t>Format</a:t>
                      </a:r>
                      <a:endParaRPr lang="en-IN" sz="3000">
                        <a:latin typeface="Raleway"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000">
                          <a:latin typeface="Raleway" panose="020B0604020202020204" charset="0"/>
                        </a:rPr>
                        <a:t>CSV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19474079"/>
                  </a:ext>
                </a:extLst>
              </a:tr>
              <a:tr h="491269">
                <a:tc>
                  <a:txBody>
                    <a:bodyPr/>
                    <a:lstStyle/>
                    <a:p>
                      <a:pPr>
                        <a:buNone/>
                      </a:pPr>
                      <a:r>
                        <a:rPr lang="en-IN" sz="3000" b="1">
                          <a:latin typeface="Raleway" panose="020B0604020202020204" charset="0"/>
                        </a:rPr>
                        <a:t>Domain</a:t>
                      </a:r>
                      <a:endParaRPr lang="en-IN" sz="3000">
                        <a:latin typeface="Raleway"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000">
                          <a:latin typeface="Raleway" panose="020B0604020202020204" charset="0"/>
                        </a:rPr>
                        <a:t>Banking &amp; Financial Services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8149433"/>
                  </a:ext>
                </a:extLst>
              </a:tr>
              <a:tr h="491269">
                <a:tc>
                  <a:txBody>
                    <a:bodyPr/>
                    <a:lstStyle/>
                    <a:p>
                      <a:pPr>
                        <a:buNone/>
                      </a:pPr>
                      <a:r>
                        <a:rPr lang="en-IN" sz="3000" b="1">
                          <a:latin typeface="Raleway" panose="020B0604020202020204" charset="0"/>
                        </a:rPr>
                        <a:t>Input Feature</a:t>
                      </a:r>
                      <a:endParaRPr lang="en-IN" sz="3000">
                        <a:latin typeface="Raleway"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000">
                          <a:latin typeface="Raleway" panose="020B0604020202020204" charset="0"/>
                        </a:rPr>
                        <a:t>Consumer Complaint Narrative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3667328"/>
                  </a:ext>
                </a:extLst>
              </a:tr>
              <a:tr h="900660">
                <a:tc>
                  <a:txBody>
                    <a:bodyPr/>
                    <a:lstStyle/>
                    <a:p>
                      <a:pPr>
                        <a:buNone/>
                      </a:pPr>
                      <a:r>
                        <a:rPr lang="en-IN" sz="3000" b="1">
                          <a:latin typeface="Raleway" panose="020B0604020202020204" charset="0"/>
                        </a:rPr>
                        <a:t>Target Labels</a:t>
                      </a:r>
                      <a:endParaRPr lang="en-IN" sz="3000">
                        <a:latin typeface="Raleway"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000" dirty="0">
                          <a:latin typeface="Raleway" panose="020B0604020202020204" charset="0"/>
                        </a:rPr>
                        <a:t>Product, Sub-product, Issue, Sub-issue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0448045"/>
                  </a:ext>
                </a:extLst>
              </a:tr>
            </a:tbl>
          </a:graphicData>
        </a:graphic>
      </p:graphicFrame>
      <p:pic>
        <p:nvPicPr>
          <p:cNvPr id="12" name="Picture 11">
            <a:extLst>
              <a:ext uri="{FF2B5EF4-FFF2-40B4-BE49-F238E27FC236}">
                <a16:creationId xmlns:a16="http://schemas.microsoft.com/office/drawing/2014/main" id="{D900849D-C32E-392D-9719-FC6AE7D3CC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pic>
        <p:nvPicPr>
          <p:cNvPr id="6" name="Picture 5">
            <a:extLst>
              <a:ext uri="{FF2B5EF4-FFF2-40B4-BE49-F238E27FC236}">
                <a16:creationId xmlns:a16="http://schemas.microsoft.com/office/drawing/2014/main" id="{2CDC9F7E-35A2-56AC-6727-1B37C41EC1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15500" y="1132148"/>
            <a:ext cx="8557933" cy="4477418"/>
          </a:xfrm>
          <a:prstGeom prst="rect">
            <a:avLst/>
          </a:prstGeom>
        </p:spPr>
      </p:pic>
      <p:pic>
        <p:nvPicPr>
          <p:cNvPr id="11" name="Picture 10">
            <a:extLst>
              <a:ext uri="{FF2B5EF4-FFF2-40B4-BE49-F238E27FC236}">
                <a16:creationId xmlns:a16="http://schemas.microsoft.com/office/drawing/2014/main" id="{EE779C8D-B2E3-891B-1BC0-BE31526A3996}"/>
              </a:ext>
            </a:extLst>
          </p:cNvPr>
          <p:cNvPicPr>
            <a:picLocks noChangeAspect="1"/>
          </p:cNvPicPr>
          <p:nvPr/>
        </p:nvPicPr>
        <p:blipFill>
          <a:blip r:embed="rId5"/>
          <a:stretch>
            <a:fillRect/>
          </a:stretch>
        </p:blipFill>
        <p:spPr>
          <a:xfrm>
            <a:off x="9715500" y="5587448"/>
            <a:ext cx="8572500" cy="4485039"/>
          </a:xfrm>
          <a:prstGeom prst="rect">
            <a:avLst/>
          </a:prstGeom>
        </p:spPr>
      </p:pic>
    </p:spTree>
    <p:extLst>
      <p:ext uri="{BB962C8B-B14F-4D97-AF65-F5344CB8AC3E}">
        <p14:creationId xmlns:p14="http://schemas.microsoft.com/office/powerpoint/2010/main" val="511482663"/>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71CA803E-EA11-239F-7DF6-B7CA8E77785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D7803A2-D659-536C-8447-ACFC35143A1F}"/>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3C2C6154-206E-606F-29F1-733A800FB371}"/>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FAE6E2A5-0E84-A70B-FEE8-85A09AB88A8D}"/>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11</a:t>
            </a:r>
          </a:p>
        </p:txBody>
      </p:sp>
      <p:sp>
        <p:nvSpPr>
          <p:cNvPr id="8" name="TextBox 8">
            <a:extLst>
              <a:ext uri="{FF2B5EF4-FFF2-40B4-BE49-F238E27FC236}">
                <a16:creationId xmlns:a16="http://schemas.microsoft.com/office/drawing/2014/main" id="{FD49E5A6-942E-125A-1CD3-EF0C225C46D8}"/>
              </a:ext>
            </a:extLst>
          </p:cNvPr>
          <p:cNvSpPr txBox="1"/>
          <p:nvPr/>
        </p:nvSpPr>
        <p:spPr>
          <a:xfrm>
            <a:off x="805543" y="4076700"/>
            <a:ext cx="5627914" cy="1688283"/>
          </a:xfrm>
          <a:prstGeom prst="rect">
            <a:avLst/>
          </a:prstGeom>
        </p:spPr>
        <p:txBody>
          <a:bodyPr wrap="square" lIns="0" tIns="0" rIns="0" bIns="0" rtlCol="0" anchor="t">
            <a:spAutoFit/>
          </a:bodyPr>
          <a:lstStyle/>
          <a:p>
            <a:pPr>
              <a:lnSpc>
                <a:spcPts val="6719"/>
              </a:lnSpc>
            </a:pPr>
            <a:r>
              <a:rPr lang="en-IN" sz="4800" dirty="0">
                <a:latin typeface="Prata" panose="020B0604020202020204" charset="0"/>
              </a:rPr>
              <a:t>PROPOSED METHODOLOGY</a:t>
            </a:r>
            <a:endParaRPr lang="en-US" sz="4800" dirty="0">
              <a:solidFill>
                <a:srgbClr val="344E41"/>
              </a:solidFill>
              <a:latin typeface="Prata" panose="020B0604020202020204" charset="0"/>
              <a:ea typeface="Prata"/>
              <a:cs typeface="Prata"/>
              <a:sym typeface="Prata"/>
            </a:endParaRPr>
          </a:p>
        </p:txBody>
      </p:sp>
      <p:pic>
        <p:nvPicPr>
          <p:cNvPr id="4" name="Picture 3">
            <a:extLst>
              <a:ext uri="{FF2B5EF4-FFF2-40B4-BE49-F238E27FC236}">
                <a16:creationId xmlns:a16="http://schemas.microsoft.com/office/drawing/2014/main" id="{5B8A16D7-CD33-209D-DACF-8987DE5A126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39000" y="0"/>
            <a:ext cx="7467600" cy="10287000"/>
          </a:xfrm>
          <a:prstGeom prst="rect">
            <a:avLst/>
          </a:prstGeom>
          <a:noFill/>
          <a:ln>
            <a:noFill/>
          </a:ln>
        </p:spPr>
      </p:pic>
      <p:pic>
        <p:nvPicPr>
          <p:cNvPr id="10" name="Picture 9">
            <a:extLst>
              <a:ext uri="{FF2B5EF4-FFF2-40B4-BE49-F238E27FC236}">
                <a16:creationId xmlns:a16="http://schemas.microsoft.com/office/drawing/2014/main" id="{E3D53EB0-3FA6-7FE6-670C-0AD6758F0D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spTree>
    <p:extLst>
      <p:ext uri="{BB962C8B-B14F-4D97-AF65-F5344CB8AC3E}">
        <p14:creationId xmlns:p14="http://schemas.microsoft.com/office/powerpoint/2010/main" val="100443715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3A9579EA-7C97-6F0E-FED3-6766924A94C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3C6E8C2-4D48-CAAB-2241-CA67CEEC7743}"/>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EF7CF9B1-F1EC-9D13-912F-9FFDA3AC0A25}"/>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234BDBC3-F2E8-205A-B674-0EC5FEB59810}"/>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12</a:t>
            </a:r>
          </a:p>
        </p:txBody>
      </p:sp>
      <p:sp>
        <p:nvSpPr>
          <p:cNvPr id="8" name="TextBox 8">
            <a:extLst>
              <a:ext uri="{FF2B5EF4-FFF2-40B4-BE49-F238E27FC236}">
                <a16:creationId xmlns:a16="http://schemas.microsoft.com/office/drawing/2014/main" id="{88665B1D-FFF5-B72C-40E0-B27676DA5676}"/>
              </a:ext>
            </a:extLst>
          </p:cNvPr>
          <p:cNvSpPr txBox="1"/>
          <p:nvPr/>
        </p:nvSpPr>
        <p:spPr>
          <a:xfrm>
            <a:off x="805543" y="4076700"/>
            <a:ext cx="5627914" cy="1688283"/>
          </a:xfrm>
          <a:prstGeom prst="rect">
            <a:avLst/>
          </a:prstGeom>
        </p:spPr>
        <p:txBody>
          <a:bodyPr wrap="square" lIns="0" tIns="0" rIns="0" bIns="0" rtlCol="0" anchor="t">
            <a:spAutoFit/>
          </a:bodyPr>
          <a:lstStyle/>
          <a:p>
            <a:pPr>
              <a:lnSpc>
                <a:spcPts val="6719"/>
              </a:lnSpc>
            </a:pPr>
            <a:r>
              <a:rPr lang="en-IN" sz="4800" dirty="0">
                <a:latin typeface="Prata" panose="020B0604020202020204" charset="0"/>
              </a:rPr>
              <a:t>SYSTEM ARCHITECTURE</a:t>
            </a:r>
            <a:endParaRPr lang="en-US" sz="4800" dirty="0">
              <a:solidFill>
                <a:srgbClr val="344E41"/>
              </a:solidFill>
              <a:latin typeface="Prata" panose="020B0604020202020204" charset="0"/>
              <a:ea typeface="Prata"/>
              <a:cs typeface="Prata"/>
              <a:sym typeface="Prata"/>
            </a:endParaRPr>
          </a:p>
        </p:txBody>
      </p:sp>
      <p:pic>
        <p:nvPicPr>
          <p:cNvPr id="6" name="Picture 5">
            <a:extLst>
              <a:ext uri="{FF2B5EF4-FFF2-40B4-BE49-F238E27FC236}">
                <a16:creationId xmlns:a16="http://schemas.microsoft.com/office/drawing/2014/main" id="{AD52D942-12E0-9FCA-58AD-7B77A5CC49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5200" y="0"/>
            <a:ext cx="8633866" cy="10287000"/>
          </a:xfrm>
          <a:prstGeom prst="rect">
            <a:avLst/>
          </a:prstGeom>
        </p:spPr>
      </p:pic>
      <p:pic>
        <p:nvPicPr>
          <p:cNvPr id="10" name="Picture 9">
            <a:extLst>
              <a:ext uri="{FF2B5EF4-FFF2-40B4-BE49-F238E27FC236}">
                <a16:creationId xmlns:a16="http://schemas.microsoft.com/office/drawing/2014/main" id="{A4E7B127-8F7A-4EC7-CAAA-B4CB9D331B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spTree>
    <p:extLst>
      <p:ext uri="{BB962C8B-B14F-4D97-AF65-F5344CB8AC3E}">
        <p14:creationId xmlns:p14="http://schemas.microsoft.com/office/powerpoint/2010/main" val="1865956905"/>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E76CD8FC-BF38-C08A-DBCF-3ACFE589985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EF99929-C26C-46B6-F8FA-A75DEE871FC2}"/>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7CF37BE3-848A-D169-AB65-D51792400811}"/>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438B928F-D69D-97FA-0391-01A96A518C74}"/>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13</a:t>
            </a:r>
          </a:p>
        </p:txBody>
      </p:sp>
      <p:sp>
        <p:nvSpPr>
          <p:cNvPr id="8" name="TextBox 8">
            <a:extLst>
              <a:ext uri="{FF2B5EF4-FFF2-40B4-BE49-F238E27FC236}">
                <a16:creationId xmlns:a16="http://schemas.microsoft.com/office/drawing/2014/main" id="{DABD1CAB-F652-1D22-81AF-6D69F6851E55}"/>
              </a:ext>
            </a:extLst>
          </p:cNvPr>
          <p:cNvSpPr txBox="1"/>
          <p:nvPr/>
        </p:nvSpPr>
        <p:spPr>
          <a:xfrm>
            <a:off x="239486" y="500081"/>
            <a:ext cx="12268200" cy="829073"/>
          </a:xfrm>
          <a:prstGeom prst="rect">
            <a:avLst/>
          </a:prstGeom>
        </p:spPr>
        <p:txBody>
          <a:bodyPr wrap="square" lIns="0" tIns="0" rIns="0" bIns="0" rtlCol="0" anchor="t">
            <a:spAutoFit/>
          </a:bodyPr>
          <a:lstStyle/>
          <a:p>
            <a:pPr>
              <a:lnSpc>
                <a:spcPts val="6719"/>
              </a:lnSpc>
            </a:pPr>
            <a:r>
              <a:rPr lang="en-IN" sz="4800" dirty="0">
                <a:latin typeface="Prata" panose="020B0604020202020204" charset="0"/>
              </a:rPr>
              <a:t>FEASIBILITY</a:t>
            </a:r>
            <a:endParaRPr lang="en-US" sz="4800" dirty="0">
              <a:solidFill>
                <a:srgbClr val="344E41"/>
              </a:solidFill>
              <a:latin typeface="Prata" panose="020B0604020202020204" charset="0"/>
              <a:ea typeface="Prata"/>
              <a:cs typeface="Prata"/>
              <a:sym typeface="Prata"/>
            </a:endParaRPr>
          </a:p>
        </p:txBody>
      </p:sp>
      <p:sp>
        <p:nvSpPr>
          <p:cNvPr id="10" name="TextBox 9">
            <a:extLst>
              <a:ext uri="{FF2B5EF4-FFF2-40B4-BE49-F238E27FC236}">
                <a16:creationId xmlns:a16="http://schemas.microsoft.com/office/drawing/2014/main" id="{142ABE14-4CE2-D352-02B3-D033290E4C66}"/>
              </a:ext>
            </a:extLst>
          </p:cNvPr>
          <p:cNvSpPr txBox="1"/>
          <p:nvPr/>
        </p:nvSpPr>
        <p:spPr>
          <a:xfrm>
            <a:off x="0" y="1998568"/>
            <a:ext cx="8077200" cy="6289863"/>
          </a:xfrm>
          <a:prstGeom prst="rect">
            <a:avLst/>
          </a:prstGeom>
          <a:noFill/>
        </p:spPr>
        <p:txBody>
          <a:bodyPr wrap="square">
            <a:spAutoFit/>
          </a:bodyPr>
          <a:lstStyle/>
          <a:p>
            <a:pPr>
              <a:lnSpc>
                <a:spcPct val="150000"/>
              </a:lnSpc>
            </a:pPr>
            <a:r>
              <a:rPr lang="en-IN" sz="3200" b="1" dirty="0">
                <a:latin typeface="Raleway" panose="020B0604020202020204" charset="0"/>
              </a:rPr>
              <a:t>Advantages</a:t>
            </a:r>
          </a:p>
          <a:p>
            <a:pPr marL="457200" lvl="0" indent="-457200" algn="just">
              <a:lnSpc>
                <a:spcPct val="150000"/>
              </a:lnSpc>
              <a:buFont typeface="Arial" panose="020B0604020202020204" pitchFamily="34" charset="0"/>
              <a:buChar char="•"/>
            </a:pPr>
            <a:r>
              <a:rPr lang="en-IN" sz="3000" dirty="0">
                <a:latin typeface="Raleway" panose="020B0604020202020204" charset="0"/>
              </a:rPr>
              <a:t>Context-aware complaint classification using BERT. </a:t>
            </a:r>
          </a:p>
          <a:p>
            <a:pPr marL="457200" lvl="0" indent="-457200" algn="just">
              <a:lnSpc>
                <a:spcPct val="150000"/>
              </a:lnSpc>
              <a:buFont typeface="Arial" panose="020B0604020202020204" pitchFamily="34" charset="0"/>
              <a:buChar char="•"/>
            </a:pPr>
            <a:r>
              <a:rPr lang="en-IN" sz="3000" dirty="0">
                <a:latin typeface="Raleway" panose="020B0604020202020204" charset="0"/>
              </a:rPr>
              <a:t>Reduces manual complaint processing. </a:t>
            </a:r>
          </a:p>
          <a:p>
            <a:pPr marL="457200" lvl="0" indent="-457200" algn="just">
              <a:lnSpc>
                <a:spcPct val="150000"/>
              </a:lnSpc>
              <a:buFont typeface="Arial" panose="020B0604020202020204" pitchFamily="34" charset="0"/>
              <a:buChar char="•"/>
            </a:pPr>
            <a:r>
              <a:rPr lang="en-IN" sz="3000" dirty="0">
                <a:latin typeface="Raleway" panose="020B0604020202020204" charset="0"/>
              </a:rPr>
              <a:t>Improves complaint routing accuracy. </a:t>
            </a:r>
          </a:p>
          <a:p>
            <a:pPr marL="457200" lvl="0" indent="-457200" algn="just">
              <a:lnSpc>
                <a:spcPct val="150000"/>
              </a:lnSpc>
              <a:buFont typeface="Arial" panose="020B0604020202020204" pitchFamily="34" charset="0"/>
              <a:buChar char="•"/>
            </a:pPr>
            <a:r>
              <a:rPr lang="en-IN" sz="3000" dirty="0">
                <a:latin typeface="Raleway" panose="020B0604020202020204" charset="0"/>
              </a:rPr>
              <a:t>Scalable and easy to integrate with banking systems. </a:t>
            </a:r>
          </a:p>
          <a:p>
            <a:pPr marL="457200" lvl="0" indent="-457200" algn="just">
              <a:lnSpc>
                <a:spcPct val="150000"/>
              </a:lnSpc>
              <a:buFont typeface="Arial" panose="020B0604020202020204" pitchFamily="34" charset="0"/>
              <a:buChar char="•"/>
            </a:pPr>
            <a:r>
              <a:rPr lang="en-IN" sz="3000" dirty="0">
                <a:latin typeface="Raleway" panose="020B0604020202020204" charset="0"/>
              </a:rPr>
              <a:t>User-friendly dashboards for all stakeholders. </a:t>
            </a:r>
          </a:p>
        </p:txBody>
      </p:sp>
      <p:graphicFrame>
        <p:nvGraphicFramePr>
          <p:cNvPr id="4" name="Table 3">
            <a:extLst>
              <a:ext uri="{FF2B5EF4-FFF2-40B4-BE49-F238E27FC236}">
                <a16:creationId xmlns:a16="http://schemas.microsoft.com/office/drawing/2014/main" id="{A4740768-1120-D17E-36B2-530D3F1C2DE0}"/>
              </a:ext>
            </a:extLst>
          </p:cNvPr>
          <p:cNvGraphicFramePr>
            <a:graphicFrameLocks noGrp="1"/>
          </p:cNvGraphicFramePr>
          <p:nvPr>
            <p:extLst>
              <p:ext uri="{D42A27DB-BD31-4B8C-83A1-F6EECF244321}">
                <p14:modId xmlns:p14="http://schemas.microsoft.com/office/powerpoint/2010/main" val="3441753025"/>
              </p:ext>
            </p:extLst>
          </p:nvPr>
        </p:nvGraphicFramePr>
        <p:xfrm>
          <a:off x="9157762" y="3108753"/>
          <a:ext cx="8229600" cy="4525010"/>
        </p:xfrm>
        <a:graphic>
          <a:graphicData uri="http://schemas.openxmlformats.org/drawingml/2006/table">
            <a:tbl>
              <a:tblPr/>
              <a:tblGrid>
                <a:gridCol w="4114800">
                  <a:extLst>
                    <a:ext uri="{9D8B030D-6E8A-4147-A177-3AD203B41FA5}">
                      <a16:colId xmlns:a16="http://schemas.microsoft.com/office/drawing/2014/main" val="2251000040"/>
                    </a:ext>
                  </a:extLst>
                </a:gridCol>
                <a:gridCol w="4114800">
                  <a:extLst>
                    <a:ext uri="{9D8B030D-6E8A-4147-A177-3AD203B41FA5}">
                      <a16:colId xmlns:a16="http://schemas.microsoft.com/office/drawing/2014/main" val="3863530239"/>
                    </a:ext>
                  </a:extLst>
                </a:gridCol>
              </a:tblGrid>
              <a:tr h="0">
                <a:tc>
                  <a:txBody>
                    <a:bodyPr/>
                    <a:lstStyle/>
                    <a:p>
                      <a:pPr algn="ctr">
                        <a:lnSpc>
                          <a:spcPct val="150000"/>
                        </a:lnSpc>
                        <a:buNone/>
                      </a:pPr>
                      <a:r>
                        <a:rPr lang="en-IN" sz="2400" b="1" dirty="0">
                          <a:latin typeface="Raleway" panose="020B0604020202020204" charset="0"/>
                        </a:rPr>
                        <a:t>Type</a:t>
                      </a:r>
                      <a:endParaRPr lang="en-IN" sz="2400" dirty="0">
                        <a:latin typeface="Raleway"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B44A"/>
                    </a:solidFill>
                  </a:tcPr>
                </a:tc>
                <a:tc>
                  <a:txBody>
                    <a:bodyPr/>
                    <a:lstStyle/>
                    <a:p>
                      <a:pPr algn="ctr">
                        <a:lnSpc>
                          <a:spcPct val="150000"/>
                        </a:lnSpc>
                        <a:buNone/>
                      </a:pPr>
                      <a:r>
                        <a:rPr lang="en-IN" sz="2400" b="1" dirty="0">
                          <a:latin typeface="Raleway" panose="020B0604020202020204" charset="0"/>
                        </a:rPr>
                        <a:t>Description</a:t>
                      </a:r>
                      <a:endParaRPr lang="en-IN" sz="2400" dirty="0">
                        <a:latin typeface="Raleway"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B44A"/>
                    </a:solidFill>
                  </a:tcPr>
                </a:tc>
                <a:extLst>
                  <a:ext uri="{0D108BD9-81ED-4DB2-BD59-A6C34878D82A}">
                    <a16:rowId xmlns:a16="http://schemas.microsoft.com/office/drawing/2014/main" val="2008566552"/>
                  </a:ext>
                </a:extLst>
              </a:tr>
              <a:tr h="0">
                <a:tc>
                  <a:txBody>
                    <a:bodyPr/>
                    <a:lstStyle/>
                    <a:p>
                      <a:pPr>
                        <a:lnSpc>
                          <a:spcPct val="150000"/>
                        </a:lnSpc>
                        <a:buNone/>
                      </a:pPr>
                      <a:r>
                        <a:rPr lang="en-IN" sz="2400">
                          <a:latin typeface="Raleway" panose="020B0604020202020204" charset="0"/>
                        </a:rPr>
                        <a:t>Technical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IN" sz="2400">
                          <a:latin typeface="Raleway" panose="020B0604020202020204" charset="0"/>
                        </a:rPr>
                        <a:t>Uses proven AI and web technologies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49562670"/>
                  </a:ext>
                </a:extLst>
              </a:tr>
              <a:tr h="0">
                <a:tc>
                  <a:txBody>
                    <a:bodyPr/>
                    <a:lstStyle/>
                    <a:p>
                      <a:pPr>
                        <a:lnSpc>
                          <a:spcPct val="150000"/>
                        </a:lnSpc>
                        <a:buNone/>
                      </a:pPr>
                      <a:r>
                        <a:rPr lang="en-IN" sz="2400" dirty="0">
                          <a:latin typeface="Raleway" panose="020B0604020202020204" charset="0"/>
                        </a:rPr>
                        <a:t>Economic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IN" sz="2400" dirty="0">
                          <a:latin typeface="Raleway" panose="020B0604020202020204" charset="0"/>
                        </a:rPr>
                        <a:t>Open-source tools minimize development cost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2419304"/>
                  </a:ext>
                </a:extLst>
              </a:tr>
              <a:tr h="0">
                <a:tc>
                  <a:txBody>
                    <a:bodyPr/>
                    <a:lstStyle/>
                    <a:p>
                      <a:pPr>
                        <a:lnSpc>
                          <a:spcPct val="150000"/>
                        </a:lnSpc>
                        <a:buNone/>
                      </a:pPr>
                      <a:r>
                        <a:rPr lang="en-IN" sz="2400">
                          <a:latin typeface="Raleway" panose="020B0604020202020204" charset="0"/>
                        </a:rPr>
                        <a:t>Operational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IN" sz="2400">
                          <a:latin typeface="Raleway" panose="020B0604020202020204" charset="0"/>
                        </a:rPr>
                        <a:t>Easy to use and maintain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6921863"/>
                  </a:ext>
                </a:extLst>
              </a:tr>
              <a:tr h="0">
                <a:tc>
                  <a:txBody>
                    <a:bodyPr/>
                    <a:lstStyle/>
                    <a:p>
                      <a:pPr>
                        <a:lnSpc>
                          <a:spcPct val="150000"/>
                        </a:lnSpc>
                        <a:buNone/>
                      </a:pPr>
                      <a:r>
                        <a:rPr lang="en-IN" sz="2400">
                          <a:latin typeface="Raleway" panose="020B0604020202020204" charset="0"/>
                        </a:rPr>
                        <a:t>Schedule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IN" sz="2400" dirty="0">
                          <a:latin typeface="Raleway" panose="020B0604020202020204" charset="0"/>
                        </a:rPr>
                        <a:t>Can be completed within the project timeline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2081238"/>
                  </a:ext>
                </a:extLst>
              </a:tr>
            </a:tbl>
          </a:graphicData>
        </a:graphic>
      </p:graphicFrame>
      <p:sp>
        <p:nvSpPr>
          <p:cNvPr id="9" name="TextBox 8">
            <a:extLst>
              <a:ext uri="{FF2B5EF4-FFF2-40B4-BE49-F238E27FC236}">
                <a16:creationId xmlns:a16="http://schemas.microsoft.com/office/drawing/2014/main" id="{8A3163B5-30DD-0396-B672-0AD0832551D7}"/>
              </a:ext>
            </a:extLst>
          </p:cNvPr>
          <p:cNvSpPr txBox="1"/>
          <p:nvPr/>
        </p:nvSpPr>
        <p:spPr>
          <a:xfrm>
            <a:off x="9141125" y="2101374"/>
            <a:ext cx="6172200" cy="754822"/>
          </a:xfrm>
          <a:prstGeom prst="rect">
            <a:avLst/>
          </a:prstGeom>
        </p:spPr>
        <p:txBody>
          <a:bodyPr wrap="square" lIns="0" tIns="0" rIns="0" bIns="0" rtlCol="0" anchor="t">
            <a:spAutoFit/>
          </a:bodyPr>
          <a:lstStyle/>
          <a:p>
            <a:pPr>
              <a:lnSpc>
                <a:spcPts val="6719"/>
              </a:lnSpc>
            </a:pPr>
            <a:r>
              <a:rPr lang="en-IN" sz="3600" b="1" dirty="0">
                <a:latin typeface="Raleway" panose="020B0604020202020204" charset="0"/>
              </a:rPr>
              <a:t>Feasibility Analysis</a:t>
            </a:r>
            <a:endParaRPr lang="en-US" sz="3600" b="1" dirty="0">
              <a:solidFill>
                <a:srgbClr val="344E41"/>
              </a:solidFill>
              <a:latin typeface="Raleway" panose="020B0604020202020204" charset="0"/>
              <a:ea typeface="Prata"/>
              <a:cs typeface="Prata"/>
              <a:sym typeface="Prata"/>
            </a:endParaRPr>
          </a:p>
        </p:txBody>
      </p:sp>
      <p:cxnSp>
        <p:nvCxnSpPr>
          <p:cNvPr id="12" name="Straight Connector 11">
            <a:extLst>
              <a:ext uri="{FF2B5EF4-FFF2-40B4-BE49-F238E27FC236}">
                <a16:creationId xmlns:a16="http://schemas.microsoft.com/office/drawing/2014/main" id="{5CFB6F50-4C6C-4B20-8BAE-523111547168}"/>
              </a:ext>
            </a:extLst>
          </p:cNvPr>
          <p:cNvCxnSpPr>
            <a:cxnSpLocks/>
          </p:cNvCxnSpPr>
          <p:nvPr/>
        </p:nvCxnSpPr>
        <p:spPr>
          <a:xfrm>
            <a:off x="8534400" y="0"/>
            <a:ext cx="0" cy="10287000"/>
          </a:xfrm>
          <a:prstGeom prst="line">
            <a:avLst/>
          </a:prstGeom>
          <a:ln w="38100"/>
        </p:spPr>
        <p:style>
          <a:lnRef idx="1">
            <a:schemeClr val="accent3"/>
          </a:lnRef>
          <a:fillRef idx="0">
            <a:schemeClr val="accent3"/>
          </a:fillRef>
          <a:effectRef idx="0">
            <a:schemeClr val="accent3"/>
          </a:effectRef>
          <a:fontRef idx="minor">
            <a:schemeClr val="tx1"/>
          </a:fontRef>
        </p:style>
      </p:cxnSp>
      <p:pic>
        <p:nvPicPr>
          <p:cNvPr id="15" name="Picture 14">
            <a:extLst>
              <a:ext uri="{FF2B5EF4-FFF2-40B4-BE49-F238E27FC236}">
                <a16:creationId xmlns:a16="http://schemas.microsoft.com/office/drawing/2014/main" id="{396A5143-EA47-C717-ABC5-C3D2DF21E2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spTree>
    <p:extLst>
      <p:ext uri="{BB962C8B-B14F-4D97-AF65-F5344CB8AC3E}">
        <p14:creationId xmlns:p14="http://schemas.microsoft.com/office/powerpoint/2010/main" val="2884031671"/>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FB902FF6-C49E-3C5C-91C7-82FA20A19E2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1B829B5-B6DD-A465-B486-68C0608E90DB}"/>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CABB7692-25CC-6914-C588-C3EE85B73F18}"/>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806BC874-5B85-8E9E-F70A-8E4AC1871104}"/>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14</a:t>
            </a:r>
          </a:p>
        </p:txBody>
      </p:sp>
      <p:sp>
        <p:nvSpPr>
          <p:cNvPr id="8" name="TextBox 8">
            <a:extLst>
              <a:ext uri="{FF2B5EF4-FFF2-40B4-BE49-F238E27FC236}">
                <a16:creationId xmlns:a16="http://schemas.microsoft.com/office/drawing/2014/main" id="{4C4E07B0-E2A6-67F6-3C63-F1CD6294DBC3}"/>
              </a:ext>
            </a:extLst>
          </p:cNvPr>
          <p:cNvSpPr txBox="1"/>
          <p:nvPr/>
        </p:nvSpPr>
        <p:spPr>
          <a:xfrm>
            <a:off x="762000" y="826735"/>
            <a:ext cx="12268200" cy="829073"/>
          </a:xfrm>
          <a:prstGeom prst="rect">
            <a:avLst/>
          </a:prstGeom>
        </p:spPr>
        <p:txBody>
          <a:bodyPr wrap="square" lIns="0" tIns="0" rIns="0" bIns="0" rtlCol="0" anchor="t">
            <a:spAutoFit/>
          </a:bodyPr>
          <a:lstStyle/>
          <a:p>
            <a:pPr>
              <a:lnSpc>
                <a:spcPts val="6719"/>
              </a:lnSpc>
            </a:pPr>
            <a:r>
              <a:rPr lang="en-IN" sz="4800" dirty="0">
                <a:latin typeface="Prata" panose="020B0604020202020204" charset="0"/>
              </a:rPr>
              <a:t>PROJECT PLAN</a:t>
            </a:r>
            <a:endParaRPr lang="en-US" sz="4800" dirty="0">
              <a:solidFill>
                <a:srgbClr val="344E41"/>
              </a:solidFill>
              <a:latin typeface="Prata" panose="020B0604020202020204" charset="0"/>
              <a:ea typeface="Prata"/>
              <a:cs typeface="Prata"/>
              <a:sym typeface="Prata"/>
            </a:endParaRPr>
          </a:p>
        </p:txBody>
      </p:sp>
      <p:graphicFrame>
        <p:nvGraphicFramePr>
          <p:cNvPr id="5" name="Table 4">
            <a:extLst>
              <a:ext uri="{FF2B5EF4-FFF2-40B4-BE49-F238E27FC236}">
                <a16:creationId xmlns:a16="http://schemas.microsoft.com/office/drawing/2014/main" id="{C0DBF3C0-2092-B7A7-4B9F-300F1971BBCF}"/>
              </a:ext>
            </a:extLst>
          </p:cNvPr>
          <p:cNvGraphicFramePr>
            <a:graphicFrameLocks noGrp="1"/>
          </p:cNvGraphicFramePr>
          <p:nvPr>
            <p:extLst>
              <p:ext uri="{D42A27DB-BD31-4B8C-83A1-F6EECF244321}">
                <p14:modId xmlns:p14="http://schemas.microsoft.com/office/powerpoint/2010/main" val="3273772051"/>
              </p:ext>
            </p:extLst>
          </p:nvPr>
        </p:nvGraphicFramePr>
        <p:xfrm>
          <a:off x="1008767" y="2133484"/>
          <a:ext cx="9470382" cy="6272217"/>
        </p:xfrm>
        <a:graphic>
          <a:graphicData uri="http://schemas.openxmlformats.org/drawingml/2006/table">
            <a:tbl>
              <a:tblPr/>
              <a:tblGrid>
                <a:gridCol w="1629510">
                  <a:extLst>
                    <a:ext uri="{9D8B030D-6E8A-4147-A177-3AD203B41FA5}">
                      <a16:colId xmlns:a16="http://schemas.microsoft.com/office/drawing/2014/main" val="33756004"/>
                    </a:ext>
                  </a:extLst>
                </a:gridCol>
                <a:gridCol w="7840872">
                  <a:extLst>
                    <a:ext uri="{9D8B030D-6E8A-4147-A177-3AD203B41FA5}">
                      <a16:colId xmlns:a16="http://schemas.microsoft.com/office/drawing/2014/main" val="4149149601"/>
                    </a:ext>
                  </a:extLst>
                </a:gridCol>
              </a:tblGrid>
              <a:tr h="0">
                <a:tc>
                  <a:txBody>
                    <a:bodyPr/>
                    <a:lstStyle/>
                    <a:p>
                      <a:pPr algn="ctr">
                        <a:lnSpc>
                          <a:spcPct val="150000"/>
                        </a:lnSpc>
                        <a:buNone/>
                      </a:pPr>
                      <a:r>
                        <a:rPr lang="en-IN" sz="3000" b="1" dirty="0">
                          <a:latin typeface="Raleway" panose="020B0604020202020204" charset="0"/>
                        </a:rPr>
                        <a:t>Phase</a:t>
                      </a:r>
                      <a:endParaRPr lang="en-IN" sz="3000" dirty="0">
                        <a:latin typeface="Raleway"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B44A"/>
                    </a:solidFill>
                  </a:tcPr>
                </a:tc>
                <a:tc>
                  <a:txBody>
                    <a:bodyPr/>
                    <a:lstStyle/>
                    <a:p>
                      <a:pPr algn="ctr">
                        <a:lnSpc>
                          <a:spcPct val="150000"/>
                        </a:lnSpc>
                        <a:buNone/>
                      </a:pPr>
                      <a:r>
                        <a:rPr lang="en-IN" sz="3000" b="1" dirty="0">
                          <a:latin typeface="Raleway" panose="020B0604020202020204" charset="0"/>
                        </a:rPr>
                        <a:t>Activity</a:t>
                      </a:r>
                      <a:endParaRPr lang="en-IN" sz="3000" dirty="0">
                        <a:latin typeface="Raleway"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B44A"/>
                    </a:solidFill>
                  </a:tcPr>
                </a:tc>
                <a:extLst>
                  <a:ext uri="{0D108BD9-81ED-4DB2-BD59-A6C34878D82A}">
                    <a16:rowId xmlns:a16="http://schemas.microsoft.com/office/drawing/2014/main" val="1296894654"/>
                  </a:ext>
                </a:extLst>
              </a:tr>
              <a:tr h="0">
                <a:tc>
                  <a:txBody>
                    <a:bodyPr/>
                    <a:lstStyle/>
                    <a:p>
                      <a:pPr>
                        <a:lnSpc>
                          <a:spcPct val="150000"/>
                        </a:lnSpc>
                        <a:buNone/>
                      </a:pPr>
                      <a:r>
                        <a:rPr lang="en-IN" sz="3000">
                          <a:latin typeface="Raleway" panose="020B0604020202020204" charset="0"/>
                        </a:rPr>
                        <a:t>Phase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IN" sz="3000" dirty="0">
                          <a:latin typeface="Raleway" panose="020B0604020202020204" charset="0"/>
                        </a:rPr>
                        <a:t>Literature Survey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22353784"/>
                  </a:ext>
                </a:extLst>
              </a:tr>
              <a:tr h="0">
                <a:tc>
                  <a:txBody>
                    <a:bodyPr/>
                    <a:lstStyle/>
                    <a:p>
                      <a:pPr>
                        <a:lnSpc>
                          <a:spcPct val="150000"/>
                        </a:lnSpc>
                        <a:buNone/>
                      </a:pPr>
                      <a:r>
                        <a:rPr lang="en-IN" sz="3000" dirty="0">
                          <a:latin typeface="Raleway" panose="020B0604020202020204" charset="0"/>
                        </a:rPr>
                        <a:t>Phase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IN" sz="3000">
                          <a:latin typeface="Raleway" panose="020B0604020202020204" charset="0"/>
                        </a:rPr>
                        <a:t>Dataset Collection &amp; Preprocessing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5379994"/>
                  </a:ext>
                </a:extLst>
              </a:tr>
              <a:tr h="0">
                <a:tc>
                  <a:txBody>
                    <a:bodyPr/>
                    <a:lstStyle/>
                    <a:p>
                      <a:pPr>
                        <a:lnSpc>
                          <a:spcPct val="150000"/>
                        </a:lnSpc>
                        <a:buNone/>
                      </a:pPr>
                      <a:r>
                        <a:rPr lang="en-IN" sz="3000">
                          <a:latin typeface="Raleway" panose="020B0604020202020204" charset="0"/>
                        </a:rPr>
                        <a:t>Phase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IN" sz="3000">
                          <a:latin typeface="Raleway" panose="020B0604020202020204" charset="0"/>
                        </a:rPr>
                        <a:t>BERT Model Development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4438456"/>
                  </a:ext>
                </a:extLst>
              </a:tr>
              <a:tr h="0">
                <a:tc>
                  <a:txBody>
                    <a:bodyPr/>
                    <a:lstStyle/>
                    <a:p>
                      <a:pPr>
                        <a:lnSpc>
                          <a:spcPct val="150000"/>
                        </a:lnSpc>
                        <a:buNone/>
                      </a:pPr>
                      <a:r>
                        <a:rPr lang="en-IN" sz="3000">
                          <a:latin typeface="Raleway" panose="020B0604020202020204" charset="0"/>
                        </a:rPr>
                        <a:t>Phase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IN" sz="3000">
                          <a:latin typeface="Raleway" panose="020B0604020202020204" charset="0"/>
                        </a:rPr>
                        <a:t>Flask Web Application Development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2988891"/>
                  </a:ext>
                </a:extLst>
              </a:tr>
              <a:tr h="0">
                <a:tc>
                  <a:txBody>
                    <a:bodyPr/>
                    <a:lstStyle/>
                    <a:p>
                      <a:pPr>
                        <a:lnSpc>
                          <a:spcPct val="150000"/>
                        </a:lnSpc>
                        <a:buNone/>
                      </a:pPr>
                      <a:r>
                        <a:rPr lang="en-IN" sz="3000">
                          <a:latin typeface="Raleway" panose="020B0604020202020204" charset="0"/>
                        </a:rPr>
                        <a:t>Phase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IN" sz="3000">
                          <a:latin typeface="Raleway" panose="020B0604020202020204" charset="0"/>
                        </a:rPr>
                        <a:t>Database Integration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1138182"/>
                  </a:ext>
                </a:extLst>
              </a:tr>
              <a:tr h="0">
                <a:tc>
                  <a:txBody>
                    <a:bodyPr/>
                    <a:lstStyle/>
                    <a:p>
                      <a:pPr>
                        <a:lnSpc>
                          <a:spcPct val="150000"/>
                        </a:lnSpc>
                        <a:buNone/>
                      </a:pPr>
                      <a:r>
                        <a:rPr lang="en-IN" sz="3000">
                          <a:latin typeface="Raleway" panose="020B0604020202020204" charset="0"/>
                        </a:rPr>
                        <a:t>Phase 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IN" sz="3000">
                          <a:latin typeface="Raleway" panose="020B0604020202020204" charset="0"/>
                        </a:rPr>
                        <a:t>Business Rule Engine Development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5292109"/>
                  </a:ext>
                </a:extLst>
              </a:tr>
              <a:tr h="0">
                <a:tc>
                  <a:txBody>
                    <a:bodyPr/>
                    <a:lstStyle/>
                    <a:p>
                      <a:pPr>
                        <a:lnSpc>
                          <a:spcPct val="150000"/>
                        </a:lnSpc>
                        <a:buNone/>
                      </a:pPr>
                      <a:r>
                        <a:rPr lang="en-IN" sz="3000">
                          <a:latin typeface="Raleway" panose="020B0604020202020204" charset="0"/>
                        </a:rPr>
                        <a:t>Phase 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IN" sz="3000">
                          <a:latin typeface="Raleway" panose="020B0604020202020204" charset="0"/>
                        </a:rPr>
                        <a:t>Testing &amp; Evaluation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68801668"/>
                  </a:ext>
                </a:extLst>
              </a:tr>
              <a:tr h="0">
                <a:tc>
                  <a:txBody>
                    <a:bodyPr/>
                    <a:lstStyle/>
                    <a:p>
                      <a:pPr>
                        <a:lnSpc>
                          <a:spcPct val="150000"/>
                        </a:lnSpc>
                        <a:buNone/>
                      </a:pPr>
                      <a:r>
                        <a:rPr lang="en-IN" sz="3000">
                          <a:latin typeface="Raleway" panose="020B0604020202020204" charset="0"/>
                        </a:rPr>
                        <a:t>Phase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IN" sz="3000" dirty="0">
                          <a:latin typeface="Raleway" panose="020B0604020202020204" charset="0"/>
                        </a:rPr>
                        <a:t>Documentation &amp; Final Deployment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9257623"/>
                  </a:ext>
                </a:extLst>
              </a:tr>
            </a:tbl>
          </a:graphicData>
        </a:graphic>
      </p:graphicFrame>
      <p:sp>
        <p:nvSpPr>
          <p:cNvPr id="11" name="Freeform 3">
            <a:extLst>
              <a:ext uri="{FF2B5EF4-FFF2-40B4-BE49-F238E27FC236}">
                <a16:creationId xmlns:a16="http://schemas.microsoft.com/office/drawing/2014/main" id="{3943204E-6DA7-4362-E351-71CA84EC9A9C}"/>
              </a:ext>
            </a:extLst>
          </p:cNvPr>
          <p:cNvSpPr/>
          <p:nvPr/>
        </p:nvSpPr>
        <p:spPr>
          <a:xfrm>
            <a:off x="10878316" y="1407166"/>
            <a:ext cx="6825963" cy="7724855"/>
          </a:xfrm>
          <a:custGeom>
            <a:avLst/>
            <a:gdLst/>
            <a:ahLst/>
            <a:cxnLst/>
            <a:rect l="l" t="t" r="r" b="b"/>
            <a:pathLst>
              <a:path w="6825963" h="7724855">
                <a:moveTo>
                  <a:pt x="0" y="0"/>
                </a:moveTo>
                <a:lnTo>
                  <a:pt x="6825963" y="0"/>
                </a:lnTo>
                <a:lnTo>
                  <a:pt x="6825963" y="7724855"/>
                </a:lnTo>
                <a:lnTo>
                  <a:pt x="0" y="7724855"/>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pic>
        <p:nvPicPr>
          <p:cNvPr id="14" name="Picture 13">
            <a:extLst>
              <a:ext uri="{FF2B5EF4-FFF2-40B4-BE49-F238E27FC236}">
                <a16:creationId xmlns:a16="http://schemas.microsoft.com/office/drawing/2014/main" id="{7B019625-ABC9-F868-8FD1-10A04F5ADD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spTree>
    <p:extLst>
      <p:ext uri="{BB962C8B-B14F-4D97-AF65-F5344CB8AC3E}">
        <p14:creationId xmlns:p14="http://schemas.microsoft.com/office/powerpoint/2010/main" val="249246234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7E91B780-EA5C-FB44-1BA1-02229AED3A0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5488CD8-24C7-9B7D-AF6B-336606C113C2}"/>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CD852CB2-848F-5E85-0E39-A72BE9C2DF72}"/>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90620FEF-A852-F68A-0EA7-63B4C4322D21}"/>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15</a:t>
            </a:r>
          </a:p>
        </p:txBody>
      </p:sp>
      <p:sp>
        <p:nvSpPr>
          <p:cNvPr id="8" name="TextBox 8">
            <a:extLst>
              <a:ext uri="{FF2B5EF4-FFF2-40B4-BE49-F238E27FC236}">
                <a16:creationId xmlns:a16="http://schemas.microsoft.com/office/drawing/2014/main" id="{5CD2BA89-983F-0E11-41C2-C993E0A849B3}"/>
              </a:ext>
            </a:extLst>
          </p:cNvPr>
          <p:cNvSpPr txBox="1"/>
          <p:nvPr/>
        </p:nvSpPr>
        <p:spPr>
          <a:xfrm>
            <a:off x="762000" y="826735"/>
            <a:ext cx="12268200" cy="829073"/>
          </a:xfrm>
          <a:prstGeom prst="rect">
            <a:avLst/>
          </a:prstGeom>
        </p:spPr>
        <p:txBody>
          <a:bodyPr wrap="square" lIns="0" tIns="0" rIns="0" bIns="0" rtlCol="0" anchor="t">
            <a:spAutoFit/>
          </a:bodyPr>
          <a:lstStyle/>
          <a:p>
            <a:pPr>
              <a:lnSpc>
                <a:spcPts val="6719"/>
              </a:lnSpc>
            </a:pPr>
            <a:r>
              <a:rPr lang="en-IN" sz="4800" dirty="0">
                <a:latin typeface="Prata" panose="020B0604020202020204" charset="0"/>
              </a:rPr>
              <a:t>REFERENCES</a:t>
            </a:r>
            <a:endParaRPr lang="en-US" sz="4800" dirty="0">
              <a:solidFill>
                <a:srgbClr val="344E41"/>
              </a:solidFill>
              <a:latin typeface="Prata" panose="020B0604020202020204" charset="0"/>
              <a:ea typeface="Prata"/>
              <a:cs typeface="Prata"/>
              <a:sym typeface="Prata"/>
            </a:endParaRPr>
          </a:p>
        </p:txBody>
      </p:sp>
      <p:sp>
        <p:nvSpPr>
          <p:cNvPr id="6" name="TextBox 5">
            <a:extLst>
              <a:ext uri="{FF2B5EF4-FFF2-40B4-BE49-F238E27FC236}">
                <a16:creationId xmlns:a16="http://schemas.microsoft.com/office/drawing/2014/main" id="{BECDA6E3-60F4-2844-9E93-CA1D504AB410}"/>
              </a:ext>
            </a:extLst>
          </p:cNvPr>
          <p:cNvSpPr txBox="1"/>
          <p:nvPr/>
        </p:nvSpPr>
        <p:spPr>
          <a:xfrm>
            <a:off x="533400" y="1866900"/>
            <a:ext cx="17754600" cy="6936194"/>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sz="3000" dirty="0">
                <a:latin typeface="Raleway" panose="020B0604020202020204" charset="0"/>
              </a:rPr>
              <a:t>CFPB Consumer Complaint Database – </a:t>
            </a:r>
            <a:r>
              <a:rPr lang="en-IN" sz="3000" dirty="0">
                <a:latin typeface="Raleway" panose="020B0604020202020204" charset="0"/>
                <a:hlinkClick r:id="rId3"/>
              </a:rPr>
              <a:t>https://www.consumerfinance.gov/data-research/consumer-complaints/</a:t>
            </a:r>
            <a:r>
              <a:rPr lang="en-IN" sz="3000" dirty="0">
                <a:latin typeface="Raleway" panose="020B0604020202020204" charset="0"/>
              </a:rPr>
              <a:t> </a:t>
            </a:r>
          </a:p>
          <a:p>
            <a:pPr marL="342900" lvl="0" indent="-342900">
              <a:lnSpc>
                <a:spcPct val="150000"/>
              </a:lnSpc>
              <a:buFont typeface="Arial" panose="020B0604020202020204" pitchFamily="34" charset="0"/>
              <a:buChar char="•"/>
            </a:pPr>
            <a:r>
              <a:rPr lang="en-IN" sz="3000" dirty="0">
                <a:latin typeface="Raleway" panose="020B0604020202020204" charset="0"/>
              </a:rPr>
              <a:t>Devlin et al., BERT: Pre-training of Deep Bidirectional Transformers for Language Understanding – </a:t>
            </a:r>
            <a:r>
              <a:rPr lang="en-IN" sz="3000" dirty="0">
                <a:latin typeface="Raleway" panose="020B0604020202020204" charset="0"/>
                <a:hlinkClick r:id="rId4"/>
              </a:rPr>
              <a:t>https://arxiv.org/abs/1810.04805</a:t>
            </a:r>
            <a:r>
              <a:rPr lang="en-IN" sz="3000" dirty="0">
                <a:latin typeface="Raleway" panose="020B0604020202020204" charset="0"/>
              </a:rPr>
              <a:t> </a:t>
            </a:r>
          </a:p>
          <a:p>
            <a:pPr marL="342900" lvl="0" indent="-342900">
              <a:lnSpc>
                <a:spcPct val="150000"/>
              </a:lnSpc>
              <a:buFont typeface="Arial" panose="020B0604020202020204" pitchFamily="34" charset="0"/>
              <a:buChar char="•"/>
            </a:pPr>
            <a:r>
              <a:rPr lang="en-IN" sz="3000" dirty="0">
                <a:latin typeface="Raleway" panose="020B0604020202020204" charset="0"/>
              </a:rPr>
              <a:t>Bastani et al., LDA for Topic </a:t>
            </a:r>
            <a:r>
              <a:rPr lang="en-IN" sz="3000" dirty="0" err="1">
                <a:latin typeface="Raleway" panose="020B0604020202020204" charset="0"/>
              </a:rPr>
              <a:t>Modeling</a:t>
            </a:r>
            <a:r>
              <a:rPr lang="en-IN" sz="3000" dirty="0">
                <a:latin typeface="Raleway" panose="020B0604020202020204" charset="0"/>
              </a:rPr>
              <a:t> of CFPB Consumer Complaints – </a:t>
            </a:r>
            <a:r>
              <a:rPr lang="en-IN" sz="3000" dirty="0">
                <a:latin typeface="Raleway" panose="020B0604020202020204" charset="0"/>
                <a:hlinkClick r:id="rId5"/>
              </a:rPr>
              <a:t>https://arxiv.org/abs/1807.07468</a:t>
            </a:r>
            <a:r>
              <a:rPr lang="en-IN" sz="3000" dirty="0">
                <a:latin typeface="Raleway" panose="020B0604020202020204" charset="0"/>
              </a:rPr>
              <a:t> </a:t>
            </a:r>
          </a:p>
          <a:p>
            <a:pPr marL="342900" lvl="0" indent="-342900">
              <a:lnSpc>
                <a:spcPct val="150000"/>
              </a:lnSpc>
              <a:buFont typeface="Arial" panose="020B0604020202020204" pitchFamily="34" charset="0"/>
              <a:buChar char="•"/>
            </a:pPr>
            <a:r>
              <a:rPr lang="en-IN" sz="3000" dirty="0">
                <a:latin typeface="Raleway" panose="020B0604020202020204" charset="0"/>
              </a:rPr>
              <a:t>Sangaraju et al., Topic Modelling on CFPB Data Using BERT Based Embeddings – </a:t>
            </a:r>
            <a:r>
              <a:rPr lang="en-IN" sz="3000" dirty="0">
                <a:latin typeface="Raleway" panose="020B0604020202020204" charset="0"/>
                <a:hlinkClick r:id="rId6"/>
              </a:rPr>
              <a:t>https://arxiv.org/abs/2205.07259</a:t>
            </a:r>
            <a:r>
              <a:rPr lang="en-IN" sz="3000" dirty="0">
                <a:latin typeface="Raleway" panose="020B0604020202020204" charset="0"/>
              </a:rPr>
              <a:t> </a:t>
            </a:r>
          </a:p>
          <a:p>
            <a:pPr marL="342900" lvl="0" indent="-342900">
              <a:lnSpc>
                <a:spcPct val="150000"/>
              </a:lnSpc>
              <a:buFont typeface="Arial" panose="020B0604020202020204" pitchFamily="34" charset="0"/>
              <a:buChar char="•"/>
            </a:pPr>
            <a:r>
              <a:rPr lang="en-IN" sz="3000" dirty="0">
                <a:latin typeface="Raleway" panose="020B0604020202020204" charset="0"/>
              </a:rPr>
              <a:t>Vaishnav et al., Predictive Analysis of CFPB Consumer Complaints Using Machine Learning – </a:t>
            </a:r>
            <a:r>
              <a:rPr lang="en-IN" sz="3000" dirty="0">
                <a:latin typeface="Raleway" panose="020B0604020202020204" charset="0"/>
                <a:hlinkClick r:id="rId7"/>
              </a:rPr>
              <a:t>https://arxiv.org/abs/2407.06399</a:t>
            </a:r>
            <a:r>
              <a:rPr lang="en-IN" sz="3000" dirty="0">
                <a:latin typeface="Raleway" panose="020B0604020202020204" charset="0"/>
              </a:rPr>
              <a:t> </a:t>
            </a:r>
          </a:p>
        </p:txBody>
      </p:sp>
      <p:pic>
        <p:nvPicPr>
          <p:cNvPr id="10" name="Picture 9">
            <a:extLst>
              <a:ext uri="{FF2B5EF4-FFF2-40B4-BE49-F238E27FC236}">
                <a16:creationId xmlns:a16="http://schemas.microsoft.com/office/drawing/2014/main" id="{8B2BF5E3-B143-4349-2CF7-27A2196FEBA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spTree>
    <p:extLst>
      <p:ext uri="{BB962C8B-B14F-4D97-AF65-F5344CB8AC3E}">
        <p14:creationId xmlns:p14="http://schemas.microsoft.com/office/powerpoint/2010/main" val="3461747453"/>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sp>
        <p:nvSpPr>
          <p:cNvPr id="2" name="TextBox 2"/>
          <p:cNvSpPr txBox="1"/>
          <p:nvPr/>
        </p:nvSpPr>
        <p:spPr>
          <a:xfrm>
            <a:off x="2776554" y="4533900"/>
            <a:ext cx="12734892" cy="1535036"/>
          </a:xfrm>
          <a:prstGeom prst="rect">
            <a:avLst/>
          </a:prstGeom>
        </p:spPr>
        <p:txBody>
          <a:bodyPr lIns="0" tIns="0" rIns="0" bIns="0" rtlCol="0" anchor="t">
            <a:spAutoFit/>
          </a:bodyPr>
          <a:lstStyle/>
          <a:p>
            <a:pPr algn="ctr">
              <a:lnSpc>
                <a:spcPts val="11400"/>
              </a:lnSpc>
            </a:pPr>
            <a:r>
              <a:rPr lang="en-US" sz="11400" dirty="0">
                <a:solidFill>
                  <a:srgbClr val="344E41"/>
                </a:solidFill>
                <a:latin typeface="Prata"/>
                <a:ea typeface="Prata"/>
                <a:cs typeface="Prata"/>
                <a:sym typeface="Prata"/>
              </a:rPr>
              <a:t>THANK YOU</a:t>
            </a:r>
          </a:p>
        </p:txBody>
      </p:sp>
      <p:grpSp>
        <p:nvGrpSpPr>
          <p:cNvPr id="3" name="Group 3"/>
          <p:cNvGrpSpPr/>
          <p:nvPr/>
        </p:nvGrpSpPr>
        <p:grpSpPr>
          <a:xfrm>
            <a:off x="0" y="9258300"/>
            <a:ext cx="18288000" cy="1028700"/>
            <a:chOff x="0" y="0"/>
            <a:chExt cx="12372622" cy="695960"/>
          </a:xfrm>
        </p:grpSpPr>
        <p:sp>
          <p:nvSpPr>
            <p:cNvPr id="4" name="Freeform 4"/>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10" name="TextBox 7">
            <a:extLst>
              <a:ext uri="{FF2B5EF4-FFF2-40B4-BE49-F238E27FC236}">
                <a16:creationId xmlns:a16="http://schemas.microsoft.com/office/drawing/2014/main" id="{AF43FBDD-9F48-12BC-B0E4-FE89E68007E9}"/>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16</a:t>
            </a:r>
          </a:p>
        </p:txBody>
      </p:sp>
      <p:pic>
        <p:nvPicPr>
          <p:cNvPr id="12" name="Picture 11">
            <a:extLst>
              <a:ext uri="{FF2B5EF4-FFF2-40B4-BE49-F238E27FC236}">
                <a16:creationId xmlns:a16="http://schemas.microsoft.com/office/drawing/2014/main" id="{4FE86A1C-5221-116F-EF68-28F5BEEAE7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25800" y="-69011"/>
            <a:ext cx="2395447" cy="12006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582</TotalTime>
  <Words>1513</Words>
  <Application>Microsoft Office PowerPoint</Application>
  <PresentationFormat>Custom</PresentationFormat>
  <Paragraphs>258</Paragraphs>
  <Slides>17</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Raleway</vt:lpstr>
      <vt:lpstr>Arial</vt:lpstr>
      <vt:lpstr>Raleway Bold</vt:lpstr>
      <vt:lpstr>Prata</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Monochromatic Simple The Minimalist Presentation Template</dc:title>
  <dc:creator>Kundana Mani</dc:creator>
  <cp:lastModifiedBy>Kundana Mani B</cp:lastModifiedBy>
  <cp:revision>10</cp:revision>
  <dcterms:created xsi:type="dcterms:W3CDTF">2006-08-16T00:00:00Z</dcterms:created>
  <dcterms:modified xsi:type="dcterms:W3CDTF">2026-08-13T07:01:28Z</dcterms:modified>
  <dc:identifier>DAHRUIAc530</dc:identifier>
</cp:coreProperties>
</file>