
<file path=[Content_Types].xml><?xml version="1.0" encoding="utf-8"?>
<Types xmlns="http://schemas.openxmlformats.org/package/2006/content-types">
  <Default Extension="fntdata" ContentType="application/x-fontdata"/>
  <Default Extension="jpeg" ContentType="image/jpeg"/>
  <Default Extension="jpg"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60" r:id="rId4"/>
    <p:sldId id="271" r:id="rId5"/>
    <p:sldId id="278" r:id="rId6"/>
    <p:sldId id="269" r:id="rId7"/>
    <p:sldId id="272" r:id="rId8"/>
    <p:sldId id="279" r:id="rId9"/>
    <p:sldId id="273" r:id="rId10"/>
    <p:sldId id="280" r:id="rId11"/>
    <p:sldId id="274" r:id="rId12"/>
    <p:sldId id="275" r:id="rId13"/>
    <p:sldId id="276" r:id="rId14"/>
    <p:sldId id="265" r:id="rId15"/>
  </p:sldIdLst>
  <p:sldSz cx="18288000" cy="10287000"/>
  <p:notesSz cx="6858000" cy="9144000"/>
  <p:embeddedFontLst>
    <p:embeddedFont>
      <p:font typeface="Prata" panose="020B0604020202020204" charset="0"/>
      <p:regular r:id="rId17"/>
    </p:embeddedFont>
    <p:embeddedFont>
      <p:font typeface="Raleway" panose="020B0604020202020204" charset="0"/>
      <p:regular r:id="rId18"/>
    </p:embeddedFont>
    <p:embeddedFont>
      <p:font typeface="Raleway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B44A"/>
    <a:srgbClr val="679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1738" autoAdjust="0"/>
  </p:normalViewPr>
  <p:slideViewPr>
    <p:cSldViewPr>
      <p:cViewPr>
        <p:scale>
          <a:sx n="39" d="100"/>
          <a:sy n="39" d="100"/>
        </p:scale>
        <p:origin x="94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E6CA9-397A-4E5A-A759-0034275F8D08}" type="datetimeFigureOut">
              <a:rPr lang="en-IN" smtClean="0"/>
              <a:t>25-08-2026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51B677-E104-40AF-8F31-261290023787}" type="slidenum">
              <a:rPr lang="en-IN" smtClean="0"/>
              <a:t>‹#›</a:t>
            </a:fld>
            <a:endParaRPr lang="en-IN"/>
          </a:p>
        </p:txBody>
      </p:sp>
    </p:spTree>
    <p:extLst>
      <p:ext uri="{BB962C8B-B14F-4D97-AF65-F5344CB8AC3E}">
        <p14:creationId xmlns:p14="http://schemas.microsoft.com/office/powerpoint/2010/main" val="2924733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huggingface.co/Mahesh9/distil-bert-fintuned-cfpb-complaints-data?utm_source=chatgpt.com"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dirty="0"/>
              <a:t>Good morning everyone.</a:t>
            </a:r>
          </a:p>
          <a:p>
            <a:r>
              <a:rPr lang="en-IN" b="0" dirty="0"/>
              <a:t>Our project is titled AI-Powered Banking Customer Complaint Management System using BERT.</a:t>
            </a:r>
          </a:p>
          <a:p>
            <a:r>
              <a:rPr lang="en-IN" b="0" dirty="0"/>
              <a:t>The objective of this project is to automate the complete complaint management process in banks using Artificial Intelligence.</a:t>
            </a:r>
          </a:p>
          <a:p>
            <a:r>
              <a:rPr lang="en-IN" b="0" dirty="0"/>
              <a:t>Instead of manually reading complaints, our system uses the BERT language model to understand complaint narratives, classify them into multiple categories, and automatically generate ticket information, assign departments, prioritize complaints, and provide dashboards for customers, employees, and administrators.</a:t>
            </a:r>
          </a:p>
          <a:p>
            <a:endParaRPr lang="en-IN" b="0" dirty="0"/>
          </a:p>
        </p:txBody>
      </p:sp>
      <p:sp>
        <p:nvSpPr>
          <p:cNvPr id="4" name="Slide Number Placeholder 3"/>
          <p:cNvSpPr>
            <a:spLocks noGrp="1"/>
          </p:cNvSpPr>
          <p:nvPr>
            <p:ph type="sldNum" sz="quarter" idx="5"/>
          </p:nvPr>
        </p:nvSpPr>
        <p:spPr/>
        <p:txBody>
          <a:bodyPr/>
          <a:lstStyle/>
          <a:p>
            <a:fld id="{5451B677-E104-40AF-8F31-261290023787}" type="slidenum">
              <a:rPr lang="en-IN" smtClean="0"/>
              <a:t>1</a:t>
            </a:fld>
            <a:endParaRPr lang="en-IN"/>
          </a:p>
        </p:txBody>
      </p:sp>
    </p:spTree>
    <p:extLst>
      <p:ext uri="{BB962C8B-B14F-4D97-AF65-F5344CB8AC3E}">
        <p14:creationId xmlns:p14="http://schemas.microsoft.com/office/powerpoint/2010/main" val="3030294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B1D2F-5B21-DEFF-C385-A50FC9E72F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BAC92-A6F2-8666-8F7F-756D9DF126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A6FAD6-6B19-B17A-63DD-40728FA799D8}"/>
              </a:ext>
            </a:extLst>
          </p:cNvPr>
          <p:cNvSpPr>
            <a:spLocks noGrp="1"/>
          </p:cNvSpPr>
          <p:nvPr>
            <p:ph type="body" idx="1"/>
          </p:nvPr>
        </p:nvSpPr>
        <p:spPr/>
        <p:txBody>
          <a:bodyPr/>
          <a:lstStyle/>
          <a:p>
            <a:r>
              <a:rPr lang="en-IN" b="0" dirty="0"/>
              <a:t>Previous Project</a:t>
            </a:r>
          </a:p>
          <a:p>
            <a:r>
              <a:rPr lang="en-IN" b="0" dirty="0" err="1"/>
              <a:t>DistilBERT</a:t>
            </a:r>
            <a:r>
              <a:rPr lang="en-IN" b="0" dirty="0"/>
              <a:t> Fine-Tuned on CFPB Consumer Complaints</a:t>
            </a:r>
          </a:p>
          <a:p>
            <a:r>
              <a:rPr lang="en-IN" b="0" dirty="0"/>
              <a:t>Project Link (Hugging Face):</a:t>
            </a:r>
          </a:p>
          <a:p>
            <a:r>
              <a:rPr lang="en-IN" b="0" dirty="0">
                <a:hlinkClick r:id="rId3"/>
              </a:rPr>
              <a:t>Mahesh9/distil-</a:t>
            </a:r>
            <a:r>
              <a:rPr lang="en-IN" b="0" dirty="0" err="1">
                <a:hlinkClick r:id="rId3"/>
              </a:rPr>
              <a:t>bert</a:t>
            </a:r>
            <a:r>
              <a:rPr lang="en-IN" b="0" dirty="0">
                <a:hlinkClick r:id="rId3"/>
              </a:rPr>
              <a:t>-</a:t>
            </a:r>
            <a:r>
              <a:rPr lang="en-IN" b="0" dirty="0" err="1">
                <a:hlinkClick r:id="rId3"/>
              </a:rPr>
              <a:t>fintuned</a:t>
            </a:r>
            <a:r>
              <a:rPr lang="en-IN" b="0" dirty="0">
                <a:hlinkClick r:id="rId3"/>
              </a:rPr>
              <a:t>-</a:t>
            </a:r>
            <a:r>
              <a:rPr lang="en-IN" b="0" dirty="0" err="1">
                <a:hlinkClick r:id="rId3"/>
              </a:rPr>
              <a:t>cfpb</a:t>
            </a:r>
            <a:r>
              <a:rPr lang="en-IN" b="0" dirty="0">
                <a:hlinkClick r:id="rId3"/>
              </a:rPr>
              <a:t>-complaints-data</a:t>
            </a:r>
            <a:endParaRPr lang="en-IN" b="0" dirty="0"/>
          </a:p>
          <a:p>
            <a:r>
              <a:rPr lang="en-IN" b="0" dirty="0"/>
              <a:t>Reported Results</a:t>
            </a:r>
          </a:p>
          <a:p>
            <a:pPr lvl="0"/>
            <a:r>
              <a:rPr lang="en-IN" b="0" dirty="0"/>
              <a:t>Accuracy: 94.57% </a:t>
            </a:r>
          </a:p>
          <a:p>
            <a:pPr lvl="0"/>
            <a:r>
              <a:rPr lang="en-IN" b="0" dirty="0"/>
              <a:t>Precision: 86.32% </a:t>
            </a:r>
          </a:p>
          <a:p>
            <a:pPr lvl="0"/>
            <a:r>
              <a:rPr lang="en-IN" b="0" dirty="0"/>
              <a:t>Recall: 83.68% </a:t>
            </a:r>
          </a:p>
          <a:p>
            <a:pPr lvl="0"/>
            <a:r>
              <a:rPr lang="en-IN" b="0" dirty="0"/>
              <a:t>F1-Score: 84.84% </a:t>
            </a:r>
          </a:p>
          <a:p>
            <a:endParaRPr lang="en-IN" b="0" dirty="0"/>
          </a:p>
        </p:txBody>
      </p:sp>
      <p:sp>
        <p:nvSpPr>
          <p:cNvPr id="4" name="Slide Number Placeholder 3">
            <a:extLst>
              <a:ext uri="{FF2B5EF4-FFF2-40B4-BE49-F238E27FC236}">
                <a16:creationId xmlns:a16="http://schemas.microsoft.com/office/drawing/2014/main" id="{C3467044-4F95-CC17-29DB-C64B6D8A0C53}"/>
              </a:ext>
            </a:extLst>
          </p:cNvPr>
          <p:cNvSpPr>
            <a:spLocks noGrp="1"/>
          </p:cNvSpPr>
          <p:nvPr>
            <p:ph type="sldNum" sz="quarter" idx="5"/>
          </p:nvPr>
        </p:nvSpPr>
        <p:spPr/>
        <p:txBody>
          <a:bodyPr/>
          <a:lstStyle/>
          <a:p>
            <a:fld id="{5451B677-E104-40AF-8F31-261290023787}" type="slidenum">
              <a:rPr lang="en-IN" smtClean="0"/>
              <a:t>6</a:t>
            </a:fld>
            <a:endParaRPr lang="en-IN"/>
          </a:p>
        </p:txBody>
      </p:sp>
    </p:spTree>
    <p:extLst>
      <p:ext uri="{BB962C8B-B14F-4D97-AF65-F5344CB8AC3E}">
        <p14:creationId xmlns:p14="http://schemas.microsoft.com/office/powerpoint/2010/main" val="18021000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299F2-EDD3-2811-3527-0B7999F02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A9766-23D6-2938-830D-A530F261A9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907A19-1AB9-A171-5BA4-B44C20F5F298}"/>
              </a:ext>
            </a:extLst>
          </p:cNvPr>
          <p:cNvSpPr>
            <a:spLocks noGrp="1"/>
          </p:cNvSpPr>
          <p:nvPr>
            <p:ph type="body" idx="1"/>
          </p:nvPr>
        </p:nvSpPr>
        <p:spPr/>
        <p:txBody>
          <a:bodyPr/>
          <a:lstStyle/>
          <a:p>
            <a:r>
              <a:rPr lang="en-IN" b="0" dirty="0"/>
              <a:t>Why These Columns?</a:t>
            </a:r>
          </a:p>
          <a:p>
            <a:pPr lvl="0"/>
            <a:r>
              <a:rPr lang="en-IN" b="0" dirty="0"/>
              <a:t>Complaint Narrative contains the contextual information required for classification. </a:t>
            </a:r>
          </a:p>
          <a:p>
            <a:pPr lvl="0"/>
            <a:r>
              <a:rPr lang="en-IN" b="0" dirty="0"/>
              <a:t>Product, Sub-product, Issue, and Sub-issue serve as target labels for BERT training. </a:t>
            </a:r>
          </a:p>
          <a:p>
            <a:pPr lvl="0"/>
            <a:r>
              <a:rPr lang="en-IN" b="0" dirty="0"/>
              <a:t>Other columns (Company, State, ZIP Code, Date Received, Company Response, etc.) were excluded because they are either unavailable during prediction, unrelated to complaint semantics, or may introduce bias and data leakage. </a:t>
            </a:r>
          </a:p>
          <a:p>
            <a:br>
              <a:rPr lang="en-IN" b="0" dirty="0"/>
            </a:br>
            <a:endParaRPr lang="en-IN" b="0" dirty="0"/>
          </a:p>
          <a:p>
            <a:r>
              <a:rPr lang="en-IN" b="0" dirty="0"/>
              <a:t>Why CFPB Dataset?</a:t>
            </a:r>
          </a:p>
          <a:p>
            <a:pPr lvl="0"/>
            <a:r>
              <a:rPr lang="en-IN" b="0" dirty="0"/>
              <a:t>Large real-world banking complaint dataset. </a:t>
            </a:r>
          </a:p>
          <a:p>
            <a:pPr lvl="0"/>
            <a:r>
              <a:rPr lang="en-IN" b="0" dirty="0"/>
              <a:t>Officially published by the U.S. Consumer Financial Protection Bureau. </a:t>
            </a:r>
          </a:p>
          <a:p>
            <a:pPr lvl="0"/>
            <a:r>
              <a:rPr lang="en-IN" b="0" dirty="0"/>
              <a:t>Contains diverse financial complaint narratives. </a:t>
            </a:r>
          </a:p>
          <a:p>
            <a:pPr lvl="0"/>
            <a:r>
              <a:rPr lang="en-IN" b="0" dirty="0"/>
              <a:t>Well-suited for training NLP and BERT-based complaint classification models.</a:t>
            </a:r>
          </a:p>
          <a:p>
            <a:endParaRPr lang="en-IN" b="0" dirty="0"/>
          </a:p>
        </p:txBody>
      </p:sp>
      <p:sp>
        <p:nvSpPr>
          <p:cNvPr id="4" name="Slide Number Placeholder 3">
            <a:extLst>
              <a:ext uri="{FF2B5EF4-FFF2-40B4-BE49-F238E27FC236}">
                <a16:creationId xmlns:a16="http://schemas.microsoft.com/office/drawing/2014/main" id="{A0ABD109-245F-8D02-ADAA-E365841A4710}"/>
              </a:ext>
            </a:extLst>
          </p:cNvPr>
          <p:cNvSpPr>
            <a:spLocks noGrp="1"/>
          </p:cNvSpPr>
          <p:nvPr>
            <p:ph type="sldNum" sz="quarter" idx="5"/>
          </p:nvPr>
        </p:nvSpPr>
        <p:spPr/>
        <p:txBody>
          <a:bodyPr/>
          <a:lstStyle/>
          <a:p>
            <a:fld id="{5451B677-E104-40AF-8F31-261290023787}" type="slidenum">
              <a:rPr lang="en-IN" smtClean="0"/>
              <a:t>7</a:t>
            </a:fld>
            <a:endParaRPr lang="en-IN"/>
          </a:p>
        </p:txBody>
      </p:sp>
    </p:spTree>
    <p:extLst>
      <p:ext uri="{BB962C8B-B14F-4D97-AF65-F5344CB8AC3E}">
        <p14:creationId xmlns:p14="http://schemas.microsoft.com/office/powerpoint/2010/main" val="1684219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DCE59-17C8-F01E-7944-D5550AFB2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7F10A0-86AB-1CC7-628C-111AE215ED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0E8ACD-2158-A049-A38B-4E0112F24821}"/>
              </a:ext>
            </a:extLst>
          </p:cNvPr>
          <p:cNvSpPr>
            <a:spLocks noGrp="1"/>
          </p:cNvSpPr>
          <p:nvPr>
            <p:ph type="body" idx="1"/>
          </p:nvPr>
        </p:nvSpPr>
        <p:spPr/>
        <p:txBody>
          <a:bodyPr/>
          <a:lstStyle/>
          <a:p>
            <a:r>
              <a:rPr lang="en-IN" b="0" dirty="0"/>
              <a:t>Why These Columns?</a:t>
            </a:r>
          </a:p>
          <a:p>
            <a:pPr lvl="0"/>
            <a:r>
              <a:rPr lang="en-IN" b="0" dirty="0"/>
              <a:t>Complaint Narrative contains the contextual information required for classification. </a:t>
            </a:r>
          </a:p>
          <a:p>
            <a:pPr lvl="0"/>
            <a:r>
              <a:rPr lang="en-IN" b="0" dirty="0"/>
              <a:t>Product, Sub-product, Issue, and Sub-issue serve as target labels for BERT training. </a:t>
            </a:r>
          </a:p>
          <a:p>
            <a:pPr lvl="0"/>
            <a:r>
              <a:rPr lang="en-IN" b="0" dirty="0"/>
              <a:t>Other columns (Company, State, ZIP Code, Date Received, Company Response, etc.) were excluded because they are either unavailable during prediction, unrelated to complaint semantics, or may introduce bias and data leakage. </a:t>
            </a:r>
          </a:p>
          <a:p>
            <a:br>
              <a:rPr lang="en-IN" b="0" dirty="0"/>
            </a:br>
            <a:endParaRPr lang="en-IN" b="0" dirty="0"/>
          </a:p>
          <a:p>
            <a:r>
              <a:rPr lang="en-IN" b="0" dirty="0"/>
              <a:t>Why CFPB Dataset?</a:t>
            </a:r>
          </a:p>
          <a:p>
            <a:pPr lvl="0"/>
            <a:r>
              <a:rPr lang="en-IN" b="0" dirty="0"/>
              <a:t>Large real-world banking complaint dataset. </a:t>
            </a:r>
          </a:p>
          <a:p>
            <a:pPr lvl="0"/>
            <a:r>
              <a:rPr lang="en-IN" b="0" dirty="0"/>
              <a:t>Officially published by the U.S. Consumer Financial Protection Bureau. </a:t>
            </a:r>
          </a:p>
          <a:p>
            <a:pPr lvl="0"/>
            <a:r>
              <a:rPr lang="en-IN" b="0" dirty="0"/>
              <a:t>Contains diverse financial complaint narratives. </a:t>
            </a:r>
          </a:p>
          <a:p>
            <a:pPr lvl="0"/>
            <a:r>
              <a:rPr lang="en-IN" b="0" dirty="0"/>
              <a:t>Well-suited for training NLP and BERT-based complaint classification models.</a:t>
            </a:r>
          </a:p>
          <a:p>
            <a:endParaRPr lang="en-IN" b="0" dirty="0"/>
          </a:p>
        </p:txBody>
      </p:sp>
      <p:sp>
        <p:nvSpPr>
          <p:cNvPr id="4" name="Slide Number Placeholder 3">
            <a:extLst>
              <a:ext uri="{FF2B5EF4-FFF2-40B4-BE49-F238E27FC236}">
                <a16:creationId xmlns:a16="http://schemas.microsoft.com/office/drawing/2014/main" id="{D0B1B423-63DC-EA9C-9C19-B937DEC4BD91}"/>
              </a:ext>
            </a:extLst>
          </p:cNvPr>
          <p:cNvSpPr>
            <a:spLocks noGrp="1"/>
          </p:cNvSpPr>
          <p:nvPr>
            <p:ph type="sldNum" sz="quarter" idx="5"/>
          </p:nvPr>
        </p:nvSpPr>
        <p:spPr/>
        <p:txBody>
          <a:bodyPr/>
          <a:lstStyle/>
          <a:p>
            <a:fld id="{5451B677-E104-40AF-8F31-261290023787}" type="slidenum">
              <a:rPr lang="en-IN" smtClean="0"/>
              <a:t>8</a:t>
            </a:fld>
            <a:endParaRPr lang="en-IN"/>
          </a:p>
        </p:txBody>
      </p:sp>
    </p:spTree>
    <p:extLst>
      <p:ext uri="{BB962C8B-B14F-4D97-AF65-F5344CB8AC3E}">
        <p14:creationId xmlns:p14="http://schemas.microsoft.com/office/powerpoint/2010/main" val="2708262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72DCD-D099-0965-4FA3-2FED4481B1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0D597-19C4-34A0-2BF5-379B8678E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B96682-416C-7DEF-BE62-0FA050C3B659}"/>
              </a:ext>
            </a:extLst>
          </p:cNvPr>
          <p:cNvSpPr>
            <a:spLocks noGrp="1"/>
          </p:cNvSpPr>
          <p:nvPr>
            <p:ph type="body" idx="1"/>
          </p:nvPr>
        </p:nvSpPr>
        <p:spPr/>
        <p:txBody>
          <a:bodyPr/>
          <a:lstStyle/>
          <a:p>
            <a:r>
              <a:rPr lang="en-IN" b="0" dirty="0"/>
              <a:t>Why These Columns?</a:t>
            </a:r>
          </a:p>
          <a:p>
            <a:pPr lvl="0"/>
            <a:r>
              <a:rPr lang="en-IN" b="0" dirty="0"/>
              <a:t>Complaint Narrative contains the contextual information required for classification. </a:t>
            </a:r>
          </a:p>
          <a:p>
            <a:pPr lvl="0"/>
            <a:r>
              <a:rPr lang="en-IN" b="0" dirty="0"/>
              <a:t>Product, Sub-product, Issue, and Sub-issue serve as target labels for BERT training. </a:t>
            </a:r>
          </a:p>
          <a:p>
            <a:pPr lvl="0"/>
            <a:r>
              <a:rPr lang="en-IN" b="0" dirty="0"/>
              <a:t>Other columns (Company, State, ZIP Code, Date Received, Company Response, etc.) were excluded because they are either unavailable during prediction, unrelated to complaint semantics, or may introduce bias and data leakage. </a:t>
            </a:r>
          </a:p>
          <a:p>
            <a:br>
              <a:rPr lang="en-IN" b="0" dirty="0"/>
            </a:br>
            <a:endParaRPr lang="en-IN" b="0" dirty="0"/>
          </a:p>
          <a:p>
            <a:r>
              <a:rPr lang="en-IN" b="0" dirty="0"/>
              <a:t>Why CFPB Dataset?</a:t>
            </a:r>
          </a:p>
          <a:p>
            <a:pPr lvl="0"/>
            <a:r>
              <a:rPr lang="en-IN" b="0" dirty="0"/>
              <a:t>Large real-world banking complaint dataset. </a:t>
            </a:r>
          </a:p>
          <a:p>
            <a:pPr lvl="0"/>
            <a:r>
              <a:rPr lang="en-IN" b="0" dirty="0"/>
              <a:t>Officially published by the U.S. Consumer Financial Protection Bureau. </a:t>
            </a:r>
          </a:p>
          <a:p>
            <a:pPr lvl="0"/>
            <a:r>
              <a:rPr lang="en-IN" b="0" dirty="0"/>
              <a:t>Contains diverse financial complaint narratives. </a:t>
            </a:r>
          </a:p>
          <a:p>
            <a:pPr lvl="0"/>
            <a:r>
              <a:rPr lang="en-IN" b="0" dirty="0"/>
              <a:t>Well-suited for training NLP and BERT-based complaint classification models.</a:t>
            </a:r>
          </a:p>
          <a:p>
            <a:endParaRPr lang="en-IN" b="0" dirty="0"/>
          </a:p>
        </p:txBody>
      </p:sp>
      <p:sp>
        <p:nvSpPr>
          <p:cNvPr id="4" name="Slide Number Placeholder 3">
            <a:extLst>
              <a:ext uri="{FF2B5EF4-FFF2-40B4-BE49-F238E27FC236}">
                <a16:creationId xmlns:a16="http://schemas.microsoft.com/office/drawing/2014/main" id="{E4F7B6D4-0946-DE09-D255-61BE492B8C3B}"/>
              </a:ext>
            </a:extLst>
          </p:cNvPr>
          <p:cNvSpPr>
            <a:spLocks noGrp="1"/>
          </p:cNvSpPr>
          <p:nvPr>
            <p:ph type="sldNum" sz="quarter" idx="5"/>
          </p:nvPr>
        </p:nvSpPr>
        <p:spPr/>
        <p:txBody>
          <a:bodyPr/>
          <a:lstStyle/>
          <a:p>
            <a:fld id="{5451B677-E104-40AF-8F31-261290023787}" type="slidenum">
              <a:rPr lang="en-IN" smtClean="0"/>
              <a:t>9</a:t>
            </a:fld>
            <a:endParaRPr lang="en-IN"/>
          </a:p>
        </p:txBody>
      </p:sp>
    </p:spTree>
    <p:extLst>
      <p:ext uri="{BB962C8B-B14F-4D97-AF65-F5344CB8AC3E}">
        <p14:creationId xmlns:p14="http://schemas.microsoft.com/office/powerpoint/2010/main" val="988389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A42D2-5BFC-FC5D-FC10-DF6781DB31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6F5EFF-0B0F-8605-FAEC-B521EC1B03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33AAF0-1F26-44BC-544A-54F8F98B6483}"/>
              </a:ext>
            </a:extLst>
          </p:cNvPr>
          <p:cNvSpPr>
            <a:spLocks noGrp="1"/>
          </p:cNvSpPr>
          <p:nvPr>
            <p:ph type="body" idx="1"/>
          </p:nvPr>
        </p:nvSpPr>
        <p:spPr/>
        <p:txBody>
          <a:bodyPr/>
          <a:lstStyle/>
          <a:p>
            <a:r>
              <a:rPr lang="en-IN" b="0" dirty="0"/>
              <a:t>Why These Columns?</a:t>
            </a:r>
          </a:p>
          <a:p>
            <a:pPr lvl="0"/>
            <a:r>
              <a:rPr lang="en-IN" b="0" dirty="0"/>
              <a:t>Complaint Narrative contains the contextual information required for classification. </a:t>
            </a:r>
          </a:p>
          <a:p>
            <a:pPr lvl="0"/>
            <a:r>
              <a:rPr lang="en-IN" b="0" dirty="0"/>
              <a:t>Product, Sub-product, Issue, and Sub-issue serve as target labels for BERT training. </a:t>
            </a:r>
          </a:p>
          <a:p>
            <a:pPr lvl="0"/>
            <a:r>
              <a:rPr lang="en-IN" b="0" dirty="0"/>
              <a:t>Other columns (Company, State, ZIP Code, Date Received, Company Response, etc.) were excluded because they are either unavailable during prediction, unrelated to complaint semantics, or may introduce bias and data leakage. </a:t>
            </a:r>
          </a:p>
          <a:p>
            <a:br>
              <a:rPr lang="en-IN" b="0" dirty="0"/>
            </a:br>
            <a:endParaRPr lang="en-IN" b="0" dirty="0"/>
          </a:p>
          <a:p>
            <a:r>
              <a:rPr lang="en-IN" b="0" dirty="0"/>
              <a:t>Why CFPB Dataset?</a:t>
            </a:r>
          </a:p>
          <a:p>
            <a:pPr lvl="0"/>
            <a:r>
              <a:rPr lang="en-IN" b="0" dirty="0"/>
              <a:t>Large real-world banking complaint dataset. </a:t>
            </a:r>
          </a:p>
          <a:p>
            <a:pPr lvl="0"/>
            <a:r>
              <a:rPr lang="en-IN" b="0" dirty="0"/>
              <a:t>Officially published by the U.S. Consumer Financial Protection Bureau. </a:t>
            </a:r>
          </a:p>
          <a:p>
            <a:pPr lvl="0"/>
            <a:r>
              <a:rPr lang="en-IN" b="0" dirty="0"/>
              <a:t>Contains diverse financial complaint narratives. </a:t>
            </a:r>
          </a:p>
          <a:p>
            <a:pPr lvl="0"/>
            <a:r>
              <a:rPr lang="en-IN" b="0" dirty="0"/>
              <a:t>Well-suited for training NLP and BERT-based complaint classification models.</a:t>
            </a:r>
          </a:p>
          <a:p>
            <a:endParaRPr lang="en-IN" b="0" dirty="0"/>
          </a:p>
        </p:txBody>
      </p:sp>
      <p:sp>
        <p:nvSpPr>
          <p:cNvPr id="4" name="Slide Number Placeholder 3">
            <a:extLst>
              <a:ext uri="{FF2B5EF4-FFF2-40B4-BE49-F238E27FC236}">
                <a16:creationId xmlns:a16="http://schemas.microsoft.com/office/drawing/2014/main" id="{97016867-DA26-A83A-8AB0-CBA5860ECA37}"/>
              </a:ext>
            </a:extLst>
          </p:cNvPr>
          <p:cNvSpPr>
            <a:spLocks noGrp="1"/>
          </p:cNvSpPr>
          <p:nvPr>
            <p:ph type="sldNum" sz="quarter" idx="5"/>
          </p:nvPr>
        </p:nvSpPr>
        <p:spPr/>
        <p:txBody>
          <a:bodyPr/>
          <a:lstStyle/>
          <a:p>
            <a:fld id="{5451B677-E104-40AF-8F31-261290023787}" type="slidenum">
              <a:rPr lang="en-IN" smtClean="0"/>
              <a:t>10</a:t>
            </a:fld>
            <a:endParaRPr lang="en-IN"/>
          </a:p>
        </p:txBody>
      </p:sp>
    </p:spTree>
    <p:extLst>
      <p:ext uri="{BB962C8B-B14F-4D97-AF65-F5344CB8AC3E}">
        <p14:creationId xmlns:p14="http://schemas.microsoft.com/office/powerpoint/2010/main" val="3823851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CAD9A-DE51-2CC5-951C-BC8DB914BA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9FE83F-4F24-CAB2-B427-B6EFD41397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4EFDAE-ED17-F9DA-A336-A01CBF46C852}"/>
              </a:ext>
            </a:extLst>
          </p:cNvPr>
          <p:cNvSpPr>
            <a:spLocks noGrp="1"/>
          </p:cNvSpPr>
          <p:nvPr>
            <p:ph type="body" idx="1"/>
          </p:nvPr>
        </p:nvSpPr>
        <p:spPr/>
        <p:txBody>
          <a:bodyPr/>
          <a:lstStyle/>
          <a:p>
            <a:r>
              <a:rPr lang="en-IN" b="0" dirty="0"/>
              <a:t>Why These Columns?</a:t>
            </a:r>
          </a:p>
          <a:p>
            <a:pPr lvl="0"/>
            <a:r>
              <a:rPr lang="en-IN" b="0" dirty="0"/>
              <a:t>Complaint Narrative contains the contextual information required for classification. </a:t>
            </a:r>
          </a:p>
          <a:p>
            <a:pPr lvl="0"/>
            <a:r>
              <a:rPr lang="en-IN" b="0" dirty="0"/>
              <a:t>Product, Sub-product, Issue, and Sub-issue serve as target labels for BERT training. </a:t>
            </a:r>
          </a:p>
          <a:p>
            <a:pPr lvl="0"/>
            <a:r>
              <a:rPr lang="en-IN" b="0" dirty="0"/>
              <a:t>Other columns (Company, State, ZIP Code, Date Received, Company Response, etc.) were excluded because they are either unavailable during prediction, unrelated to complaint semantics, or may introduce bias and data leakage. </a:t>
            </a:r>
          </a:p>
          <a:p>
            <a:br>
              <a:rPr lang="en-IN" b="0" dirty="0"/>
            </a:br>
            <a:endParaRPr lang="en-IN" b="0" dirty="0"/>
          </a:p>
          <a:p>
            <a:r>
              <a:rPr lang="en-IN" b="0" dirty="0"/>
              <a:t>Why CFPB Dataset?</a:t>
            </a:r>
          </a:p>
          <a:p>
            <a:pPr lvl="0"/>
            <a:r>
              <a:rPr lang="en-IN" b="0" dirty="0"/>
              <a:t>Large real-world banking complaint dataset. </a:t>
            </a:r>
          </a:p>
          <a:p>
            <a:pPr lvl="0"/>
            <a:r>
              <a:rPr lang="en-IN" b="0" dirty="0"/>
              <a:t>Officially published by the U.S. Consumer Financial Protection Bureau. </a:t>
            </a:r>
          </a:p>
          <a:p>
            <a:pPr lvl="0"/>
            <a:r>
              <a:rPr lang="en-IN" b="0" dirty="0"/>
              <a:t>Contains diverse financial complaint narratives. </a:t>
            </a:r>
          </a:p>
          <a:p>
            <a:pPr lvl="0"/>
            <a:r>
              <a:rPr lang="en-IN" b="0" dirty="0"/>
              <a:t>Well-suited for training NLP and BERT-based complaint classification models.</a:t>
            </a:r>
          </a:p>
          <a:p>
            <a:endParaRPr lang="en-IN" b="0" dirty="0"/>
          </a:p>
        </p:txBody>
      </p:sp>
      <p:sp>
        <p:nvSpPr>
          <p:cNvPr id="4" name="Slide Number Placeholder 3">
            <a:extLst>
              <a:ext uri="{FF2B5EF4-FFF2-40B4-BE49-F238E27FC236}">
                <a16:creationId xmlns:a16="http://schemas.microsoft.com/office/drawing/2014/main" id="{BB6A1132-9BBE-3A13-AC03-CCF3E421648E}"/>
              </a:ext>
            </a:extLst>
          </p:cNvPr>
          <p:cNvSpPr>
            <a:spLocks noGrp="1"/>
          </p:cNvSpPr>
          <p:nvPr>
            <p:ph type="sldNum" sz="quarter" idx="5"/>
          </p:nvPr>
        </p:nvSpPr>
        <p:spPr/>
        <p:txBody>
          <a:bodyPr/>
          <a:lstStyle/>
          <a:p>
            <a:fld id="{5451B677-E104-40AF-8F31-261290023787}" type="slidenum">
              <a:rPr lang="en-IN" smtClean="0"/>
              <a:t>11</a:t>
            </a:fld>
            <a:endParaRPr lang="en-IN"/>
          </a:p>
        </p:txBody>
      </p:sp>
    </p:spTree>
    <p:extLst>
      <p:ext uri="{BB962C8B-B14F-4D97-AF65-F5344CB8AC3E}">
        <p14:creationId xmlns:p14="http://schemas.microsoft.com/office/powerpoint/2010/main" val="3683042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5D4F2-9100-132B-E6FB-25983C48E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A318E-59FB-D871-6DBC-5C5A536F37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0B3644-67D2-791F-36D2-F629E026993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7525313F-377B-58EA-9B50-1112D53A188D}"/>
              </a:ext>
            </a:extLst>
          </p:cNvPr>
          <p:cNvSpPr>
            <a:spLocks noGrp="1"/>
          </p:cNvSpPr>
          <p:nvPr>
            <p:ph type="sldNum" sz="quarter" idx="5"/>
          </p:nvPr>
        </p:nvSpPr>
        <p:spPr/>
        <p:txBody>
          <a:bodyPr/>
          <a:lstStyle/>
          <a:p>
            <a:fld id="{5451B677-E104-40AF-8F31-261290023787}" type="slidenum">
              <a:rPr lang="en-IN" smtClean="0"/>
              <a:t>12</a:t>
            </a:fld>
            <a:endParaRPr lang="en-IN"/>
          </a:p>
        </p:txBody>
      </p:sp>
    </p:spTree>
    <p:extLst>
      <p:ext uri="{BB962C8B-B14F-4D97-AF65-F5344CB8AC3E}">
        <p14:creationId xmlns:p14="http://schemas.microsoft.com/office/powerpoint/2010/main" val="3439674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F81D4-EFF9-8CE8-688D-23AEF49AEF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4FF52-2469-D2A4-612C-C67479E0D3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9FE942-5D51-60C4-7711-4D4B3AAEEFC5}"/>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39E2FFD0-9065-D484-DA2C-4E34380A7291}"/>
              </a:ext>
            </a:extLst>
          </p:cNvPr>
          <p:cNvSpPr>
            <a:spLocks noGrp="1"/>
          </p:cNvSpPr>
          <p:nvPr>
            <p:ph type="sldNum" sz="quarter" idx="5"/>
          </p:nvPr>
        </p:nvSpPr>
        <p:spPr/>
        <p:txBody>
          <a:bodyPr/>
          <a:lstStyle/>
          <a:p>
            <a:fld id="{5451B677-E104-40AF-8F31-261290023787}" type="slidenum">
              <a:rPr lang="en-IN" smtClean="0"/>
              <a:t>13</a:t>
            </a:fld>
            <a:endParaRPr lang="en-IN"/>
          </a:p>
        </p:txBody>
      </p:sp>
    </p:spTree>
    <p:extLst>
      <p:ext uri="{BB962C8B-B14F-4D97-AF65-F5344CB8AC3E}">
        <p14:creationId xmlns:p14="http://schemas.microsoft.com/office/powerpoint/2010/main" val="51228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2" name="TextBox 2"/>
          <p:cNvSpPr txBox="1"/>
          <p:nvPr/>
        </p:nvSpPr>
        <p:spPr>
          <a:xfrm>
            <a:off x="2667000" y="1648825"/>
            <a:ext cx="12734892" cy="5713102"/>
          </a:xfrm>
          <a:prstGeom prst="rect">
            <a:avLst/>
          </a:prstGeom>
        </p:spPr>
        <p:txBody>
          <a:bodyPr lIns="0" tIns="0" rIns="0" bIns="0" rtlCol="0" anchor="t">
            <a:spAutoFit/>
          </a:bodyPr>
          <a:lstStyle/>
          <a:p>
            <a:pPr algn="ctr">
              <a:lnSpc>
                <a:spcPts val="11400"/>
              </a:lnSpc>
            </a:pPr>
            <a:r>
              <a:rPr lang="en-IN" sz="6600" b="1" dirty="0">
                <a:solidFill>
                  <a:schemeClr val="accent3">
                    <a:lumMod val="50000"/>
                  </a:schemeClr>
                </a:solidFill>
                <a:latin typeface="Prata" panose="020B0604020202020204" charset="0"/>
              </a:rPr>
              <a:t>AI-POWERED BANKING CUSTOMER COMPLAINT MANAGEMENT SYSTEM USING BERT</a:t>
            </a:r>
            <a:endParaRPr lang="en-US" sz="7200" b="1" dirty="0">
              <a:solidFill>
                <a:schemeClr val="accent3">
                  <a:lumMod val="50000"/>
                </a:schemeClr>
              </a:solidFill>
              <a:latin typeface="Prata" panose="020B0604020202020204" charset="0"/>
              <a:ea typeface="Prata"/>
              <a:cs typeface="Prata"/>
              <a:sym typeface="Prata"/>
            </a:endParaRPr>
          </a:p>
        </p:txBody>
      </p:sp>
      <p:grpSp>
        <p:nvGrpSpPr>
          <p:cNvPr id="3" name="Group 3"/>
          <p:cNvGrpSpPr/>
          <p:nvPr/>
        </p:nvGrpSpPr>
        <p:grpSpPr>
          <a:xfrm>
            <a:off x="0" y="8724900"/>
            <a:ext cx="18288000" cy="15621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p:cNvSpPr txBox="1"/>
          <p:nvPr/>
        </p:nvSpPr>
        <p:spPr>
          <a:xfrm>
            <a:off x="13182600" y="8877300"/>
            <a:ext cx="4953000" cy="1272656"/>
          </a:xfrm>
          <a:prstGeom prst="rect">
            <a:avLst/>
          </a:prstGeom>
        </p:spPr>
        <p:txBody>
          <a:bodyPr wrap="square"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Presentation by:</a:t>
            </a:r>
            <a:br>
              <a:rPr lang="en-US" sz="2400" dirty="0">
                <a:solidFill>
                  <a:srgbClr val="344E41"/>
                </a:solidFill>
                <a:latin typeface="Raleway"/>
                <a:ea typeface="Raleway"/>
                <a:cs typeface="Raleway"/>
                <a:sym typeface="Raleway"/>
              </a:rPr>
            </a:br>
            <a:r>
              <a:rPr lang="en-US" sz="2400" dirty="0">
                <a:solidFill>
                  <a:srgbClr val="344E41"/>
                </a:solidFill>
                <a:latin typeface="Raleway"/>
                <a:ea typeface="Raleway"/>
                <a:cs typeface="Raleway"/>
                <a:sym typeface="Raleway"/>
              </a:rPr>
              <a:t>B. Kundana Mani (2420030558)</a:t>
            </a:r>
            <a:br>
              <a:rPr lang="en-US" sz="2400" dirty="0">
                <a:solidFill>
                  <a:srgbClr val="344E41"/>
                </a:solidFill>
                <a:latin typeface="Raleway"/>
                <a:ea typeface="Raleway"/>
                <a:cs typeface="Raleway"/>
                <a:sym typeface="Raleway"/>
              </a:rPr>
            </a:br>
            <a:r>
              <a:rPr lang="en-US" sz="2400" dirty="0">
                <a:solidFill>
                  <a:srgbClr val="344E41"/>
                </a:solidFill>
                <a:latin typeface="Raleway"/>
                <a:ea typeface="Raleway"/>
                <a:cs typeface="Raleway"/>
                <a:sym typeface="Raleway"/>
              </a:rPr>
              <a:t>M. Sai Kridhay Kumar (2420030211)</a:t>
            </a:r>
          </a:p>
        </p:txBody>
      </p:sp>
      <p:pic>
        <p:nvPicPr>
          <p:cNvPr id="12" name="Picture 11">
            <a:extLst>
              <a:ext uri="{FF2B5EF4-FFF2-40B4-BE49-F238E27FC236}">
                <a16:creationId xmlns:a16="http://schemas.microsoft.com/office/drawing/2014/main" id="{379974A4-61A3-EAF9-0BB4-A555249B81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80961" y="-190500"/>
            <a:ext cx="4419600" cy="4419600"/>
          </a:xfrm>
          <a:prstGeom prst="rect">
            <a:avLst/>
          </a:prstGeom>
        </p:spPr>
      </p:pic>
      <p:pic>
        <p:nvPicPr>
          <p:cNvPr id="14" name="Picture 13">
            <a:extLst>
              <a:ext uri="{FF2B5EF4-FFF2-40B4-BE49-F238E27FC236}">
                <a16:creationId xmlns:a16="http://schemas.microsoft.com/office/drawing/2014/main" id="{16D97E24-C5C3-05EE-A0B9-E65D7339D3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52550" y="5753100"/>
            <a:ext cx="2705100" cy="2705100"/>
          </a:xfrm>
          <a:prstGeom prst="rect">
            <a:avLst/>
          </a:prstGeom>
        </p:spPr>
      </p:pic>
      <p:pic>
        <p:nvPicPr>
          <p:cNvPr id="6" name="Picture 5">
            <a:extLst>
              <a:ext uri="{FF2B5EF4-FFF2-40B4-BE49-F238E27FC236}">
                <a16:creationId xmlns:a16="http://schemas.microsoft.com/office/drawing/2014/main" id="{B1323845-B110-57C7-5554-C9B4B43B41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381" y="10783"/>
            <a:ext cx="2395447" cy="1200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grpSp>
        <p:nvGrpSpPr>
          <p:cNvPr id="2" name="Group 2"/>
          <p:cNvGrpSpPr/>
          <p:nvPr/>
        </p:nvGrpSpPr>
        <p:grpSpPr>
          <a:xfrm>
            <a:off x="0" y="9258300"/>
            <a:ext cx="18288000" cy="1028700"/>
            <a:chOff x="0" y="0"/>
            <a:chExt cx="12372622" cy="695960"/>
          </a:xfrm>
        </p:grpSpPr>
        <p:sp>
          <p:nvSpPr>
            <p:cNvPr id="3" name="Freeform 3"/>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a:solidFill>
                  <a:srgbClr val="344E41"/>
                </a:solidFill>
                <a:latin typeface="Raleway"/>
                <a:ea typeface="Raleway"/>
                <a:cs typeface="Raleway"/>
                <a:sym typeface="Raleway"/>
              </a:rPr>
              <a:t>2</a:t>
            </a:r>
          </a:p>
        </p:txBody>
      </p:sp>
      <p:sp>
        <p:nvSpPr>
          <p:cNvPr id="8" name="TextBox 8"/>
          <p:cNvSpPr txBox="1"/>
          <p:nvPr/>
        </p:nvSpPr>
        <p:spPr>
          <a:xfrm>
            <a:off x="685800" y="399223"/>
            <a:ext cx="8267700" cy="829073"/>
          </a:xfrm>
          <a:prstGeom prst="rect">
            <a:avLst/>
          </a:prstGeom>
        </p:spPr>
        <p:txBody>
          <a:bodyPr wrap="square" lIns="0" tIns="0" rIns="0" bIns="0" rtlCol="0" anchor="t">
            <a:spAutoFit/>
          </a:bodyPr>
          <a:lstStyle/>
          <a:p>
            <a:pPr>
              <a:lnSpc>
                <a:spcPts val="6719"/>
              </a:lnSpc>
            </a:pPr>
            <a:r>
              <a:rPr lang="en-IN" sz="4800" dirty="0">
                <a:latin typeface="Prata" panose="020B0604020202020204" charset="0"/>
              </a:rPr>
              <a:t>PROBLEM DEFINITION</a:t>
            </a:r>
            <a:endParaRPr lang="en-US" sz="4800" dirty="0">
              <a:solidFill>
                <a:srgbClr val="344E41"/>
              </a:solidFill>
              <a:latin typeface="Prata" panose="020B0604020202020204" charset="0"/>
              <a:ea typeface="Prata"/>
              <a:cs typeface="Prata"/>
              <a:sym typeface="Prata"/>
            </a:endParaRPr>
          </a:p>
        </p:txBody>
      </p:sp>
      <p:sp>
        <p:nvSpPr>
          <p:cNvPr id="9" name="TextBox 9"/>
          <p:cNvSpPr txBox="1"/>
          <p:nvPr/>
        </p:nvSpPr>
        <p:spPr>
          <a:xfrm>
            <a:off x="139726" y="1124098"/>
            <a:ext cx="11956949" cy="8038804"/>
          </a:xfrm>
          <a:prstGeom prst="rect">
            <a:avLst/>
          </a:prstGeom>
        </p:spPr>
        <p:txBody>
          <a:bodyPr wrap="square" lIns="0" tIns="0" rIns="0" bIns="0" rtlCol="0" anchor="t">
            <a:spAutoFit/>
          </a:bodyPr>
          <a:lstStyle/>
          <a:p>
            <a:pPr marL="457200" lvl="0" indent="-457200" algn="just">
              <a:lnSpc>
                <a:spcPct val="150000"/>
              </a:lnSpc>
              <a:buFont typeface="Arial" panose="020B0604020202020204" pitchFamily="34" charset="0"/>
              <a:buChar char="•"/>
            </a:pPr>
            <a:r>
              <a:rPr lang="en-IN" sz="3200" dirty="0">
                <a:latin typeface="Raleway" panose="020B0604020202020204" charset="0"/>
              </a:rPr>
              <a:t>Banks receive a large number of customer complaints. </a:t>
            </a:r>
          </a:p>
          <a:p>
            <a:pPr marL="457200" lvl="0" indent="-457200" algn="just">
              <a:lnSpc>
                <a:spcPct val="150000"/>
              </a:lnSpc>
              <a:buFont typeface="Arial" panose="020B0604020202020204" pitchFamily="34" charset="0"/>
              <a:buChar char="•"/>
            </a:pPr>
            <a:r>
              <a:rPr lang="en-IN" sz="3200" dirty="0">
                <a:latin typeface="Raleway" panose="020B0604020202020204" charset="0"/>
              </a:rPr>
              <a:t>Manually reading and categorizing complaints takes time and can cause errors. </a:t>
            </a:r>
          </a:p>
          <a:p>
            <a:pPr marL="457200" lvl="0" indent="-457200" algn="just">
              <a:lnSpc>
                <a:spcPct val="150000"/>
              </a:lnSpc>
              <a:buFont typeface="Arial" panose="020B0604020202020204" pitchFamily="34" charset="0"/>
              <a:buChar char="•"/>
            </a:pPr>
            <a:r>
              <a:rPr lang="en-IN" sz="3200" dirty="0">
                <a:latin typeface="Raleway" panose="020B0604020202020204" charset="0"/>
              </a:rPr>
              <a:t>Incorrect categorization can send complaints to the wrong department. </a:t>
            </a:r>
          </a:p>
          <a:p>
            <a:pPr marL="457200" lvl="0" indent="-457200" algn="just">
              <a:lnSpc>
                <a:spcPct val="150000"/>
              </a:lnSpc>
              <a:buFont typeface="Arial" panose="020B0604020202020204" pitchFamily="34" charset="0"/>
              <a:buChar char="•"/>
            </a:pPr>
            <a:r>
              <a:rPr lang="en-IN" sz="3200" dirty="0">
                <a:latin typeface="Raleway" panose="020B0604020202020204" charset="0"/>
              </a:rPr>
              <a:t>This can delay complaint resolution and increase manual work. </a:t>
            </a:r>
          </a:p>
          <a:p>
            <a:pPr marL="457200" lvl="0" indent="-457200" algn="just">
              <a:lnSpc>
                <a:spcPct val="150000"/>
              </a:lnSpc>
              <a:buFont typeface="Arial" panose="020B0604020202020204" pitchFamily="34" charset="0"/>
              <a:buChar char="•"/>
            </a:pPr>
            <a:r>
              <a:rPr lang="en-IN" sz="3200" dirty="0">
                <a:latin typeface="Raleway" panose="020B0604020202020204" charset="0"/>
              </a:rPr>
              <a:t>Existing traditional methods have limited ability to understand the context of complaint text. </a:t>
            </a:r>
          </a:p>
          <a:p>
            <a:pPr marL="457200" lvl="0" indent="-457200" algn="just">
              <a:lnSpc>
                <a:spcPct val="150000"/>
              </a:lnSpc>
              <a:buFont typeface="Arial" panose="020B0604020202020204" pitchFamily="34" charset="0"/>
              <a:buChar char="•"/>
            </a:pPr>
            <a:r>
              <a:rPr lang="en-IN" sz="3200" dirty="0">
                <a:latin typeface="Raleway" panose="020B0604020202020204" charset="0"/>
              </a:rPr>
              <a:t>Therefore, an intelligent system is needed to classify, prioritize and route complaints automatically.</a:t>
            </a:r>
          </a:p>
        </p:txBody>
      </p:sp>
      <p:sp>
        <p:nvSpPr>
          <p:cNvPr id="14" name="Freeform 3">
            <a:extLst>
              <a:ext uri="{FF2B5EF4-FFF2-40B4-BE49-F238E27FC236}">
                <a16:creationId xmlns:a16="http://schemas.microsoft.com/office/drawing/2014/main" id="{2E92062A-461C-42E6-B9DF-0BD0FC9C94BB}"/>
              </a:ext>
            </a:extLst>
          </p:cNvPr>
          <p:cNvSpPr/>
          <p:nvPr/>
        </p:nvSpPr>
        <p:spPr>
          <a:xfrm>
            <a:off x="12236400" y="1825805"/>
            <a:ext cx="6878436" cy="7432495"/>
          </a:xfrm>
          <a:custGeom>
            <a:avLst/>
            <a:gdLst/>
            <a:ahLst/>
            <a:cxnLst/>
            <a:rect l="l" t="t" r="r" b="b"/>
            <a:pathLst>
              <a:path w="6878436" h="7432495">
                <a:moveTo>
                  <a:pt x="0" y="0"/>
                </a:moveTo>
                <a:lnTo>
                  <a:pt x="6878436" y="0"/>
                </a:lnTo>
                <a:lnTo>
                  <a:pt x="6878436" y="7432495"/>
                </a:lnTo>
                <a:lnTo>
                  <a:pt x="0" y="7432495"/>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pic>
        <p:nvPicPr>
          <p:cNvPr id="5" name="Picture 4">
            <a:extLst>
              <a:ext uri="{FF2B5EF4-FFF2-40B4-BE49-F238E27FC236}">
                <a16:creationId xmlns:a16="http://schemas.microsoft.com/office/drawing/2014/main" id="{E4560B50-1AE7-0AA6-E6E8-3C0056B5F6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18" name="Oval 17">
            <a:extLst>
              <a:ext uri="{FF2B5EF4-FFF2-40B4-BE49-F238E27FC236}">
                <a16:creationId xmlns:a16="http://schemas.microsoft.com/office/drawing/2014/main" id="{C447B2CA-1DFC-4815-F585-0A6330E07A4A}"/>
              </a:ext>
            </a:extLst>
          </p:cNvPr>
          <p:cNvSpPr/>
          <p:nvPr/>
        </p:nvSpPr>
        <p:spPr>
          <a:xfrm>
            <a:off x="6594925" y="-2592982"/>
            <a:ext cx="16204972" cy="14980372"/>
          </a:xfrm>
          <a:prstGeom prst="ellipse">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p:cNvSpPr txBox="1"/>
          <p:nvPr/>
        </p:nvSpPr>
        <p:spPr>
          <a:xfrm>
            <a:off x="533400" y="2675442"/>
            <a:ext cx="5767660" cy="4443524"/>
          </a:xfrm>
          <a:prstGeom prst="rect">
            <a:avLst/>
          </a:prstGeom>
        </p:spPr>
        <p:txBody>
          <a:bodyPr wrap="square" lIns="0" tIns="0" rIns="0" bIns="0" rtlCol="0" anchor="t">
            <a:spAutoFit/>
          </a:bodyPr>
          <a:lstStyle/>
          <a:p>
            <a:pPr algn="ctr">
              <a:lnSpc>
                <a:spcPct val="150000"/>
              </a:lnSpc>
            </a:pPr>
            <a:r>
              <a:rPr lang="en-IN" sz="6600" b="1" dirty="0">
                <a:latin typeface="Prata" panose="020B0604020202020204" charset="0"/>
              </a:rPr>
              <a:t>Innovation, </a:t>
            </a:r>
            <a:br>
              <a:rPr lang="en-IN" sz="6600" b="1" dirty="0">
                <a:latin typeface="Prata" panose="020B0604020202020204" charset="0"/>
              </a:rPr>
            </a:br>
            <a:r>
              <a:rPr lang="en-IN" sz="6600" b="1" dirty="0">
                <a:latin typeface="Prata" panose="020B0604020202020204" charset="0"/>
              </a:rPr>
              <a:t>&amp; </a:t>
            </a:r>
            <a:br>
              <a:rPr lang="en-IN" sz="6600" b="1" dirty="0">
                <a:latin typeface="Prata" panose="020B0604020202020204" charset="0"/>
              </a:rPr>
            </a:br>
            <a:r>
              <a:rPr lang="en-IN" sz="6600" b="1" dirty="0">
                <a:latin typeface="Prata" panose="020B0604020202020204" charset="0"/>
              </a:rPr>
              <a:t>Novelty</a:t>
            </a:r>
            <a:endParaRPr lang="en-US" sz="6600" b="1" dirty="0">
              <a:solidFill>
                <a:srgbClr val="344E41"/>
              </a:solidFill>
              <a:latin typeface="Prata" panose="020B0604020202020204" charset="0"/>
              <a:ea typeface="Prata"/>
              <a:cs typeface="Prata"/>
              <a:sym typeface="Prata"/>
            </a:endParaRPr>
          </a:p>
        </p:txBody>
      </p:sp>
      <p:grpSp>
        <p:nvGrpSpPr>
          <p:cNvPr id="3" name="Group 3"/>
          <p:cNvGrpSpPr/>
          <p:nvPr/>
        </p:nvGrpSpPr>
        <p:grpSpPr>
          <a:xfrm>
            <a:off x="0" y="9258300"/>
            <a:ext cx="18288000" cy="10287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5" name="TextBox 5"/>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3</a:t>
            </a:r>
          </a:p>
        </p:txBody>
      </p:sp>
      <p:sp>
        <p:nvSpPr>
          <p:cNvPr id="8" name="TextBox 8"/>
          <p:cNvSpPr txBox="1"/>
          <p:nvPr/>
        </p:nvSpPr>
        <p:spPr>
          <a:xfrm>
            <a:off x="8193196" y="1699403"/>
            <a:ext cx="7427803" cy="596895"/>
          </a:xfrm>
          <a:prstGeom prst="rect">
            <a:avLst/>
          </a:prstGeom>
        </p:spPr>
        <p:txBody>
          <a:bodyPr wrap="square" lIns="0" tIns="0" rIns="0" bIns="0" rtlCol="0" anchor="t">
            <a:spAutoFit/>
          </a:bodyPr>
          <a:lstStyle/>
          <a:p>
            <a:pPr>
              <a:lnSpc>
                <a:spcPts val="3359"/>
              </a:lnSpc>
            </a:pPr>
            <a:r>
              <a:rPr lang="en-IN" sz="8800" dirty="0">
                <a:latin typeface="Raleway Bold" panose="020B0604020202020204" charset="0"/>
              </a:rPr>
              <a:t>INNOVATION</a:t>
            </a:r>
            <a:endParaRPr lang="en-US" sz="8800" b="1" dirty="0">
              <a:solidFill>
                <a:srgbClr val="344E41"/>
              </a:solidFill>
              <a:latin typeface="Raleway Bold" panose="020B0604020202020204" charset="0"/>
              <a:ea typeface="Raleway Bold"/>
              <a:cs typeface="Raleway Bold"/>
              <a:sym typeface="Raleway Bold"/>
            </a:endParaRPr>
          </a:p>
        </p:txBody>
      </p:sp>
      <p:sp>
        <p:nvSpPr>
          <p:cNvPr id="9" name="TextBox 9"/>
          <p:cNvSpPr txBox="1"/>
          <p:nvPr/>
        </p:nvSpPr>
        <p:spPr>
          <a:xfrm>
            <a:off x="7543800" y="2346808"/>
            <a:ext cx="10591800" cy="6550639"/>
          </a:xfrm>
          <a:prstGeom prst="rect">
            <a:avLst/>
          </a:prstGeom>
        </p:spPr>
        <p:txBody>
          <a:bodyPr wrap="square" lIns="0" tIns="0" rIns="0" bIns="0" rtlCol="0" anchor="t">
            <a:spAutoFit/>
          </a:bodyPr>
          <a:lstStyle/>
          <a:p>
            <a:pPr marL="457200" lvl="0" indent="-457200" algn="just">
              <a:lnSpc>
                <a:spcPct val="150000"/>
              </a:lnSpc>
              <a:buFont typeface="Arial" panose="020B0604020202020204" pitchFamily="34" charset="0"/>
              <a:buChar char="•"/>
            </a:pPr>
            <a:r>
              <a:rPr lang="en-IN" sz="3600" dirty="0">
                <a:latin typeface="Raleway" panose="020B0604020202020204" charset="0"/>
              </a:rPr>
              <a:t>Combines AI classification + complaint management in one system. </a:t>
            </a:r>
          </a:p>
          <a:p>
            <a:pPr marL="457200" lvl="0" indent="-457200" algn="just">
              <a:lnSpc>
                <a:spcPct val="150000"/>
              </a:lnSpc>
              <a:buFont typeface="Arial" panose="020B0604020202020204" pitchFamily="34" charset="0"/>
              <a:buChar char="•"/>
            </a:pPr>
            <a:r>
              <a:rPr lang="en-IN" sz="3600" dirty="0">
                <a:latin typeface="Raleway" panose="020B0604020202020204" charset="0"/>
              </a:rPr>
              <a:t>Customer, Employee and Administrator modules. </a:t>
            </a:r>
          </a:p>
          <a:p>
            <a:pPr marL="457200" lvl="0" indent="-457200" algn="just">
              <a:lnSpc>
                <a:spcPct val="150000"/>
              </a:lnSpc>
              <a:buFont typeface="Arial" panose="020B0604020202020204" pitchFamily="34" charset="0"/>
              <a:buChar char="•"/>
            </a:pPr>
            <a:r>
              <a:rPr lang="en-IN" sz="3600" dirty="0">
                <a:latin typeface="Raleway" panose="020B0604020202020204" charset="0"/>
              </a:rPr>
              <a:t>Automatic complaint routing instead of only predicting a category. </a:t>
            </a:r>
          </a:p>
          <a:p>
            <a:pPr marL="457200" lvl="0" indent="-457200" algn="just">
              <a:lnSpc>
                <a:spcPct val="150000"/>
              </a:lnSpc>
              <a:buFont typeface="Arial" panose="020B0604020202020204" pitchFamily="34" charset="0"/>
              <a:buChar char="•"/>
            </a:pPr>
            <a:r>
              <a:rPr lang="en-IN" sz="3600" dirty="0">
                <a:latin typeface="Raleway" panose="020B0604020202020204" charset="0"/>
              </a:rPr>
              <a:t>Customer can track the complaint until resolution.</a:t>
            </a:r>
          </a:p>
        </p:txBody>
      </p:sp>
      <p:pic>
        <p:nvPicPr>
          <p:cNvPr id="20" name="Picture 19">
            <a:extLst>
              <a:ext uri="{FF2B5EF4-FFF2-40B4-BE49-F238E27FC236}">
                <a16:creationId xmlns:a16="http://schemas.microsoft.com/office/drawing/2014/main" id="{730917DD-627B-9BB1-E09E-0830E29D90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1" y="0"/>
            <a:ext cx="2395447" cy="1200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C0AAE4C7-1528-7910-E679-9F0535E77B34}"/>
            </a:ext>
          </a:extLst>
        </p:cNvPr>
        <p:cNvGrpSpPr/>
        <p:nvPr/>
      </p:nvGrpSpPr>
      <p:grpSpPr>
        <a:xfrm>
          <a:off x="0" y="0"/>
          <a:ext cx="0" cy="0"/>
          <a:chOff x="0" y="0"/>
          <a:chExt cx="0" cy="0"/>
        </a:xfrm>
      </p:grpSpPr>
      <p:sp>
        <p:nvSpPr>
          <p:cNvPr id="18" name="Oval 17">
            <a:extLst>
              <a:ext uri="{FF2B5EF4-FFF2-40B4-BE49-F238E27FC236}">
                <a16:creationId xmlns:a16="http://schemas.microsoft.com/office/drawing/2014/main" id="{1A9D9A83-AFD4-CA0B-A90C-67310756BB81}"/>
              </a:ext>
            </a:extLst>
          </p:cNvPr>
          <p:cNvSpPr/>
          <p:nvPr/>
        </p:nvSpPr>
        <p:spPr>
          <a:xfrm>
            <a:off x="6594925" y="-2592982"/>
            <a:ext cx="16204972" cy="14980372"/>
          </a:xfrm>
          <a:prstGeom prst="ellipse">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 name="Group 3">
            <a:extLst>
              <a:ext uri="{FF2B5EF4-FFF2-40B4-BE49-F238E27FC236}">
                <a16:creationId xmlns:a16="http://schemas.microsoft.com/office/drawing/2014/main" id="{5F209B21-5DF4-BE05-7F35-C746C75F6D96}"/>
              </a:ext>
            </a:extLst>
          </p:cNvPr>
          <p:cNvGrpSpPr/>
          <p:nvPr/>
        </p:nvGrpSpPr>
        <p:grpSpPr>
          <a:xfrm>
            <a:off x="0" y="9258300"/>
            <a:ext cx="18288000" cy="1028700"/>
            <a:chOff x="0" y="0"/>
            <a:chExt cx="12372622" cy="695960"/>
          </a:xfrm>
        </p:grpSpPr>
        <p:sp>
          <p:nvSpPr>
            <p:cNvPr id="4" name="Freeform 4">
              <a:extLst>
                <a:ext uri="{FF2B5EF4-FFF2-40B4-BE49-F238E27FC236}">
                  <a16:creationId xmlns:a16="http://schemas.microsoft.com/office/drawing/2014/main" id="{2499D301-2189-179B-7A59-7F6BE6BA3F77}"/>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5" name="TextBox 5">
            <a:extLst>
              <a:ext uri="{FF2B5EF4-FFF2-40B4-BE49-F238E27FC236}">
                <a16:creationId xmlns:a16="http://schemas.microsoft.com/office/drawing/2014/main" id="{25E8B3EA-7D28-47DC-34FF-FABAB13C3BFD}"/>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4</a:t>
            </a:r>
          </a:p>
        </p:txBody>
      </p:sp>
      <p:sp>
        <p:nvSpPr>
          <p:cNvPr id="8" name="TextBox 8">
            <a:extLst>
              <a:ext uri="{FF2B5EF4-FFF2-40B4-BE49-F238E27FC236}">
                <a16:creationId xmlns:a16="http://schemas.microsoft.com/office/drawing/2014/main" id="{F54D7150-B41D-C18B-FF7F-CD914E20D809}"/>
              </a:ext>
            </a:extLst>
          </p:cNvPr>
          <p:cNvSpPr txBox="1"/>
          <p:nvPr/>
        </p:nvSpPr>
        <p:spPr>
          <a:xfrm>
            <a:off x="8610600" y="1279886"/>
            <a:ext cx="6477000" cy="596895"/>
          </a:xfrm>
          <a:prstGeom prst="rect">
            <a:avLst/>
          </a:prstGeom>
        </p:spPr>
        <p:txBody>
          <a:bodyPr wrap="square" lIns="0" tIns="0" rIns="0" bIns="0" rtlCol="0" anchor="t">
            <a:spAutoFit/>
          </a:bodyPr>
          <a:lstStyle/>
          <a:p>
            <a:pPr>
              <a:lnSpc>
                <a:spcPts val="3359"/>
              </a:lnSpc>
            </a:pPr>
            <a:r>
              <a:rPr lang="en-IN" sz="8800" dirty="0">
                <a:latin typeface="Raleway Bold" panose="020B0604020202020204" charset="0"/>
              </a:rPr>
              <a:t>NOVELTY</a:t>
            </a:r>
            <a:endParaRPr lang="en-US" sz="8800" b="1" dirty="0">
              <a:solidFill>
                <a:srgbClr val="344E41"/>
              </a:solidFill>
              <a:latin typeface="Raleway Bold" panose="020B0604020202020204" charset="0"/>
              <a:ea typeface="Raleway Bold"/>
              <a:cs typeface="Raleway Bold"/>
              <a:sym typeface="Raleway Bold"/>
            </a:endParaRPr>
          </a:p>
        </p:txBody>
      </p:sp>
      <p:sp>
        <p:nvSpPr>
          <p:cNvPr id="9" name="TextBox 9">
            <a:extLst>
              <a:ext uri="{FF2B5EF4-FFF2-40B4-BE49-F238E27FC236}">
                <a16:creationId xmlns:a16="http://schemas.microsoft.com/office/drawing/2014/main" id="{0259A27C-A229-ADDE-AEDD-4C251B67925F}"/>
              </a:ext>
            </a:extLst>
          </p:cNvPr>
          <p:cNvSpPr txBox="1"/>
          <p:nvPr/>
        </p:nvSpPr>
        <p:spPr>
          <a:xfrm>
            <a:off x="7848600" y="2129338"/>
            <a:ext cx="9762869" cy="6355138"/>
          </a:xfrm>
          <a:prstGeom prst="rect">
            <a:avLst/>
          </a:prstGeom>
        </p:spPr>
        <p:txBody>
          <a:bodyPr wrap="square" lIns="0" tIns="0" rIns="0" bIns="0" rtlCol="0" anchor="t">
            <a:spAutoFit/>
          </a:bodyPr>
          <a:lstStyle/>
          <a:p>
            <a:pPr marL="571500" lvl="0" indent="-571500" algn="just">
              <a:lnSpc>
                <a:spcPct val="150000"/>
              </a:lnSpc>
              <a:buFont typeface="Arial" panose="020B0604020202020204" pitchFamily="34" charset="0"/>
              <a:buChar char="•"/>
            </a:pPr>
            <a:r>
              <a:rPr lang="en-IN" sz="4000" dirty="0">
                <a:latin typeface="Raleway" panose="020B0604020202020204" charset="0"/>
              </a:rPr>
              <a:t>Existing studies mainly focus on complaint classification, topic detection, intent detection or priority prediction. </a:t>
            </a:r>
          </a:p>
          <a:p>
            <a:pPr marL="571500" lvl="0" indent="-571500" algn="just">
              <a:lnSpc>
                <a:spcPct val="150000"/>
              </a:lnSpc>
              <a:buFont typeface="Arial" panose="020B0604020202020204" pitchFamily="34" charset="0"/>
              <a:buChar char="•"/>
            </a:pPr>
            <a:r>
              <a:rPr lang="en-IN" sz="4000" dirty="0">
                <a:latin typeface="Raleway" panose="020B0604020202020204" charset="0"/>
              </a:rPr>
              <a:t>They generally do not combine classification with the complete complaint-handling process. </a:t>
            </a:r>
          </a:p>
        </p:txBody>
      </p:sp>
      <p:pic>
        <p:nvPicPr>
          <p:cNvPr id="11" name="Picture 10">
            <a:extLst>
              <a:ext uri="{FF2B5EF4-FFF2-40B4-BE49-F238E27FC236}">
                <a16:creationId xmlns:a16="http://schemas.microsoft.com/office/drawing/2014/main" id="{74A84684-48BE-16C6-B7EA-753BC821FE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8015"/>
            <a:ext cx="2395447" cy="1200650"/>
          </a:xfrm>
          <a:prstGeom prst="rect">
            <a:avLst/>
          </a:prstGeom>
          <a:noFill/>
          <a:ln>
            <a:noFill/>
          </a:ln>
        </p:spPr>
      </p:pic>
      <p:sp>
        <p:nvSpPr>
          <p:cNvPr id="6" name="TextBox 2">
            <a:extLst>
              <a:ext uri="{FF2B5EF4-FFF2-40B4-BE49-F238E27FC236}">
                <a16:creationId xmlns:a16="http://schemas.microsoft.com/office/drawing/2014/main" id="{A21E0EBE-48B5-B89B-42E6-C31D31F7E0F1}"/>
              </a:ext>
            </a:extLst>
          </p:cNvPr>
          <p:cNvSpPr txBox="1"/>
          <p:nvPr/>
        </p:nvSpPr>
        <p:spPr>
          <a:xfrm>
            <a:off x="533400" y="2675442"/>
            <a:ext cx="5767660" cy="4443524"/>
          </a:xfrm>
          <a:prstGeom prst="rect">
            <a:avLst/>
          </a:prstGeom>
        </p:spPr>
        <p:txBody>
          <a:bodyPr wrap="square" lIns="0" tIns="0" rIns="0" bIns="0" rtlCol="0" anchor="t">
            <a:spAutoFit/>
          </a:bodyPr>
          <a:lstStyle/>
          <a:p>
            <a:pPr algn="ctr">
              <a:lnSpc>
                <a:spcPct val="150000"/>
              </a:lnSpc>
            </a:pPr>
            <a:r>
              <a:rPr lang="en-IN" sz="6600" b="1" dirty="0">
                <a:latin typeface="Prata" panose="020B0604020202020204" charset="0"/>
              </a:rPr>
              <a:t>Innovation, </a:t>
            </a:r>
            <a:br>
              <a:rPr lang="en-IN" sz="6600" b="1" dirty="0">
                <a:latin typeface="Prata" panose="020B0604020202020204" charset="0"/>
              </a:rPr>
            </a:br>
            <a:r>
              <a:rPr lang="en-IN" sz="6600" b="1" dirty="0">
                <a:latin typeface="Prata" panose="020B0604020202020204" charset="0"/>
              </a:rPr>
              <a:t>&amp; </a:t>
            </a:r>
            <a:br>
              <a:rPr lang="en-IN" sz="6600" b="1" dirty="0">
                <a:latin typeface="Prata" panose="020B0604020202020204" charset="0"/>
              </a:rPr>
            </a:br>
            <a:r>
              <a:rPr lang="en-IN" sz="6600" b="1" dirty="0">
                <a:latin typeface="Prata" panose="020B0604020202020204" charset="0"/>
              </a:rPr>
              <a:t>Novelty</a:t>
            </a:r>
            <a:endParaRPr lang="en-US" sz="6600" b="1" dirty="0">
              <a:solidFill>
                <a:srgbClr val="344E41"/>
              </a:solidFill>
              <a:latin typeface="Prata" panose="020B0604020202020204" charset="0"/>
              <a:ea typeface="Prata"/>
              <a:cs typeface="Prata"/>
              <a:sym typeface="Prata"/>
            </a:endParaRPr>
          </a:p>
        </p:txBody>
      </p:sp>
    </p:spTree>
    <p:extLst>
      <p:ext uri="{BB962C8B-B14F-4D97-AF65-F5344CB8AC3E}">
        <p14:creationId xmlns:p14="http://schemas.microsoft.com/office/powerpoint/2010/main" val="343353998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5ED6B4AE-039A-2FE4-9803-7DF42B75C227}"/>
            </a:ext>
          </a:extLst>
        </p:cNvPr>
        <p:cNvGrpSpPr/>
        <p:nvPr/>
      </p:nvGrpSpPr>
      <p:grpSpPr>
        <a:xfrm>
          <a:off x="0" y="0"/>
          <a:ext cx="0" cy="0"/>
          <a:chOff x="0" y="0"/>
          <a:chExt cx="0" cy="0"/>
        </a:xfrm>
      </p:grpSpPr>
      <p:sp>
        <p:nvSpPr>
          <p:cNvPr id="18" name="Oval 17">
            <a:extLst>
              <a:ext uri="{FF2B5EF4-FFF2-40B4-BE49-F238E27FC236}">
                <a16:creationId xmlns:a16="http://schemas.microsoft.com/office/drawing/2014/main" id="{6995F28B-6909-51B8-0570-925417D5A6C7}"/>
              </a:ext>
            </a:extLst>
          </p:cNvPr>
          <p:cNvSpPr/>
          <p:nvPr/>
        </p:nvSpPr>
        <p:spPr>
          <a:xfrm>
            <a:off x="6594925" y="-2592982"/>
            <a:ext cx="16204972" cy="14980372"/>
          </a:xfrm>
          <a:prstGeom prst="ellipse">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 name="Group 3">
            <a:extLst>
              <a:ext uri="{FF2B5EF4-FFF2-40B4-BE49-F238E27FC236}">
                <a16:creationId xmlns:a16="http://schemas.microsoft.com/office/drawing/2014/main" id="{8BB8DFC1-CA55-BB1D-2F3D-D9523FE25623}"/>
              </a:ext>
            </a:extLst>
          </p:cNvPr>
          <p:cNvGrpSpPr/>
          <p:nvPr/>
        </p:nvGrpSpPr>
        <p:grpSpPr>
          <a:xfrm>
            <a:off x="0" y="9258300"/>
            <a:ext cx="18288000" cy="1028700"/>
            <a:chOff x="0" y="0"/>
            <a:chExt cx="12372622" cy="695960"/>
          </a:xfrm>
        </p:grpSpPr>
        <p:sp>
          <p:nvSpPr>
            <p:cNvPr id="4" name="Freeform 4">
              <a:extLst>
                <a:ext uri="{FF2B5EF4-FFF2-40B4-BE49-F238E27FC236}">
                  <a16:creationId xmlns:a16="http://schemas.microsoft.com/office/drawing/2014/main" id="{A9BA6B58-E569-3E61-8728-4D51F27969B4}"/>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5" name="TextBox 5">
            <a:extLst>
              <a:ext uri="{FF2B5EF4-FFF2-40B4-BE49-F238E27FC236}">
                <a16:creationId xmlns:a16="http://schemas.microsoft.com/office/drawing/2014/main" id="{0C3F576F-8FEC-EC7F-282F-6C7C82C7582B}"/>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5</a:t>
            </a:r>
          </a:p>
        </p:txBody>
      </p:sp>
      <p:sp>
        <p:nvSpPr>
          <p:cNvPr id="8" name="TextBox 8">
            <a:extLst>
              <a:ext uri="{FF2B5EF4-FFF2-40B4-BE49-F238E27FC236}">
                <a16:creationId xmlns:a16="http://schemas.microsoft.com/office/drawing/2014/main" id="{4DD29F1A-686B-92A5-70F3-FF731ED5F8D9}"/>
              </a:ext>
            </a:extLst>
          </p:cNvPr>
          <p:cNvSpPr txBox="1"/>
          <p:nvPr/>
        </p:nvSpPr>
        <p:spPr>
          <a:xfrm>
            <a:off x="8610600" y="1279886"/>
            <a:ext cx="6477000" cy="596895"/>
          </a:xfrm>
          <a:prstGeom prst="rect">
            <a:avLst/>
          </a:prstGeom>
        </p:spPr>
        <p:txBody>
          <a:bodyPr wrap="square" lIns="0" tIns="0" rIns="0" bIns="0" rtlCol="0" anchor="t">
            <a:spAutoFit/>
          </a:bodyPr>
          <a:lstStyle/>
          <a:p>
            <a:pPr>
              <a:lnSpc>
                <a:spcPts val="3359"/>
              </a:lnSpc>
            </a:pPr>
            <a:r>
              <a:rPr lang="en-IN" sz="8800" dirty="0">
                <a:latin typeface="Raleway Bold" panose="020B0604020202020204" charset="0"/>
              </a:rPr>
              <a:t>NOVELTY</a:t>
            </a:r>
            <a:endParaRPr lang="en-US" sz="8800" b="1" dirty="0">
              <a:solidFill>
                <a:srgbClr val="344E41"/>
              </a:solidFill>
              <a:latin typeface="Raleway Bold" panose="020B0604020202020204" charset="0"/>
              <a:ea typeface="Raleway Bold"/>
              <a:cs typeface="Raleway Bold"/>
              <a:sym typeface="Raleway Bold"/>
            </a:endParaRPr>
          </a:p>
        </p:txBody>
      </p:sp>
      <p:sp>
        <p:nvSpPr>
          <p:cNvPr id="9" name="TextBox 9">
            <a:extLst>
              <a:ext uri="{FF2B5EF4-FFF2-40B4-BE49-F238E27FC236}">
                <a16:creationId xmlns:a16="http://schemas.microsoft.com/office/drawing/2014/main" id="{B8A12076-71E5-9015-7218-A4F9E06E67ED}"/>
              </a:ext>
            </a:extLst>
          </p:cNvPr>
          <p:cNvSpPr txBox="1"/>
          <p:nvPr/>
        </p:nvSpPr>
        <p:spPr>
          <a:xfrm>
            <a:off x="7697866" y="2005113"/>
            <a:ext cx="9762869" cy="6355138"/>
          </a:xfrm>
          <a:prstGeom prst="rect">
            <a:avLst/>
          </a:prstGeom>
        </p:spPr>
        <p:txBody>
          <a:bodyPr wrap="square" lIns="0" tIns="0" rIns="0" bIns="0" rtlCol="0" anchor="t">
            <a:spAutoFit/>
          </a:bodyPr>
          <a:lstStyle/>
          <a:p>
            <a:pPr marL="571500" lvl="0" indent="-571500" algn="just">
              <a:lnSpc>
                <a:spcPct val="150000"/>
              </a:lnSpc>
              <a:buFont typeface="Arial" panose="020B0604020202020204" pitchFamily="34" charset="0"/>
              <a:buChar char="•"/>
            </a:pPr>
            <a:r>
              <a:rPr lang="en-IN" sz="4000" dirty="0">
                <a:latin typeface="Raleway" panose="020B0604020202020204" charset="0"/>
              </a:rPr>
              <a:t>Use BERT for context-based complaint classification. </a:t>
            </a:r>
          </a:p>
          <a:p>
            <a:pPr marL="571500" lvl="0" indent="-571500" algn="just">
              <a:lnSpc>
                <a:spcPct val="150000"/>
              </a:lnSpc>
              <a:buFont typeface="Arial" panose="020B0604020202020204" pitchFamily="34" charset="0"/>
              <a:buChar char="•"/>
            </a:pPr>
            <a:r>
              <a:rPr lang="en-IN" sz="4000" dirty="0">
                <a:latin typeface="Raleway" panose="020B0604020202020204" charset="0"/>
              </a:rPr>
              <a:t>Connect the prediction to a Business Rule Engine. </a:t>
            </a:r>
          </a:p>
          <a:p>
            <a:pPr marL="571500" lvl="0" indent="-571500" algn="just">
              <a:lnSpc>
                <a:spcPct val="150000"/>
              </a:lnSpc>
              <a:buFont typeface="Arial" panose="020B0604020202020204" pitchFamily="34" charset="0"/>
              <a:buChar char="•"/>
            </a:pPr>
            <a:r>
              <a:rPr lang="en-IN" sz="4000" dirty="0">
                <a:latin typeface="Raleway" panose="020B0604020202020204" charset="0"/>
              </a:rPr>
              <a:t>Automatically generate ticket information, priority, department and employee assignment.</a:t>
            </a:r>
          </a:p>
        </p:txBody>
      </p:sp>
      <p:pic>
        <p:nvPicPr>
          <p:cNvPr id="11" name="Picture 10">
            <a:extLst>
              <a:ext uri="{FF2B5EF4-FFF2-40B4-BE49-F238E27FC236}">
                <a16:creationId xmlns:a16="http://schemas.microsoft.com/office/drawing/2014/main" id="{75F65854-FBC1-41AA-CD26-460BF4CD79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8015"/>
            <a:ext cx="2395447" cy="1200650"/>
          </a:xfrm>
          <a:prstGeom prst="rect">
            <a:avLst/>
          </a:prstGeom>
          <a:noFill/>
          <a:ln>
            <a:noFill/>
          </a:ln>
        </p:spPr>
      </p:pic>
      <p:sp>
        <p:nvSpPr>
          <p:cNvPr id="6" name="TextBox 2">
            <a:extLst>
              <a:ext uri="{FF2B5EF4-FFF2-40B4-BE49-F238E27FC236}">
                <a16:creationId xmlns:a16="http://schemas.microsoft.com/office/drawing/2014/main" id="{E77C811E-A259-6D2E-99C7-B04103E6D63F}"/>
              </a:ext>
            </a:extLst>
          </p:cNvPr>
          <p:cNvSpPr txBox="1"/>
          <p:nvPr/>
        </p:nvSpPr>
        <p:spPr>
          <a:xfrm>
            <a:off x="533400" y="2675442"/>
            <a:ext cx="5767660" cy="4443524"/>
          </a:xfrm>
          <a:prstGeom prst="rect">
            <a:avLst/>
          </a:prstGeom>
        </p:spPr>
        <p:txBody>
          <a:bodyPr wrap="square" lIns="0" tIns="0" rIns="0" bIns="0" rtlCol="0" anchor="t">
            <a:spAutoFit/>
          </a:bodyPr>
          <a:lstStyle/>
          <a:p>
            <a:pPr algn="ctr">
              <a:lnSpc>
                <a:spcPct val="150000"/>
              </a:lnSpc>
            </a:pPr>
            <a:r>
              <a:rPr lang="en-IN" sz="6600" b="1" dirty="0">
                <a:latin typeface="Prata" panose="020B0604020202020204" charset="0"/>
              </a:rPr>
              <a:t>Innovation, </a:t>
            </a:r>
            <a:br>
              <a:rPr lang="en-IN" sz="6600" b="1" dirty="0">
                <a:latin typeface="Prata" panose="020B0604020202020204" charset="0"/>
              </a:rPr>
            </a:br>
            <a:r>
              <a:rPr lang="en-IN" sz="6600" b="1" dirty="0">
                <a:latin typeface="Prata" panose="020B0604020202020204" charset="0"/>
              </a:rPr>
              <a:t>&amp; </a:t>
            </a:r>
            <a:br>
              <a:rPr lang="en-IN" sz="6600" b="1" dirty="0">
                <a:latin typeface="Prata" panose="020B0604020202020204" charset="0"/>
              </a:rPr>
            </a:br>
            <a:r>
              <a:rPr lang="en-IN" sz="6600" b="1" dirty="0">
                <a:latin typeface="Prata" panose="020B0604020202020204" charset="0"/>
              </a:rPr>
              <a:t>Novelty</a:t>
            </a:r>
            <a:endParaRPr lang="en-US" sz="6600" b="1" dirty="0">
              <a:solidFill>
                <a:srgbClr val="344E41"/>
              </a:solidFill>
              <a:latin typeface="Prata" panose="020B0604020202020204" charset="0"/>
              <a:ea typeface="Prata"/>
              <a:cs typeface="Prata"/>
              <a:sym typeface="Prata"/>
            </a:endParaRPr>
          </a:p>
        </p:txBody>
      </p:sp>
    </p:spTree>
    <p:extLst>
      <p:ext uri="{BB962C8B-B14F-4D97-AF65-F5344CB8AC3E}">
        <p14:creationId xmlns:p14="http://schemas.microsoft.com/office/powerpoint/2010/main" val="3821922761"/>
      </p:ext>
    </p:extLst>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2D44A824-59BE-7C49-4488-3258CB353A4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7387DA7-D892-3AD3-BAA6-E93843AFFAD7}"/>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232397B4-1C42-22A4-6697-6064907A5A2C}"/>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89DA7E6B-9B33-265A-1C3E-187AFC7DD79E}"/>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6</a:t>
            </a:r>
          </a:p>
        </p:txBody>
      </p:sp>
      <p:sp>
        <p:nvSpPr>
          <p:cNvPr id="8" name="TextBox 8">
            <a:extLst>
              <a:ext uri="{FF2B5EF4-FFF2-40B4-BE49-F238E27FC236}">
                <a16:creationId xmlns:a16="http://schemas.microsoft.com/office/drawing/2014/main" id="{0B5891AA-9AF8-0E5A-C8DF-5710F63B8B8E}"/>
              </a:ext>
            </a:extLst>
          </p:cNvPr>
          <p:cNvSpPr txBox="1"/>
          <p:nvPr/>
        </p:nvSpPr>
        <p:spPr>
          <a:xfrm>
            <a:off x="533400" y="601632"/>
            <a:ext cx="12268200" cy="829073"/>
          </a:xfrm>
          <a:prstGeom prst="rect">
            <a:avLst/>
          </a:prstGeom>
        </p:spPr>
        <p:txBody>
          <a:bodyPr wrap="square" lIns="0" tIns="0" rIns="0" bIns="0" rtlCol="0" anchor="t">
            <a:spAutoFit/>
          </a:bodyPr>
          <a:lstStyle/>
          <a:p>
            <a:pPr>
              <a:lnSpc>
                <a:spcPts val="6719"/>
              </a:lnSpc>
            </a:pPr>
            <a:r>
              <a:rPr lang="en-IN" sz="4800" dirty="0">
                <a:latin typeface="Prata" panose="020B0604020202020204" charset="0"/>
              </a:rPr>
              <a:t>OBJECTIVES</a:t>
            </a:r>
            <a:endParaRPr lang="en-US" sz="4800" dirty="0">
              <a:solidFill>
                <a:srgbClr val="344E41"/>
              </a:solidFill>
              <a:latin typeface="Prata" panose="020B0604020202020204" charset="0"/>
              <a:ea typeface="Prata"/>
              <a:cs typeface="Prata"/>
              <a:sym typeface="Prata"/>
            </a:endParaRPr>
          </a:p>
        </p:txBody>
      </p:sp>
      <p:sp>
        <p:nvSpPr>
          <p:cNvPr id="10" name="TextBox 9">
            <a:extLst>
              <a:ext uri="{FF2B5EF4-FFF2-40B4-BE49-F238E27FC236}">
                <a16:creationId xmlns:a16="http://schemas.microsoft.com/office/drawing/2014/main" id="{6B2AB3B6-F0F5-DD3D-FFCC-FCB911AE7D12}"/>
              </a:ext>
            </a:extLst>
          </p:cNvPr>
          <p:cNvSpPr txBox="1"/>
          <p:nvPr/>
        </p:nvSpPr>
        <p:spPr>
          <a:xfrm>
            <a:off x="253521" y="1430705"/>
            <a:ext cx="12115800" cy="7392473"/>
          </a:xfrm>
          <a:prstGeom prst="rect">
            <a:avLst/>
          </a:prstGeom>
          <a:noFill/>
        </p:spPr>
        <p:txBody>
          <a:bodyPr wrap="square">
            <a:spAutoFit/>
          </a:bodyPr>
          <a:lstStyle/>
          <a:p>
            <a:pPr marL="457200" lvl="0" indent="-457200" algn="just">
              <a:lnSpc>
                <a:spcPct val="150000"/>
              </a:lnSpc>
              <a:buFont typeface="Arial" panose="020B0604020202020204" pitchFamily="34" charset="0"/>
              <a:buChar char="•"/>
            </a:pPr>
            <a:r>
              <a:rPr lang="en-IN" sz="3200" dirty="0">
                <a:latin typeface="Raleway" panose="020B0604020202020204" charset="0"/>
              </a:rPr>
              <a:t>To improve the contextual understanding and accuracy of customer complaint classification. </a:t>
            </a:r>
          </a:p>
          <a:p>
            <a:pPr marL="457200" lvl="0" indent="-457200" algn="just">
              <a:lnSpc>
                <a:spcPct val="150000"/>
              </a:lnSpc>
              <a:buFont typeface="Arial" panose="020B0604020202020204" pitchFamily="34" charset="0"/>
              <a:buChar char="•"/>
            </a:pPr>
            <a:r>
              <a:rPr lang="en-IN" sz="3200" dirty="0">
                <a:latin typeface="Raleway" panose="020B0604020202020204" charset="0"/>
              </a:rPr>
              <a:t>To reduce delays and inconsistencies caused by manual complaint categorization and routing. </a:t>
            </a:r>
          </a:p>
          <a:p>
            <a:pPr marL="457200" lvl="0" indent="-457200" algn="just">
              <a:lnSpc>
                <a:spcPct val="150000"/>
              </a:lnSpc>
              <a:buFont typeface="Arial" panose="020B0604020202020204" pitchFamily="34" charset="0"/>
              <a:buChar char="•"/>
            </a:pPr>
            <a:r>
              <a:rPr lang="en-IN" sz="3200" dirty="0">
                <a:latin typeface="Raleway" panose="020B0604020202020204" charset="0"/>
              </a:rPr>
              <a:t>To enable automated prioritization and department-wise complaint routing. </a:t>
            </a:r>
          </a:p>
          <a:p>
            <a:pPr marL="457200" lvl="0" indent="-457200" algn="just">
              <a:lnSpc>
                <a:spcPct val="150000"/>
              </a:lnSpc>
              <a:buFont typeface="Arial" panose="020B0604020202020204" pitchFamily="34" charset="0"/>
              <a:buChar char="•"/>
            </a:pPr>
            <a:r>
              <a:rPr lang="en-IN" sz="3200" dirty="0">
                <a:latin typeface="Raleway" panose="020B0604020202020204" charset="0"/>
              </a:rPr>
              <a:t>To reduce manual effort in complaint handling and improve resolution efficiency. </a:t>
            </a:r>
          </a:p>
          <a:p>
            <a:pPr marL="457200" lvl="0" indent="-457200" algn="just">
              <a:lnSpc>
                <a:spcPct val="150000"/>
              </a:lnSpc>
              <a:buFont typeface="Arial" panose="020B0604020202020204" pitchFamily="34" charset="0"/>
              <a:buChar char="•"/>
            </a:pPr>
            <a:r>
              <a:rPr lang="en-IN" sz="3200" dirty="0">
                <a:latin typeface="Raleway" panose="020B0604020202020204" charset="0"/>
              </a:rPr>
              <a:t>To provide a centralized platform for transparent complaint tracking and management.</a:t>
            </a:r>
          </a:p>
        </p:txBody>
      </p:sp>
      <p:sp>
        <p:nvSpPr>
          <p:cNvPr id="6" name="Freeform 3">
            <a:extLst>
              <a:ext uri="{FF2B5EF4-FFF2-40B4-BE49-F238E27FC236}">
                <a16:creationId xmlns:a16="http://schemas.microsoft.com/office/drawing/2014/main" id="{47DCE94E-D04E-35B9-F1B9-EC2BF7BD4189}"/>
              </a:ext>
            </a:extLst>
          </p:cNvPr>
          <p:cNvSpPr/>
          <p:nvPr/>
        </p:nvSpPr>
        <p:spPr>
          <a:xfrm>
            <a:off x="12622842" y="4451565"/>
            <a:ext cx="6105552" cy="4806735"/>
          </a:xfrm>
          <a:custGeom>
            <a:avLst/>
            <a:gdLst/>
            <a:ahLst/>
            <a:cxnLst/>
            <a:rect l="l" t="t" r="r" b="b"/>
            <a:pathLst>
              <a:path w="6105552" h="4806735">
                <a:moveTo>
                  <a:pt x="0" y="0"/>
                </a:moveTo>
                <a:lnTo>
                  <a:pt x="6105552" y="0"/>
                </a:lnTo>
                <a:lnTo>
                  <a:pt x="6105552" y="4806735"/>
                </a:lnTo>
                <a:lnTo>
                  <a:pt x="0" y="4806735"/>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pic>
        <p:nvPicPr>
          <p:cNvPr id="11" name="Picture 10">
            <a:extLst>
              <a:ext uri="{FF2B5EF4-FFF2-40B4-BE49-F238E27FC236}">
                <a16:creationId xmlns:a16="http://schemas.microsoft.com/office/drawing/2014/main" id="{40B0C86B-2A11-923C-CD2A-C2F787F087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Tree>
    <p:extLst>
      <p:ext uri="{BB962C8B-B14F-4D97-AF65-F5344CB8AC3E}">
        <p14:creationId xmlns:p14="http://schemas.microsoft.com/office/powerpoint/2010/main" val="3109226471"/>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89036EBA-1E17-3D12-D5E7-71E18F19932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5AFE4EC-8030-EEDF-125C-9D6C23CDA501}"/>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A5C6207F-BEAC-89A3-2A69-4CA071EB0FDD}"/>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8C3F85A7-898A-6388-68A2-34BB8B1392DB}"/>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7</a:t>
            </a:r>
          </a:p>
        </p:txBody>
      </p:sp>
      <p:sp>
        <p:nvSpPr>
          <p:cNvPr id="8" name="TextBox 8">
            <a:extLst>
              <a:ext uri="{FF2B5EF4-FFF2-40B4-BE49-F238E27FC236}">
                <a16:creationId xmlns:a16="http://schemas.microsoft.com/office/drawing/2014/main" id="{E8765F8C-7E0D-2568-F841-31BC7D14BDA7}"/>
              </a:ext>
            </a:extLst>
          </p:cNvPr>
          <p:cNvSpPr txBox="1"/>
          <p:nvPr/>
        </p:nvSpPr>
        <p:spPr>
          <a:xfrm>
            <a:off x="762000" y="717102"/>
            <a:ext cx="12268200" cy="738664"/>
          </a:xfrm>
          <a:prstGeom prst="rect">
            <a:avLst/>
          </a:prstGeom>
        </p:spPr>
        <p:txBody>
          <a:bodyPr wrap="square" lIns="0" tIns="0" rIns="0" bIns="0" rtlCol="0" anchor="t">
            <a:spAutoFit/>
          </a:bodyPr>
          <a:lstStyle/>
          <a:p>
            <a:pPr>
              <a:lnSpc>
                <a:spcPct val="100000"/>
              </a:lnSpc>
            </a:pPr>
            <a:r>
              <a:rPr lang="en-IN" sz="4800" dirty="0">
                <a:latin typeface="Prata" panose="020B0604020202020204" charset="0"/>
              </a:rPr>
              <a:t>DATASETS - Datasets used</a:t>
            </a:r>
            <a:endParaRPr lang="en-US" sz="4800" dirty="0">
              <a:solidFill>
                <a:srgbClr val="344E41"/>
              </a:solidFill>
              <a:latin typeface="Prata" panose="020B0604020202020204" charset="0"/>
              <a:ea typeface="Prata"/>
              <a:cs typeface="Prata"/>
              <a:sym typeface="Prata"/>
            </a:endParaRPr>
          </a:p>
        </p:txBody>
      </p:sp>
      <p:pic>
        <p:nvPicPr>
          <p:cNvPr id="12" name="Picture 11">
            <a:extLst>
              <a:ext uri="{FF2B5EF4-FFF2-40B4-BE49-F238E27FC236}">
                <a16:creationId xmlns:a16="http://schemas.microsoft.com/office/drawing/2014/main" id="{D900849D-C32E-392D-9719-FC6AE7D3CC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graphicFrame>
        <p:nvGraphicFramePr>
          <p:cNvPr id="4" name="Table 3">
            <a:extLst>
              <a:ext uri="{FF2B5EF4-FFF2-40B4-BE49-F238E27FC236}">
                <a16:creationId xmlns:a16="http://schemas.microsoft.com/office/drawing/2014/main" id="{2AFC1172-93B3-8879-10F6-DE596A10066D}"/>
              </a:ext>
            </a:extLst>
          </p:cNvPr>
          <p:cNvGraphicFramePr>
            <a:graphicFrameLocks noGrp="1"/>
          </p:cNvGraphicFramePr>
          <p:nvPr>
            <p:extLst>
              <p:ext uri="{D42A27DB-BD31-4B8C-83A1-F6EECF244321}">
                <p14:modId xmlns:p14="http://schemas.microsoft.com/office/powerpoint/2010/main" val="1636157612"/>
              </p:ext>
            </p:extLst>
          </p:nvPr>
        </p:nvGraphicFramePr>
        <p:xfrm>
          <a:off x="381000" y="2019220"/>
          <a:ext cx="10058400" cy="6248560"/>
        </p:xfrm>
        <a:graphic>
          <a:graphicData uri="http://schemas.openxmlformats.org/drawingml/2006/table">
            <a:tbl>
              <a:tblPr>
                <a:tableStyleId>{2D5ABB26-0587-4C30-8999-92F81FD0307C}</a:tableStyleId>
              </a:tblPr>
              <a:tblGrid>
                <a:gridCol w="1905000">
                  <a:extLst>
                    <a:ext uri="{9D8B030D-6E8A-4147-A177-3AD203B41FA5}">
                      <a16:colId xmlns:a16="http://schemas.microsoft.com/office/drawing/2014/main" val="773130358"/>
                    </a:ext>
                  </a:extLst>
                </a:gridCol>
                <a:gridCol w="2590800">
                  <a:extLst>
                    <a:ext uri="{9D8B030D-6E8A-4147-A177-3AD203B41FA5}">
                      <a16:colId xmlns:a16="http://schemas.microsoft.com/office/drawing/2014/main" val="3557704398"/>
                    </a:ext>
                  </a:extLst>
                </a:gridCol>
                <a:gridCol w="2438400">
                  <a:extLst>
                    <a:ext uri="{9D8B030D-6E8A-4147-A177-3AD203B41FA5}">
                      <a16:colId xmlns:a16="http://schemas.microsoft.com/office/drawing/2014/main" val="3682506684"/>
                    </a:ext>
                  </a:extLst>
                </a:gridCol>
                <a:gridCol w="3124200">
                  <a:extLst>
                    <a:ext uri="{9D8B030D-6E8A-4147-A177-3AD203B41FA5}">
                      <a16:colId xmlns:a16="http://schemas.microsoft.com/office/drawing/2014/main" val="2245993311"/>
                    </a:ext>
                  </a:extLst>
                </a:gridCol>
              </a:tblGrid>
              <a:tr h="1182160">
                <a:tc>
                  <a:txBody>
                    <a:bodyPr/>
                    <a:lstStyle/>
                    <a:p>
                      <a:pPr algn="ctr">
                        <a:buNone/>
                      </a:pPr>
                      <a:r>
                        <a:rPr lang="en-IN" sz="2400" b="1" dirty="0">
                          <a:latin typeface="Raleway" panose="020B0604020202020204" charset="0"/>
                        </a:rPr>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tc>
                  <a:txBody>
                    <a:bodyPr/>
                    <a:lstStyle/>
                    <a:p>
                      <a:pPr algn="ctr">
                        <a:buNone/>
                      </a:pPr>
                      <a:r>
                        <a:rPr lang="en-IN" sz="2400" b="1" dirty="0">
                          <a:latin typeface="Raleway" panose="020B0604020202020204" charset="0"/>
                        </a:rPr>
                        <a:t>Input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tc>
                  <a:txBody>
                    <a:bodyPr/>
                    <a:lstStyle/>
                    <a:p>
                      <a:pPr algn="ctr">
                        <a:buNone/>
                      </a:pPr>
                      <a:r>
                        <a:rPr lang="en-IN" sz="2400" b="1" dirty="0">
                          <a:latin typeface="Raleway" panose="020B0604020202020204" charset="0"/>
                        </a:rPr>
                        <a:t>Original Output (Y)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tc>
                  <a:txBody>
                    <a:bodyPr/>
                    <a:lstStyle/>
                    <a:p>
                      <a:pPr algn="ctr">
                        <a:buNone/>
                      </a:pPr>
                      <a:r>
                        <a:rPr lang="en-IN" sz="2400" b="1" dirty="0">
                          <a:latin typeface="Raleway" panose="020B0604020202020204" charset="0"/>
                        </a:rPr>
                        <a:t>Our Processed Output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1B44A"/>
                    </a:solidFill>
                  </a:tcPr>
                </a:tc>
                <a:extLst>
                  <a:ext uri="{0D108BD9-81ED-4DB2-BD59-A6C34878D82A}">
                    <a16:rowId xmlns:a16="http://schemas.microsoft.com/office/drawing/2014/main" val="3194135069"/>
                  </a:ext>
                </a:extLst>
              </a:tr>
              <a:tr h="1688800">
                <a:tc>
                  <a:txBody>
                    <a:bodyPr/>
                    <a:lstStyle/>
                    <a:p>
                      <a:pPr algn="l">
                        <a:buNone/>
                      </a:pPr>
                      <a:r>
                        <a:rPr lang="en-IN" sz="2400">
                          <a:latin typeface="Raleway" panose="020B0604020202020204" charset="0"/>
                        </a:rPr>
                        <a:t>CFPB Consumer Complaint Database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400" dirty="0">
                          <a:latin typeface="Raleway" panose="020B0604020202020204" charset="0"/>
                        </a:rPr>
                        <a:t>Consumer Complaint Narrative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400">
                          <a:latin typeface="Raleway" panose="020B0604020202020204" charset="0"/>
                        </a:rPr>
                        <a:t>Product, Sub-product, Issue, Sub-issue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400">
                          <a:latin typeface="Raleway" panose="020B0604020202020204" charset="0"/>
                        </a:rPr>
                        <a:t>Product, Sub-product, Issue, Sub-issue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5210675"/>
                  </a:ext>
                </a:extLst>
              </a:tr>
              <a:tr h="1688800">
                <a:tc>
                  <a:txBody>
                    <a:bodyPr/>
                    <a:lstStyle/>
                    <a:p>
                      <a:pPr algn="l">
                        <a:buNone/>
                      </a:pPr>
                      <a:r>
                        <a:rPr lang="en-IN" sz="2400">
                          <a:latin typeface="Raleway" panose="020B0604020202020204" charset="0"/>
                        </a:rPr>
                        <a:t>BANKING77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400" dirty="0">
                          <a:latin typeface="Raleway" panose="020B0604020202020204" charset="0"/>
                        </a:rPr>
                        <a:t>Customer Query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400" dirty="0">
                          <a:latin typeface="Raleway" panose="020B0604020202020204" charset="0"/>
                        </a:rPr>
                        <a:t>Intent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400" dirty="0">
                          <a:latin typeface="Raleway" panose="020B0604020202020204" charset="0"/>
                        </a:rPr>
                        <a:t>Product, Sub-product, Issue, Sub-issue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6315911"/>
                  </a:ext>
                </a:extLst>
              </a:tr>
              <a:tr h="1688800">
                <a:tc>
                  <a:txBody>
                    <a:bodyPr/>
                    <a:lstStyle/>
                    <a:p>
                      <a:pPr algn="l">
                        <a:buNone/>
                      </a:pPr>
                      <a:r>
                        <a:rPr lang="en-IN" sz="2400">
                          <a:latin typeface="Raleway" panose="020B0604020202020204" charset="0"/>
                        </a:rPr>
                        <a:t>Automatic Ticket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400">
                          <a:latin typeface="Raleway" panose="020B0604020202020204" charset="0"/>
                        </a:rPr>
                        <a:t>Complaint / Ticket 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400">
                          <a:latin typeface="Raleway" panose="020B0604020202020204" charset="0"/>
                        </a:rPr>
                        <a:t>Complaint Category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IN" sz="2400" dirty="0">
                          <a:latin typeface="Raleway" panose="020B0604020202020204" charset="0"/>
                        </a:rPr>
                        <a:t>Product, Sub-product, Issue, Sub-issue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3898883"/>
                  </a:ext>
                </a:extLst>
              </a:tr>
            </a:tbl>
          </a:graphicData>
        </a:graphic>
      </p:graphicFrame>
      <p:sp>
        <p:nvSpPr>
          <p:cNvPr id="13" name="TextBox 12">
            <a:extLst>
              <a:ext uri="{FF2B5EF4-FFF2-40B4-BE49-F238E27FC236}">
                <a16:creationId xmlns:a16="http://schemas.microsoft.com/office/drawing/2014/main" id="{DB7F81AE-BBC8-AC20-5839-67CC2DD2AA97}"/>
              </a:ext>
            </a:extLst>
          </p:cNvPr>
          <p:cNvSpPr txBox="1"/>
          <p:nvPr/>
        </p:nvSpPr>
        <p:spPr>
          <a:xfrm>
            <a:off x="10820400" y="2191011"/>
            <a:ext cx="6781800" cy="5833585"/>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800" dirty="0">
                <a:latin typeface="Raleway" panose="020B0604020202020204" charset="0"/>
              </a:rPr>
              <a:t>All three contain customer complaint, banking or financial-service text. </a:t>
            </a:r>
          </a:p>
          <a:p>
            <a:pPr marL="342900" lvl="0" indent="-342900" algn="just">
              <a:lnSpc>
                <a:spcPct val="150000"/>
              </a:lnSpc>
              <a:buFont typeface="Arial" panose="020B0604020202020204" pitchFamily="34" charset="0"/>
              <a:buChar char="•"/>
            </a:pPr>
            <a:r>
              <a:rPr lang="en-IN" sz="2800" dirty="0">
                <a:latin typeface="Raleway" panose="020B0604020202020204" charset="0"/>
              </a:rPr>
              <a:t>They are suitable for text classification using NLP. </a:t>
            </a:r>
          </a:p>
          <a:p>
            <a:pPr marL="342900" lvl="0" indent="-342900" algn="just">
              <a:lnSpc>
                <a:spcPct val="150000"/>
              </a:lnSpc>
              <a:buFont typeface="Arial" panose="020B0604020202020204" pitchFamily="34" charset="0"/>
              <a:buChar char="•"/>
            </a:pPr>
            <a:r>
              <a:rPr lang="en-IN" sz="2800" dirty="0">
                <a:latin typeface="Raleway" panose="020B0604020202020204" charset="0"/>
              </a:rPr>
              <a:t>They provide different types of complaint information. </a:t>
            </a:r>
          </a:p>
          <a:p>
            <a:pPr marL="342900" lvl="0" indent="-342900" algn="just">
              <a:lnSpc>
                <a:spcPct val="150000"/>
              </a:lnSpc>
              <a:buFont typeface="Arial" panose="020B0604020202020204" pitchFamily="34" charset="0"/>
              <a:buChar char="•"/>
            </a:pPr>
            <a:r>
              <a:rPr lang="en-IN" sz="2800" dirty="0">
                <a:latin typeface="Raleway" panose="020B0604020202020204" charset="0"/>
              </a:rPr>
              <a:t>We convert the different label structures into a common format for comparison and model use.</a:t>
            </a:r>
          </a:p>
        </p:txBody>
      </p:sp>
    </p:spTree>
    <p:extLst>
      <p:ext uri="{BB962C8B-B14F-4D97-AF65-F5344CB8AC3E}">
        <p14:creationId xmlns:p14="http://schemas.microsoft.com/office/powerpoint/2010/main" val="51148266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46093280-474F-9E0A-4B5A-24BB0F2D5E8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EC79B9A-B021-E5B6-C419-D2802611F4D8}"/>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C3720CCE-9B4C-8F65-3FFF-877189AD0795}"/>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E28B62AC-DF6B-AD95-6284-21FAB79091A3}"/>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8</a:t>
            </a:r>
          </a:p>
        </p:txBody>
      </p:sp>
      <p:sp>
        <p:nvSpPr>
          <p:cNvPr id="8" name="TextBox 8">
            <a:extLst>
              <a:ext uri="{FF2B5EF4-FFF2-40B4-BE49-F238E27FC236}">
                <a16:creationId xmlns:a16="http://schemas.microsoft.com/office/drawing/2014/main" id="{4F59C91A-614A-859E-C980-9A1C0E46DAA4}"/>
              </a:ext>
            </a:extLst>
          </p:cNvPr>
          <p:cNvSpPr txBox="1"/>
          <p:nvPr/>
        </p:nvSpPr>
        <p:spPr>
          <a:xfrm>
            <a:off x="762000" y="717102"/>
            <a:ext cx="14859000" cy="738664"/>
          </a:xfrm>
          <a:prstGeom prst="rect">
            <a:avLst/>
          </a:prstGeom>
        </p:spPr>
        <p:txBody>
          <a:bodyPr wrap="square" lIns="0" tIns="0" rIns="0" bIns="0" rtlCol="0" anchor="t">
            <a:spAutoFit/>
          </a:bodyPr>
          <a:lstStyle/>
          <a:p>
            <a:pPr>
              <a:lnSpc>
                <a:spcPct val="100000"/>
              </a:lnSpc>
            </a:pPr>
            <a:r>
              <a:rPr lang="en-IN" sz="4800" dirty="0">
                <a:latin typeface="Prata" panose="020B0604020202020204" charset="0"/>
              </a:rPr>
              <a:t>DATASETS – Feature Selection</a:t>
            </a:r>
            <a:endParaRPr lang="en-US" sz="4800" dirty="0">
              <a:solidFill>
                <a:srgbClr val="344E41"/>
              </a:solidFill>
              <a:latin typeface="Prata" panose="020B0604020202020204" charset="0"/>
              <a:ea typeface="Prata"/>
              <a:cs typeface="Prata"/>
              <a:sym typeface="Prata"/>
            </a:endParaRPr>
          </a:p>
        </p:txBody>
      </p:sp>
      <p:pic>
        <p:nvPicPr>
          <p:cNvPr id="12" name="Picture 11">
            <a:extLst>
              <a:ext uri="{FF2B5EF4-FFF2-40B4-BE49-F238E27FC236}">
                <a16:creationId xmlns:a16="http://schemas.microsoft.com/office/drawing/2014/main" id="{8FEE2FA2-AA81-9363-A935-8A3E595E9D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
        <p:nvSpPr>
          <p:cNvPr id="13" name="TextBox 12">
            <a:extLst>
              <a:ext uri="{FF2B5EF4-FFF2-40B4-BE49-F238E27FC236}">
                <a16:creationId xmlns:a16="http://schemas.microsoft.com/office/drawing/2014/main" id="{18523C58-D2CB-1999-9368-6BF41D24AB01}"/>
              </a:ext>
            </a:extLst>
          </p:cNvPr>
          <p:cNvSpPr txBox="1"/>
          <p:nvPr/>
        </p:nvSpPr>
        <p:spPr>
          <a:xfrm>
            <a:off x="762000" y="2440370"/>
            <a:ext cx="10363200" cy="5509200"/>
          </a:xfrm>
          <a:prstGeom prst="rect">
            <a:avLst/>
          </a:prstGeom>
          <a:noFill/>
        </p:spPr>
        <p:txBody>
          <a:bodyPr wrap="square" numCol="1">
            <a:spAutoFit/>
          </a:bodyPr>
          <a:lstStyle/>
          <a:p>
            <a:pPr algn="just"/>
            <a:r>
              <a:rPr lang="en-IN" sz="3200" b="1" dirty="0">
                <a:latin typeface="Raleway" panose="020B0604020202020204" charset="0"/>
              </a:rPr>
              <a:t>Main text feature:</a:t>
            </a:r>
          </a:p>
          <a:p>
            <a:pPr algn="just"/>
            <a:endParaRPr lang="en-IN" sz="3200" dirty="0">
              <a:latin typeface="Raleway" panose="020B0604020202020204" charset="0"/>
            </a:endParaRPr>
          </a:p>
          <a:p>
            <a:pPr algn="just"/>
            <a:r>
              <a:rPr lang="en-IN" sz="3200" b="1" dirty="0">
                <a:latin typeface="Raleway" panose="020B0604020202020204" charset="0"/>
              </a:rPr>
              <a:t>Complaint Narrative / Complaint Text</a:t>
            </a:r>
            <a:endParaRPr lang="en-IN" sz="3200" dirty="0">
              <a:latin typeface="Raleway" panose="020B0604020202020204" charset="0"/>
            </a:endParaRPr>
          </a:p>
          <a:p>
            <a:pPr algn="just"/>
            <a:r>
              <a:rPr lang="en-IN" sz="3200" dirty="0">
                <a:latin typeface="Raleway" panose="020B0604020202020204" charset="0"/>
              </a:rPr>
              <a:t>This is used because it contains the actual description of the customer's problem.</a:t>
            </a:r>
          </a:p>
          <a:p>
            <a:pPr algn="just"/>
            <a:endParaRPr lang="en-IN" sz="3200" dirty="0">
              <a:latin typeface="Raleway" panose="020B0604020202020204" charset="0"/>
            </a:endParaRPr>
          </a:p>
          <a:p>
            <a:pPr algn="just"/>
            <a:r>
              <a:rPr lang="en-IN" sz="3200" b="1" dirty="0">
                <a:latin typeface="Raleway" panose="020B0604020202020204" charset="0"/>
              </a:rPr>
              <a:t>Target features</a:t>
            </a:r>
          </a:p>
          <a:p>
            <a:pPr lvl="0" algn="just"/>
            <a:r>
              <a:rPr lang="en-IN" sz="3200" b="1" dirty="0">
                <a:latin typeface="Raleway" panose="020B0604020202020204" charset="0"/>
              </a:rPr>
              <a:t>Product</a:t>
            </a:r>
            <a:r>
              <a:rPr lang="en-IN" sz="3200" dirty="0">
                <a:latin typeface="Raleway" panose="020B0604020202020204" charset="0"/>
              </a:rPr>
              <a:t> → broad complaint category </a:t>
            </a:r>
          </a:p>
          <a:p>
            <a:pPr lvl="0" algn="just"/>
            <a:r>
              <a:rPr lang="en-IN" sz="3200" b="1" dirty="0">
                <a:latin typeface="Raleway" panose="020B0604020202020204" charset="0"/>
              </a:rPr>
              <a:t>Sub-product</a:t>
            </a:r>
            <a:r>
              <a:rPr lang="en-IN" sz="3200" dirty="0">
                <a:latin typeface="Raleway" panose="020B0604020202020204" charset="0"/>
              </a:rPr>
              <a:t> → more specific product/category </a:t>
            </a:r>
          </a:p>
          <a:p>
            <a:pPr lvl="0" algn="just"/>
            <a:r>
              <a:rPr lang="en-IN" sz="3200" b="1" dirty="0">
                <a:latin typeface="Raleway" panose="020B0604020202020204" charset="0"/>
              </a:rPr>
              <a:t>Issue</a:t>
            </a:r>
            <a:r>
              <a:rPr lang="en-IN" sz="3200" dirty="0">
                <a:latin typeface="Raleway" panose="020B0604020202020204" charset="0"/>
              </a:rPr>
              <a:t> → main problem </a:t>
            </a:r>
          </a:p>
          <a:p>
            <a:pPr lvl="0" algn="just"/>
            <a:r>
              <a:rPr lang="en-IN" sz="3200" b="1" dirty="0">
                <a:latin typeface="Raleway" panose="020B0604020202020204" charset="0"/>
              </a:rPr>
              <a:t>Sub-issue</a:t>
            </a:r>
            <a:r>
              <a:rPr lang="en-IN" sz="3200" dirty="0">
                <a:latin typeface="Raleway" panose="020B0604020202020204" charset="0"/>
              </a:rPr>
              <a:t> → detailed problem</a:t>
            </a:r>
          </a:p>
        </p:txBody>
      </p:sp>
      <p:sp>
        <p:nvSpPr>
          <p:cNvPr id="16" name="Freeform 3">
            <a:extLst>
              <a:ext uri="{FF2B5EF4-FFF2-40B4-BE49-F238E27FC236}">
                <a16:creationId xmlns:a16="http://schemas.microsoft.com/office/drawing/2014/main" id="{CB71E9BE-5223-6066-2BAC-E8A8F7D36769}"/>
              </a:ext>
            </a:extLst>
          </p:cNvPr>
          <p:cNvSpPr/>
          <p:nvPr/>
        </p:nvSpPr>
        <p:spPr>
          <a:xfrm>
            <a:off x="11277600" y="3952032"/>
            <a:ext cx="6858000" cy="5300825"/>
          </a:xfrm>
          <a:custGeom>
            <a:avLst/>
            <a:gdLst/>
            <a:ahLst/>
            <a:cxnLst/>
            <a:rect l="l" t="t" r="r" b="b"/>
            <a:pathLst>
              <a:path w="7651884" h="6051944">
                <a:moveTo>
                  <a:pt x="0" y="0"/>
                </a:moveTo>
                <a:lnTo>
                  <a:pt x="7651884" y="0"/>
                </a:lnTo>
                <a:lnTo>
                  <a:pt x="7651884" y="6051944"/>
                </a:lnTo>
                <a:lnTo>
                  <a:pt x="0" y="6051944"/>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sp>
    </p:spTree>
    <p:extLst>
      <p:ext uri="{BB962C8B-B14F-4D97-AF65-F5344CB8AC3E}">
        <p14:creationId xmlns:p14="http://schemas.microsoft.com/office/powerpoint/2010/main" val="1176246958"/>
      </p:ext>
    </p:extLst>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71CA803E-EA11-239F-7DF6-B7CA8E77785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D7803A2-D659-536C-8447-ACFC35143A1F}"/>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3C2C6154-206E-606F-29F1-733A800FB371}"/>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FAE6E2A5-0E84-A70B-FEE8-85A09AB88A8D}"/>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9</a:t>
            </a:r>
          </a:p>
        </p:txBody>
      </p:sp>
      <p:sp>
        <p:nvSpPr>
          <p:cNvPr id="8" name="TextBox 8">
            <a:extLst>
              <a:ext uri="{FF2B5EF4-FFF2-40B4-BE49-F238E27FC236}">
                <a16:creationId xmlns:a16="http://schemas.microsoft.com/office/drawing/2014/main" id="{FD49E5A6-942E-125A-1CD3-EF0C225C46D8}"/>
              </a:ext>
            </a:extLst>
          </p:cNvPr>
          <p:cNvSpPr txBox="1"/>
          <p:nvPr/>
        </p:nvSpPr>
        <p:spPr>
          <a:xfrm>
            <a:off x="762000" y="2062220"/>
            <a:ext cx="6324600" cy="1688283"/>
          </a:xfrm>
          <a:prstGeom prst="rect">
            <a:avLst/>
          </a:prstGeom>
        </p:spPr>
        <p:txBody>
          <a:bodyPr wrap="square" lIns="0" tIns="0" rIns="0" bIns="0" rtlCol="0" anchor="t">
            <a:spAutoFit/>
          </a:bodyPr>
          <a:lstStyle/>
          <a:p>
            <a:pPr algn="ctr">
              <a:lnSpc>
                <a:spcPts val="6719"/>
              </a:lnSpc>
            </a:pPr>
            <a:r>
              <a:rPr lang="en-IN" sz="4800" dirty="0">
                <a:latin typeface="Prata" panose="020B0604020202020204" charset="0"/>
              </a:rPr>
              <a:t>DESIGN, &amp; METHODOLOGY</a:t>
            </a:r>
            <a:endParaRPr lang="en-US" sz="4800" dirty="0">
              <a:solidFill>
                <a:srgbClr val="344E41"/>
              </a:solidFill>
              <a:latin typeface="Prata" panose="020B0604020202020204" charset="0"/>
              <a:ea typeface="Prata"/>
              <a:cs typeface="Prata"/>
              <a:sym typeface="Prata"/>
            </a:endParaRPr>
          </a:p>
        </p:txBody>
      </p:sp>
      <p:pic>
        <p:nvPicPr>
          <p:cNvPr id="10" name="Picture 9">
            <a:extLst>
              <a:ext uri="{FF2B5EF4-FFF2-40B4-BE49-F238E27FC236}">
                <a16:creationId xmlns:a16="http://schemas.microsoft.com/office/drawing/2014/main" id="{E3D53EB0-3FA6-7FE6-670C-0AD6758F0D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pic>
        <p:nvPicPr>
          <p:cNvPr id="6" name="Picture 5">
            <a:extLst>
              <a:ext uri="{FF2B5EF4-FFF2-40B4-BE49-F238E27FC236}">
                <a16:creationId xmlns:a16="http://schemas.microsoft.com/office/drawing/2014/main" id="{A6A0E18E-6816-EB7B-1C11-5EE6E8393B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34553" y="0"/>
            <a:ext cx="6858000" cy="10287000"/>
          </a:xfrm>
          <a:prstGeom prst="rect">
            <a:avLst/>
          </a:prstGeom>
        </p:spPr>
      </p:pic>
      <p:sp>
        <p:nvSpPr>
          <p:cNvPr id="11" name="TextBox 10">
            <a:extLst>
              <a:ext uri="{FF2B5EF4-FFF2-40B4-BE49-F238E27FC236}">
                <a16:creationId xmlns:a16="http://schemas.microsoft.com/office/drawing/2014/main" id="{334E97C5-FA84-32BA-2C88-F923D4E19AF9}"/>
              </a:ext>
            </a:extLst>
          </p:cNvPr>
          <p:cNvSpPr txBox="1"/>
          <p:nvPr/>
        </p:nvSpPr>
        <p:spPr>
          <a:xfrm>
            <a:off x="571500" y="4229100"/>
            <a:ext cx="7772400" cy="2601931"/>
          </a:xfrm>
          <a:prstGeom prst="rect">
            <a:avLst/>
          </a:prstGeom>
          <a:noFill/>
        </p:spPr>
        <p:txBody>
          <a:bodyPr wrap="square">
            <a:spAutoFit/>
          </a:bodyPr>
          <a:lstStyle/>
          <a:p>
            <a:pPr algn="just">
              <a:lnSpc>
                <a:spcPct val="150000"/>
              </a:lnSpc>
              <a:buNone/>
            </a:pPr>
            <a:r>
              <a:rPr lang="en-IN" sz="2800" b="1" dirty="0">
                <a:latin typeface="Raleway" panose="020B0604020202020204" charset="0"/>
              </a:rPr>
              <a:t>Input: </a:t>
            </a:r>
            <a:r>
              <a:rPr lang="en-IN" sz="2800" dirty="0">
                <a:latin typeface="Raleway" panose="020B0604020202020204" charset="0"/>
              </a:rPr>
              <a:t>Customer Complaint Text</a:t>
            </a:r>
          </a:p>
          <a:p>
            <a:pPr algn="just">
              <a:lnSpc>
                <a:spcPct val="150000"/>
              </a:lnSpc>
              <a:buNone/>
            </a:pPr>
            <a:r>
              <a:rPr lang="en-IN" sz="2800" b="1" dirty="0">
                <a:latin typeface="Raleway" panose="020B0604020202020204" charset="0"/>
              </a:rPr>
              <a:t>AI Output:</a:t>
            </a:r>
            <a:r>
              <a:rPr lang="en-IN" sz="2800" dirty="0">
                <a:latin typeface="Raleway" panose="020B0604020202020204" charset="0"/>
              </a:rPr>
              <a:t> Complaint Classification</a:t>
            </a:r>
          </a:p>
          <a:p>
            <a:pPr algn="just">
              <a:lnSpc>
                <a:spcPct val="150000"/>
              </a:lnSpc>
              <a:buNone/>
            </a:pPr>
            <a:r>
              <a:rPr lang="en-IN" sz="2800" b="1" dirty="0">
                <a:latin typeface="Raleway" panose="020B0604020202020204" charset="0"/>
              </a:rPr>
              <a:t>System Output: </a:t>
            </a:r>
            <a:r>
              <a:rPr lang="en-IN" sz="2800" dirty="0">
                <a:latin typeface="Raleway" panose="020B0604020202020204" charset="0"/>
              </a:rPr>
              <a:t>Department + Priority + Ticket ID + Employee</a:t>
            </a:r>
          </a:p>
        </p:txBody>
      </p:sp>
    </p:spTree>
    <p:extLst>
      <p:ext uri="{BB962C8B-B14F-4D97-AF65-F5344CB8AC3E}">
        <p14:creationId xmlns:p14="http://schemas.microsoft.com/office/powerpoint/2010/main" val="100443715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51FD582E-6775-08DB-2025-7BF39B6FF07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83E4513-EC39-9E16-38C5-9531BF413D3C}"/>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12AAD958-4C67-44BD-41C8-FF6533FCC286}"/>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5C6BA39C-A72F-DD08-CE24-3A06A4E1A91C}"/>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10</a:t>
            </a:r>
          </a:p>
        </p:txBody>
      </p:sp>
      <p:sp>
        <p:nvSpPr>
          <p:cNvPr id="8" name="TextBox 8">
            <a:extLst>
              <a:ext uri="{FF2B5EF4-FFF2-40B4-BE49-F238E27FC236}">
                <a16:creationId xmlns:a16="http://schemas.microsoft.com/office/drawing/2014/main" id="{2E5F2A08-851E-29E9-6185-C00C4098E17D}"/>
              </a:ext>
            </a:extLst>
          </p:cNvPr>
          <p:cNvSpPr txBox="1"/>
          <p:nvPr/>
        </p:nvSpPr>
        <p:spPr>
          <a:xfrm>
            <a:off x="3657600" y="150038"/>
            <a:ext cx="10972800" cy="829073"/>
          </a:xfrm>
          <a:prstGeom prst="rect">
            <a:avLst/>
          </a:prstGeom>
        </p:spPr>
        <p:txBody>
          <a:bodyPr wrap="square" lIns="0" tIns="0" rIns="0" bIns="0" rtlCol="0" anchor="t">
            <a:spAutoFit/>
          </a:bodyPr>
          <a:lstStyle/>
          <a:p>
            <a:pPr algn="ctr">
              <a:lnSpc>
                <a:spcPts val="6719"/>
              </a:lnSpc>
            </a:pPr>
            <a:r>
              <a:rPr lang="en-IN" sz="4800" dirty="0">
                <a:latin typeface="Prata" panose="020B0604020202020204" charset="0"/>
              </a:rPr>
              <a:t>DESIGN, &amp; METHODOLOGY</a:t>
            </a:r>
            <a:endParaRPr lang="en-US" sz="4800" dirty="0">
              <a:solidFill>
                <a:srgbClr val="344E41"/>
              </a:solidFill>
              <a:latin typeface="Prata" panose="020B0604020202020204" charset="0"/>
              <a:ea typeface="Prata"/>
              <a:cs typeface="Prata"/>
              <a:sym typeface="Prata"/>
            </a:endParaRPr>
          </a:p>
        </p:txBody>
      </p:sp>
      <p:pic>
        <p:nvPicPr>
          <p:cNvPr id="10" name="Picture 9">
            <a:extLst>
              <a:ext uri="{FF2B5EF4-FFF2-40B4-BE49-F238E27FC236}">
                <a16:creationId xmlns:a16="http://schemas.microsoft.com/office/drawing/2014/main" id="{6BCA0291-4DC6-4C04-3732-0B41939A86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
        <p:nvSpPr>
          <p:cNvPr id="11" name="TextBox 10">
            <a:extLst>
              <a:ext uri="{FF2B5EF4-FFF2-40B4-BE49-F238E27FC236}">
                <a16:creationId xmlns:a16="http://schemas.microsoft.com/office/drawing/2014/main" id="{F8E657C7-A961-E9E2-B317-75EE150DB8CA}"/>
              </a:ext>
            </a:extLst>
          </p:cNvPr>
          <p:cNvSpPr txBox="1"/>
          <p:nvPr/>
        </p:nvSpPr>
        <p:spPr>
          <a:xfrm>
            <a:off x="152400" y="886685"/>
            <a:ext cx="9220200" cy="8337411"/>
          </a:xfrm>
          <a:prstGeom prst="rect">
            <a:avLst/>
          </a:prstGeom>
          <a:noFill/>
        </p:spPr>
        <p:txBody>
          <a:bodyPr wrap="square">
            <a:spAutoFit/>
          </a:bodyPr>
          <a:lstStyle/>
          <a:p>
            <a:pPr>
              <a:lnSpc>
                <a:spcPct val="150000"/>
              </a:lnSpc>
            </a:pPr>
            <a:r>
              <a:rPr lang="en-IN" sz="2400" b="1" dirty="0">
                <a:latin typeface="Raleway" panose="020B0604020202020204" charset="0"/>
              </a:rPr>
              <a:t>1. Dataset Collection</a:t>
            </a:r>
            <a:br>
              <a:rPr lang="en-IN" sz="2400" dirty="0">
                <a:latin typeface="Raleway" panose="020B0604020202020204" charset="0"/>
              </a:rPr>
            </a:br>
            <a:r>
              <a:rPr lang="en-IN" sz="2400" dirty="0">
                <a:latin typeface="Raleway" panose="020B0604020202020204" charset="0"/>
              </a:rPr>
              <a:t>Collect CFPB, BANKING77 and Automatic Ticket Classification datasets.</a:t>
            </a:r>
          </a:p>
          <a:p>
            <a:pPr>
              <a:lnSpc>
                <a:spcPct val="150000"/>
              </a:lnSpc>
            </a:pPr>
            <a:r>
              <a:rPr lang="en-IN" sz="2400" b="1" dirty="0">
                <a:latin typeface="Raleway" panose="020B0604020202020204" charset="0"/>
              </a:rPr>
              <a:t>2. Data Preprocessing</a:t>
            </a:r>
            <a:br>
              <a:rPr lang="en-IN" sz="2400" dirty="0">
                <a:latin typeface="Raleway" panose="020B0604020202020204" charset="0"/>
              </a:rPr>
            </a:br>
            <a:r>
              <a:rPr lang="en-IN" sz="2400" dirty="0">
                <a:latin typeface="Raleway" panose="020B0604020202020204" charset="0"/>
              </a:rPr>
              <a:t>Clean complaint text, remove unnecessary data and handle missing values.</a:t>
            </a:r>
          </a:p>
          <a:p>
            <a:pPr>
              <a:lnSpc>
                <a:spcPct val="150000"/>
              </a:lnSpc>
            </a:pPr>
            <a:r>
              <a:rPr lang="en-IN" sz="2400" b="1" dirty="0">
                <a:latin typeface="Raleway" panose="020B0604020202020204" charset="0"/>
              </a:rPr>
              <a:t>3. Common Label Mapping</a:t>
            </a:r>
            <a:br>
              <a:rPr lang="en-IN" sz="2400" dirty="0">
                <a:latin typeface="Raleway" panose="020B0604020202020204" charset="0"/>
              </a:rPr>
            </a:br>
            <a:r>
              <a:rPr lang="en-IN" sz="2400" dirty="0">
                <a:latin typeface="Raleway" panose="020B0604020202020204" charset="0"/>
              </a:rPr>
              <a:t>Convert the different dataset label structures into the common:</a:t>
            </a:r>
            <a:br>
              <a:rPr lang="en-IN" sz="2400" dirty="0">
                <a:latin typeface="Raleway" panose="020B0604020202020204" charset="0"/>
              </a:rPr>
            </a:br>
            <a:r>
              <a:rPr lang="en-IN" sz="2400" b="1" dirty="0">
                <a:latin typeface="Raleway" panose="020B0604020202020204" charset="0"/>
              </a:rPr>
              <a:t>Product → Sub-product → Issue → Sub-issue</a:t>
            </a:r>
            <a:endParaRPr lang="en-IN" sz="2400" dirty="0">
              <a:latin typeface="Raleway" panose="020B0604020202020204" charset="0"/>
            </a:endParaRPr>
          </a:p>
          <a:p>
            <a:pPr>
              <a:lnSpc>
                <a:spcPct val="150000"/>
              </a:lnSpc>
            </a:pPr>
            <a:r>
              <a:rPr lang="en-IN" sz="2400" b="1" dirty="0">
                <a:latin typeface="Raleway" panose="020B0604020202020204" charset="0"/>
              </a:rPr>
              <a:t>4. Feature Selection</a:t>
            </a:r>
            <a:br>
              <a:rPr lang="en-IN" sz="2400" dirty="0">
                <a:latin typeface="Raleway" panose="020B0604020202020204" charset="0"/>
              </a:rPr>
            </a:br>
            <a:r>
              <a:rPr lang="en-IN" sz="2400" dirty="0">
                <a:latin typeface="Raleway" panose="020B0604020202020204" charset="0"/>
              </a:rPr>
              <a:t>Use the complaint/query text as X (input) and the four complaint levels as Y (output).</a:t>
            </a:r>
          </a:p>
          <a:p>
            <a:pPr>
              <a:lnSpc>
                <a:spcPct val="150000"/>
              </a:lnSpc>
            </a:pPr>
            <a:r>
              <a:rPr lang="en-IN" sz="2400" b="1" dirty="0">
                <a:latin typeface="Raleway" panose="020B0604020202020204" charset="0"/>
              </a:rPr>
              <a:t>5. BERT Tokenization</a:t>
            </a:r>
            <a:br>
              <a:rPr lang="en-IN" sz="2400" dirty="0">
                <a:latin typeface="Raleway" panose="020B0604020202020204" charset="0"/>
              </a:rPr>
            </a:br>
            <a:r>
              <a:rPr lang="en-IN" sz="2400" dirty="0">
                <a:latin typeface="Raleway" panose="020B0604020202020204" charset="0"/>
              </a:rPr>
              <a:t>Convert complaint text into tokens, token IDs and attention masks.</a:t>
            </a:r>
          </a:p>
        </p:txBody>
      </p:sp>
      <p:sp>
        <p:nvSpPr>
          <p:cNvPr id="5" name="TextBox 4">
            <a:extLst>
              <a:ext uri="{FF2B5EF4-FFF2-40B4-BE49-F238E27FC236}">
                <a16:creationId xmlns:a16="http://schemas.microsoft.com/office/drawing/2014/main" id="{C4717B04-F367-D739-F42B-B99243A0DF81}"/>
              </a:ext>
            </a:extLst>
          </p:cNvPr>
          <p:cNvSpPr txBox="1"/>
          <p:nvPr/>
        </p:nvSpPr>
        <p:spPr>
          <a:xfrm>
            <a:off x="9220200" y="1108591"/>
            <a:ext cx="9062357" cy="7783413"/>
          </a:xfrm>
          <a:prstGeom prst="rect">
            <a:avLst/>
          </a:prstGeom>
          <a:noFill/>
        </p:spPr>
        <p:txBody>
          <a:bodyPr wrap="square">
            <a:spAutoFit/>
          </a:bodyPr>
          <a:lstStyle/>
          <a:p>
            <a:pPr>
              <a:lnSpc>
                <a:spcPct val="150000"/>
              </a:lnSpc>
            </a:pPr>
            <a:r>
              <a:rPr lang="en-IN" sz="2400" b="1" dirty="0">
                <a:latin typeface="Raleway" panose="020B0604020202020204" charset="0"/>
              </a:rPr>
              <a:t>6. BERT Fine-Tuning</a:t>
            </a:r>
            <a:br>
              <a:rPr lang="en-IN" sz="2400" dirty="0">
                <a:latin typeface="Raleway" panose="020B0604020202020204" charset="0"/>
              </a:rPr>
            </a:br>
            <a:r>
              <a:rPr lang="en-IN" sz="2400" dirty="0">
                <a:latin typeface="Raleway" panose="020B0604020202020204" charset="0"/>
              </a:rPr>
              <a:t>Fine-tune the pre-trained BERT model using the prepared complaint data.</a:t>
            </a:r>
          </a:p>
          <a:p>
            <a:pPr>
              <a:lnSpc>
                <a:spcPct val="150000"/>
              </a:lnSpc>
            </a:pPr>
            <a:r>
              <a:rPr lang="en-IN" sz="2400" b="1" dirty="0">
                <a:latin typeface="Raleway" panose="020B0604020202020204" charset="0"/>
              </a:rPr>
              <a:t>7. Complaint Classification</a:t>
            </a:r>
            <a:br>
              <a:rPr lang="en-IN" sz="2400" dirty="0">
                <a:latin typeface="Raleway" panose="020B0604020202020204" charset="0"/>
              </a:rPr>
            </a:br>
            <a:r>
              <a:rPr lang="en-IN" sz="2400" dirty="0">
                <a:latin typeface="Raleway" panose="020B0604020202020204" charset="0"/>
              </a:rPr>
              <a:t>Predict Product, Sub-product, Issue and Sub-issue.</a:t>
            </a:r>
          </a:p>
          <a:p>
            <a:pPr>
              <a:lnSpc>
                <a:spcPct val="150000"/>
              </a:lnSpc>
            </a:pPr>
            <a:r>
              <a:rPr lang="en-IN" sz="2400" b="1" dirty="0">
                <a:latin typeface="Raleway" panose="020B0604020202020204" charset="0"/>
              </a:rPr>
              <a:t>8. Business Rule Processing</a:t>
            </a:r>
            <a:br>
              <a:rPr lang="en-IN" sz="2400" dirty="0">
                <a:latin typeface="Raleway" panose="020B0604020202020204" charset="0"/>
              </a:rPr>
            </a:br>
            <a:r>
              <a:rPr lang="en-IN" sz="2400" dirty="0">
                <a:latin typeface="Raleway" panose="020B0604020202020204" charset="0"/>
              </a:rPr>
              <a:t>Use the predicted categories to determine department, priority, response time and employee assignment.</a:t>
            </a:r>
          </a:p>
          <a:p>
            <a:pPr>
              <a:lnSpc>
                <a:spcPct val="150000"/>
              </a:lnSpc>
            </a:pPr>
            <a:r>
              <a:rPr lang="en-IN" sz="2400" b="1" dirty="0">
                <a:latin typeface="Raleway" panose="020B0604020202020204" charset="0"/>
              </a:rPr>
              <a:t>9. System Integration</a:t>
            </a:r>
            <a:br>
              <a:rPr lang="en-IN" sz="2400" dirty="0">
                <a:latin typeface="Raleway" panose="020B0604020202020204" charset="0"/>
              </a:rPr>
            </a:br>
            <a:r>
              <a:rPr lang="en-IN" sz="2400" dirty="0">
                <a:latin typeface="Raleway" panose="020B0604020202020204" charset="0"/>
              </a:rPr>
              <a:t>Store complaint details in MySQL and display them through the Customer, Employee and Admin modules.</a:t>
            </a:r>
          </a:p>
          <a:p>
            <a:pPr>
              <a:lnSpc>
                <a:spcPct val="150000"/>
              </a:lnSpc>
            </a:pPr>
            <a:r>
              <a:rPr lang="en-IN" sz="2400" b="1" dirty="0">
                <a:latin typeface="Raleway" panose="020B0604020202020204" charset="0"/>
              </a:rPr>
              <a:t>10. Evaluation</a:t>
            </a:r>
            <a:br>
              <a:rPr lang="en-IN" sz="2400" dirty="0">
                <a:latin typeface="Raleway" panose="020B0604020202020204" charset="0"/>
              </a:rPr>
            </a:br>
            <a:r>
              <a:rPr lang="en-IN" sz="2400" dirty="0">
                <a:latin typeface="Raleway" panose="020B0604020202020204" charset="0"/>
              </a:rPr>
              <a:t>Evaluate the model using Accuracy, Precision, Recall and F1-score.</a:t>
            </a:r>
          </a:p>
        </p:txBody>
      </p:sp>
    </p:spTree>
    <p:extLst>
      <p:ext uri="{BB962C8B-B14F-4D97-AF65-F5344CB8AC3E}">
        <p14:creationId xmlns:p14="http://schemas.microsoft.com/office/powerpoint/2010/main" val="2084883152"/>
      </p:ext>
    </p:extLst>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3A9579EA-7C97-6F0E-FED3-6766924A94C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3C6E8C2-4D48-CAAB-2241-CA67CEEC7743}"/>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EF7CF9B1-F1EC-9D13-912F-9FFDA3AC0A25}"/>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234BDBC3-F2E8-205A-B674-0EC5FEB59810}"/>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11</a:t>
            </a:r>
          </a:p>
        </p:txBody>
      </p:sp>
      <p:sp>
        <p:nvSpPr>
          <p:cNvPr id="8" name="TextBox 8">
            <a:extLst>
              <a:ext uri="{FF2B5EF4-FFF2-40B4-BE49-F238E27FC236}">
                <a16:creationId xmlns:a16="http://schemas.microsoft.com/office/drawing/2014/main" id="{88665B1D-FFF5-B72C-40E0-B27676DA5676}"/>
              </a:ext>
            </a:extLst>
          </p:cNvPr>
          <p:cNvSpPr txBox="1"/>
          <p:nvPr/>
        </p:nvSpPr>
        <p:spPr>
          <a:xfrm>
            <a:off x="1155247" y="1131639"/>
            <a:ext cx="6281057" cy="1688283"/>
          </a:xfrm>
          <a:prstGeom prst="rect">
            <a:avLst/>
          </a:prstGeom>
        </p:spPr>
        <p:txBody>
          <a:bodyPr wrap="square" lIns="0" tIns="0" rIns="0" bIns="0" rtlCol="0" anchor="t">
            <a:spAutoFit/>
          </a:bodyPr>
          <a:lstStyle/>
          <a:p>
            <a:pPr algn="ctr">
              <a:lnSpc>
                <a:spcPts val="6719"/>
              </a:lnSpc>
            </a:pPr>
            <a:r>
              <a:rPr lang="en-IN" sz="4800" dirty="0">
                <a:latin typeface="Prata" panose="020B0604020202020204" charset="0"/>
              </a:rPr>
              <a:t>IMPLEMENTATION OF ALGORITHM</a:t>
            </a:r>
            <a:endParaRPr lang="en-US" sz="4800" dirty="0">
              <a:solidFill>
                <a:srgbClr val="344E41"/>
              </a:solidFill>
              <a:latin typeface="Prata" panose="020B0604020202020204" charset="0"/>
              <a:ea typeface="Prata"/>
              <a:cs typeface="Prata"/>
              <a:sym typeface="Prata"/>
            </a:endParaRPr>
          </a:p>
        </p:txBody>
      </p:sp>
      <p:pic>
        <p:nvPicPr>
          <p:cNvPr id="10" name="Picture 9">
            <a:extLst>
              <a:ext uri="{FF2B5EF4-FFF2-40B4-BE49-F238E27FC236}">
                <a16:creationId xmlns:a16="http://schemas.microsoft.com/office/drawing/2014/main" id="{A4E7B127-8F7A-4EC7-CAAA-B4CB9D331B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
        <p:nvSpPr>
          <p:cNvPr id="5" name="TextBox 4">
            <a:extLst>
              <a:ext uri="{FF2B5EF4-FFF2-40B4-BE49-F238E27FC236}">
                <a16:creationId xmlns:a16="http://schemas.microsoft.com/office/drawing/2014/main" id="{D7F68A08-6A13-91A1-0B68-6E9F6196EF74}"/>
              </a:ext>
            </a:extLst>
          </p:cNvPr>
          <p:cNvSpPr txBox="1"/>
          <p:nvPr/>
        </p:nvSpPr>
        <p:spPr>
          <a:xfrm>
            <a:off x="805543" y="3088743"/>
            <a:ext cx="6934200" cy="1955600"/>
          </a:xfrm>
          <a:prstGeom prst="rect">
            <a:avLst/>
          </a:prstGeom>
          <a:noFill/>
        </p:spPr>
        <p:txBody>
          <a:bodyPr wrap="square">
            <a:spAutoFit/>
          </a:bodyPr>
          <a:lstStyle/>
          <a:p>
            <a:pPr>
              <a:lnSpc>
                <a:spcPct val="150000"/>
              </a:lnSpc>
              <a:buNone/>
            </a:pPr>
            <a:r>
              <a:rPr lang="en-IN" sz="2800" b="1" dirty="0">
                <a:latin typeface="Raleway" panose="020B0604020202020204" charset="0"/>
              </a:rPr>
              <a:t>BERT</a:t>
            </a:r>
            <a:r>
              <a:rPr lang="en-IN" sz="2800" dirty="0">
                <a:latin typeface="Raleway" panose="020B0604020202020204" charset="0"/>
              </a:rPr>
              <a:t> — Primary Algorithm</a:t>
            </a:r>
          </a:p>
          <a:p>
            <a:pPr>
              <a:lnSpc>
                <a:spcPct val="150000"/>
              </a:lnSpc>
              <a:buNone/>
            </a:pPr>
            <a:r>
              <a:rPr lang="en-IN" sz="2800" dirty="0">
                <a:latin typeface="Raleway" panose="020B0604020202020204" charset="0"/>
              </a:rPr>
              <a:t>BERT = Bidirectional Encoder Representations from Transformers</a:t>
            </a:r>
          </a:p>
        </p:txBody>
      </p:sp>
      <p:pic>
        <p:nvPicPr>
          <p:cNvPr id="11" name="Picture 10">
            <a:extLst>
              <a:ext uri="{FF2B5EF4-FFF2-40B4-BE49-F238E27FC236}">
                <a16:creationId xmlns:a16="http://schemas.microsoft.com/office/drawing/2014/main" id="{52748E96-9A31-A1BA-D875-AE9D2C8A13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15350" y="0"/>
            <a:ext cx="6858000" cy="10287000"/>
          </a:xfrm>
          <a:prstGeom prst="rect">
            <a:avLst/>
          </a:prstGeom>
        </p:spPr>
      </p:pic>
      <p:sp>
        <p:nvSpPr>
          <p:cNvPr id="13" name="TextBox 12">
            <a:extLst>
              <a:ext uri="{FF2B5EF4-FFF2-40B4-BE49-F238E27FC236}">
                <a16:creationId xmlns:a16="http://schemas.microsoft.com/office/drawing/2014/main" id="{D3207CD5-B8CD-9C0A-1D14-64C2EDFA2AA6}"/>
              </a:ext>
            </a:extLst>
          </p:cNvPr>
          <p:cNvSpPr txBox="1"/>
          <p:nvPr/>
        </p:nvSpPr>
        <p:spPr>
          <a:xfrm>
            <a:off x="805543" y="5361456"/>
            <a:ext cx="7157947" cy="2601931"/>
          </a:xfrm>
          <a:prstGeom prst="rect">
            <a:avLst/>
          </a:prstGeom>
          <a:noFill/>
        </p:spPr>
        <p:txBody>
          <a:bodyPr wrap="square">
            <a:spAutoFit/>
          </a:bodyPr>
          <a:lstStyle/>
          <a:p>
            <a:pPr>
              <a:lnSpc>
                <a:spcPct val="150000"/>
              </a:lnSpc>
              <a:buNone/>
            </a:pPr>
            <a:r>
              <a:rPr lang="en-IN" sz="2800" b="1" dirty="0">
                <a:latin typeface="Raleway" panose="020B0604020202020204" charset="0"/>
              </a:rPr>
              <a:t>BUSINESS RULE ENGINE</a:t>
            </a:r>
          </a:p>
          <a:p>
            <a:pPr>
              <a:lnSpc>
                <a:spcPct val="150000"/>
              </a:lnSpc>
              <a:buNone/>
            </a:pPr>
            <a:r>
              <a:rPr lang="en-IN" sz="2800" dirty="0">
                <a:latin typeface="Raleway" panose="020B0604020202020204" charset="0"/>
              </a:rPr>
              <a:t>The Business Rule Engine takes the output of BERT and applies predefined rules to manage the complaint.</a:t>
            </a:r>
          </a:p>
        </p:txBody>
      </p:sp>
    </p:spTree>
    <p:extLst>
      <p:ext uri="{BB962C8B-B14F-4D97-AF65-F5344CB8AC3E}">
        <p14:creationId xmlns:p14="http://schemas.microsoft.com/office/powerpoint/2010/main" val="186595690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E76CD8FC-BF38-C08A-DBCF-3ACFE589985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EF99929-C26C-46B6-F8FA-A75DEE871FC2}"/>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7CF37BE3-848A-D169-AB65-D51792400811}"/>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438B928F-D69D-97FA-0391-01A96A518C74}"/>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12</a:t>
            </a:r>
          </a:p>
        </p:txBody>
      </p:sp>
      <p:sp>
        <p:nvSpPr>
          <p:cNvPr id="10" name="TextBox 9">
            <a:extLst>
              <a:ext uri="{FF2B5EF4-FFF2-40B4-BE49-F238E27FC236}">
                <a16:creationId xmlns:a16="http://schemas.microsoft.com/office/drawing/2014/main" id="{142ABE14-4CE2-D352-02B3-D033290E4C66}"/>
              </a:ext>
            </a:extLst>
          </p:cNvPr>
          <p:cNvSpPr txBox="1"/>
          <p:nvPr/>
        </p:nvSpPr>
        <p:spPr>
          <a:xfrm>
            <a:off x="0" y="1562100"/>
            <a:ext cx="8381995" cy="6653809"/>
          </a:xfrm>
          <a:prstGeom prst="rect">
            <a:avLst/>
          </a:prstGeom>
          <a:noFill/>
        </p:spPr>
        <p:txBody>
          <a:bodyPr wrap="square">
            <a:spAutoFit/>
          </a:bodyPr>
          <a:lstStyle/>
          <a:p>
            <a:pPr algn="just">
              <a:lnSpc>
                <a:spcPct val="150000"/>
              </a:lnSpc>
            </a:pPr>
            <a:r>
              <a:rPr lang="en-IN" sz="3200" b="1" dirty="0">
                <a:latin typeface="Raleway" panose="020B0604020202020204" charset="0"/>
              </a:rPr>
              <a:t>Why BERT?</a:t>
            </a:r>
          </a:p>
          <a:p>
            <a:pPr marL="457200" lvl="0" indent="-457200" algn="just">
              <a:lnSpc>
                <a:spcPct val="150000"/>
              </a:lnSpc>
              <a:buFont typeface="Arial" panose="020B0604020202020204" pitchFamily="34" charset="0"/>
              <a:buChar char="•"/>
            </a:pPr>
            <a:r>
              <a:rPr lang="en-IN" sz="3200" dirty="0">
                <a:latin typeface="Raleway" panose="020B0604020202020204" charset="0"/>
              </a:rPr>
              <a:t>Understands the context of complaint text. </a:t>
            </a:r>
          </a:p>
          <a:p>
            <a:pPr marL="457200" lvl="0" indent="-457200" algn="just">
              <a:lnSpc>
                <a:spcPct val="150000"/>
              </a:lnSpc>
              <a:buFont typeface="Arial" panose="020B0604020202020204" pitchFamily="34" charset="0"/>
              <a:buChar char="•"/>
            </a:pPr>
            <a:r>
              <a:rPr lang="en-IN" sz="3200" dirty="0">
                <a:latin typeface="Raleway" panose="020B0604020202020204" charset="0"/>
              </a:rPr>
              <a:t>Produces contextual representations of words. </a:t>
            </a:r>
          </a:p>
          <a:p>
            <a:pPr marL="457200" lvl="0" indent="-457200" algn="just">
              <a:lnSpc>
                <a:spcPct val="150000"/>
              </a:lnSpc>
              <a:buFont typeface="Arial" panose="020B0604020202020204" pitchFamily="34" charset="0"/>
              <a:buChar char="•"/>
            </a:pPr>
            <a:r>
              <a:rPr lang="en-IN" sz="3200" dirty="0">
                <a:latin typeface="Raleway" panose="020B0604020202020204" charset="0"/>
              </a:rPr>
              <a:t>Suitable for long and detailed customer complaints. </a:t>
            </a:r>
          </a:p>
          <a:p>
            <a:pPr marL="457200" lvl="0" indent="-457200" algn="just">
              <a:lnSpc>
                <a:spcPct val="150000"/>
              </a:lnSpc>
              <a:buFont typeface="Arial" panose="020B0604020202020204" pitchFamily="34" charset="0"/>
              <a:buChar char="•"/>
            </a:pPr>
            <a:r>
              <a:rPr lang="en-IN" sz="3200" dirty="0">
                <a:latin typeface="Raleway" panose="020B0604020202020204" charset="0"/>
              </a:rPr>
              <a:t>Can be fine-tuned for our specific classification task.</a:t>
            </a:r>
          </a:p>
        </p:txBody>
      </p:sp>
      <p:cxnSp>
        <p:nvCxnSpPr>
          <p:cNvPr id="12" name="Straight Connector 11">
            <a:extLst>
              <a:ext uri="{FF2B5EF4-FFF2-40B4-BE49-F238E27FC236}">
                <a16:creationId xmlns:a16="http://schemas.microsoft.com/office/drawing/2014/main" id="{5CFB6F50-4C6C-4B20-8BAE-523111547168}"/>
              </a:ext>
            </a:extLst>
          </p:cNvPr>
          <p:cNvCxnSpPr>
            <a:cxnSpLocks/>
          </p:cNvCxnSpPr>
          <p:nvPr/>
        </p:nvCxnSpPr>
        <p:spPr>
          <a:xfrm>
            <a:off x="8534400" y="0"/>
            <a:ext cx="0" cy="10287000"/>
          </a:xfrm>
          <a:prstGeom prst="line">
            <a:avLst/>
          </a:prstGeom>
          <a:ln w="38100"/>
        </p:spPr>
        <p:style>
          <a:lnRef idx="1">
            <a:schemeClr val="accent3"/>
          </a:lnRef>
          <a:fillRef idx="0">
            <a:schemeClr val="accent3"/>
          </a:fillRef>
          <a:effectRef idx="0">
            <a:schemeClr val="accent3"/>
          </a:effectRef>
          <a:fontRef idx="minor">
            <a:schemeClr val="tx1"/>
          </a:fontRef>
        </p:style>
      </p:cxnSp>
      <p:pic>
        <p:nvPicPr>
          <p:cNvPr id="15" name="Picture 14">
            <a:extLst>
              <a:ext uri="{FF2B5EF4-FFF2-40B4-BE49-F238E27FC236}">
                <a16:creationId xmlns:a16="http://schemas.microsoft.com/office/drawing/2014/main" id="{396A5143-EA47-C717-ABC5-C3D2DF21E2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
        <p:nvSpPr>
          <p:cNvPr id="6" name="TextBox 5">
            <a:extLst>
              <a:ext uri="{FF2B5EF4-FFF2-40B4-BE49-F238E27FC236}">
                <a16:creationId xmlns:a16="http://schemas.microsoft.com/office/drawing/2014/main" id="{A648DEDE-B2EE-56DB-E9E7-8079BDF30B42}"/>
              </a:ext>
            </a:extLst>
          </p:cNvPr>
          <p:cNvSpPr txBox="1"/>
          <p:nvPr/>
        </p:nvSpPr>
        <p:spPr>
          <a:xfrm>
            <a:off x="8686807" y="1737562"/>
            <a:ext cx="9225642" cy="5915145"/>
          </a:xfrm>
          <a:prstGeom prst="rect">
            <a:avLst/>
          </a:prstGeom>
          <a:noFill/>
        </p:spPr>
        <p:txBody>
          <a:bodyPr wrap="square">
            <a:spAutoFit/>
          </a:bodyPr>
          <a:lstStyle/>
          <a:p>
            <a:pPr algn="just">
              <a:lnSpc>
                <a:spcPct val="150000"/>
              </a:lnSpc>
              <a:buNone/>
            </a:pPr>
            <a:r>
              <a:rPr lang="en-IN" sz="3200" b="1" dirty="0">
                <a:latin typeface="Raleway" panose="020B0604020202020204" charset="0"/>
              </a:rPr>
              <a:t>Supporting Technologies</a:t>
            </a:r>
          </a:p>
          <a:p>
            <a:pPr marL="342900" lvl="0" indent="-342900" algn="just">
              <a:lnSpc>
                <a:spcPct val="150000"/>
              </a:lnSpc>
              <a:buFont typeface="Arial" panose="020B0604020202020204" pitchFamily="34" charset="0"/>
              <a:buChar char="•"/>
            </a:pPr>
            <a:r>
              <a:rPr lang="en-IN" sz="3200" b="1" dirty="0" err="1">
                <a:latin typeface="Raleway" panose="020B0604020202020204" charset="0"/>
              </a:rPr>
              <a:t>PyTorch</a:t>
            </a:r>
            <a:r>
              <a:rPr lang="en-IN" sz="3200" dirty="0">
                <a:latin typeface="Raleway" panose="020B0604020202020204" charset="0"/>
              </a:rPr>
              <a:t> — training and running the BERT model </a:t>
            </a:r>
          </a:p>
          <a:p>
            <a:pPr marL="342900" lvl="0" indent="-342900" algn="just">
              <a:lnSpc>
                <a:spcPct val="150000"/>
              </a:lnSpc>
              <a:buFont typeface="Arial" panose="020B0604020202020204" pitchFamily="34" charset="0"/>
              <a:buChar char="•"/>
            </a:pPr>
            <a:r>
              <a:rPr lang="en-IN" sz="3200" b="1" dirty="0">
                <a:latin typeface="Raleway" panose="020B0604020202020204" charset="0"/>
              </a:rPr>
              <a:t>Hugging Face Transformers</a:t>
            </a:r>
            <a:r>
              <a:rPr lang="en-IN" sz="3200" dirty="0">
                <a:latin typeface="Raleway" panose="020B0604020202020204" charset="0"/>
              </a:rPr>
              <a:t> — BERT model and tokenizer </a:t>
            </a:r>
          </a:p>
          <a:p>
            <a:pPr marL="342900" lvl="0" indent="-342900" algn="just">
              <a:lnSpc>
                <a:spcPct val="150000"/>
              </a:lnSpc>
              <a:buFont typeface="Arial" panose="020B0604020202020204" pitchFamily="34" charset="0"/>
              <a:buChar char="•"/>
            </a:pPr>
            <a:r>
              <a:rPr lang="en-IN" sz="3200" b="1" dirty="0">
                <a:latin typeface="Raleway" panose="020B0604020202020204" charset="0"/>
              </a:rPr>
              <a:t>Flask</a:t>
            </a:r>
            <a:r>
              <a:rPr lang="en-IN" sz="3200" dirty="0">
                <a:latin typeface="Raleway" panose="020B0604020202020204" charset="0"/>
              </a:rPr>
              <a:t> — connects the trained model to the web application </a:t>
            </a:r>
          </a:p>
          <a:p>
            <a:pPr marL="342900" lvl="0" indent="-342900" algn="just">
              <a:lnSpc>
                <a:spcPct val="150000"/>
              </a:lnSpc>
              <a:buFont typeface="Arial" panose="020B0604020202020204" pitchFamily="34" charset="0"/>
              <a:buChar char="•"/>
            </a:pPr>
            <a:r>
              <a:rPr lang="en-IN" sz="3200" b="1" dirty="0">
                <a:latin typeface="Raleway" panose="020B0604020202020204" charset="0"/>
              </a:rPr>
              <a:t>MySQL</a:t>
            </a:r>
            <a:r>
              <a:rPr lang="en-IN" sz="3200" dirty="0">
                <a:latin typeface="Raleway" panose="020B0604020202020204" charset="0"/>
              </a:rPr>
              <a:t> — stores complaint and system data</a:t>
            </a:r>
          </a:p>
        </p:txBody>
      </p:sp>
    </p:spTree>
    <p:extLst>
      <p:ext uri="{BB962C8B-B14F-4D97-AF65-F5344CB8AC3E}">
        <p14:creationId xmlns:p14="http://schemas.microsoft.com/office/powerpoint/2010/main" val="2884031671"/>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FB902FF6-C49E-3C5C-91C7-82FA20A19E2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1B829B5-B6DD-A465-B486-68C0608E90DB}"/>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CABB7692-25CC-6914-C588-C3EE85B73F18}"/>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806BC874-5B85-8E9E-F70A-8E4AC1871104}"/>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13</a:t>
            </a:r>
          </a:p>
        </p:txBody>
      </p:sp>
      <p:sp>
        <p:nvSpPr>
          <p:cNvPr id="8" name="TextBox 8">
            <a:extLst>
              <a:ext uri="{FF2B5EF4-FFF2-40B4-BE49-F238E27FC236}">
                <a16:creationId xmlns:a16="http://schemas.microsoft.com/office/drawing/2014/main" id="{4C4E07B0-E2A6-67F6-3C63-F1CD6294DBC3}"/>
              </a:ext>
            </a:extLst>
          </p:cNvPr>
          <p:cNvSpPr txBox="1"/>
          <p:nvPr/>
        </p:nvSpPr>
        <p:spPr>
          <a:xfrm>
            <a:off x="762000" y="826735"/>
            <a:ext cx="12268200" cy="829073"/>
          </a:xfrm>
          <a:prstGeom prst="rect">
            <a:avLst/>
          </a:prstGeom>
        </p:spPr>
        <p:txBody>
          <a:bodyPr wrap="square" lIns="0" tIns="0" rIns="0" bIns="0" rtlCol="0" anchor="t">
            <a:spAutoFit/>
          </a:bodyPr>
          <a:lstStyle/>
          <a:p>
            <a:pPr>
              <a:lnSpc>
                <a:spcPts val="6719"/>
              </a:lnSpc>
            </a:pPr>
            <a:r>
              <a:rPr lang="en-IN" sz="4800" dirty="0">
                <a:latin typeface="Prata" panose="020B0604020202020204" charset="0"/>
              </a:rPr>
              <a:t>SYSTEM MODULES</a:t>
            </a:r>
            <a:endParaRPr lang="en-US" sz="4800" dirty="0">
              <a:solidFill>
                <a:srgbClr val="344E41"/>
              </a:solidFill>
              <a:latin typeface="Prata" panose="020B0604020202020204" charset="0"/>
              <a:ea typeface="Prata"/>
              <a:cs typeface="Prata"/>
              <a:sym typeface="Prata"/>
            </a:endParaRPr>
          </a:p>
        </p:txBody>
      </p:sp>
      <p:pic>
        <p:nvPicPr>
          <p:cNvPr id="14" name="Picture 13">
            <a:extLst>
              <a:ext uri="{FF2B5EF4-FFF2-40B4-BE49-F238E27FC236}">
                <a16:creationId xmlns:a16="http://schemas.microsoft.com/office/drawing/2014/main" id="{7B019625-ABC9-F868-8FD1-10A04F5ADD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
        <p:nvSpPr>
          <p:cNvPr id="4" name="Oval 3">
            <a:extLst>
              <a:ext uri="{FF2B5EF4-FFF2-40B4-BE49-F238E27FC236}">
                <a16:creationId xmlns:a16="http://schemas.microsoft.com/office/drawing/2014/main" id="{B5136EEC-F3DD-68FF-B1EF-5019AAAD4666}"/>
              </a:ext>
            </a:extLst>
          </p:cNvPr>
          <p:cNvSpPr/>
          <p:nvPr/>
        </p:nvSpPr>
        <p:spPr>
          <a:xfrm>
            <a:off x="152400" y="2618014"/>
            <a:ext cx="5791200" cy="5715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2D40026B-5EA4-8804-7BBF-AFF1E328289B}"/>
              </a:ext>
            </a:extLst>
          </p:cNvPr>
          <p:cNvSpPr txBox="1"/>
          <p:nvPr/>
        </p:nvSpPr>
        <p:spPr>
          <a:xfrm>
            <a:off x="609600" y="3247674"/>
            <a:ext cx="4495800" cy="3894592"/>
          </a:xfrm>
          <a:prstGeom prst="rect">
            <a:avLst/>
          </a:prstGeom>
          <a:noFill/>
        </p:spPr>
        <p:txBody>
          <a:bodyPr wrap="square">
            <a:spAutoFit/>
          </a:bodyPr>
          <a:lstStyle/>
          <a:p>
            <a:pPr algn="ctr">
              <a:lnSpc>
                <a:spcPct val="150000"/>
              </a:lnSpc>
              <a:buNone/>
            </a:pPr>
            <a:r>
              <a:rPr lang="en-IN" sz="2800" b="1" dirty="0">
                <a:latin typeface="Raleway" panose="020B0604020202020204" charset="0"/>
              </a:rPr>
              <a:t>CUSTOMER</a:t>
            </a:r>
            <a:endParaRPr lang="en-IN" sz="2800" dirty="0">
              <a:latin typeface="Raleway" panose="020B0604020202020204" charset="0"/>
            </a:endParaRPr>
          </a:p>
          <a:p>
            <a:pPr marL="342900" lvl="0" indent="-342900" algn="ctr">
              <a:lnSpc>
                <a:spcPct val="150000"/>
              </a:lnSpc>
              <a:buFont typeface="Arial" panose="020B0604020202020204" pitchFamily="34" charset="0"/>
              <a:buChar char="•"/>
            </a:pPr>
            <a:r>
              <a:rPr lang="en-IN" sz="2800" dirty="0">
                <a:latin typeface="Raleway" panose="020B0604020202020204" charset="0"/>
              </a:rPr>
              <a:t>Register / Login </a:t>
            </a:r>
          </a:p>
          <a:p>
            <a:pPr marL="342900" lvl="0" indent="-342900" algn="ctr">
              <a:lnSpc>
                <a:spcPct val="150000"/>
              </a:lnSpc>
              <a:buFont typeface="Arial" panose="020B0604020202020204" pitchFamily="34" charset="0"/>
              <a:buChar char="•"/>
            </a:pPr>
            <a:r>
              <a:rPr lang="en-IN" sz="2800" dirty="0">
                <a:latin typeface="Raleway" panose="020B0604020202020204" charset="0"/>
              </a:rPr>
              <a:t>Submit complaint </a:t>
            </a:r>
          </a:p>
          <a:p>
            <a:pPr marL="342900" lvl="0" indent="-342900" algn="ctr">
              <a:lnSpc>
                <a:spcPct val="150000"/>
              </a:lnSpc>
              <a:buFont typeface="Arial" panose="020B0604020202020204" pitchFamily="34" charset="0"/>
              <a:buChar char="•"/>
            </a:pPr>
            <a:r>
              <a:rPr lang="en-IN" sz="2800" dirty="0">
                <a:latin typeface="Raleway" panose="020B0604020202020204" charset="0"/>
              </a:rPr>
              <a:t>Receive Ticket ID </a:t>
            </a:r>
          </a:p>
          <a:p>
            <a:pPr marL="342900" lvl="0" indent="-342900" algn="ctr">
              <a:lnSpc>
                <a:spcPct val="150000"/>
              </a:lnSpc>
              <a:buFont typeface="Arial" panose="020B0604020202020204" pitchFamily="34" charset="0"/>
              <a:buChar char="•"/>
            </a:pPr>
            <a:r>
              <a:rPr lang="en-IN" sz="2800" dirty="0">
                <a:latin typeface="Raleway" panose="020B0604020202020204" charset="0"/>
              </a:rPr>
              <a:t>View complaint details </a:t>
            </a:r>
          </a:p>
          <a:p>
            <a:pPr marL="342900" lvl="0" indent="-342900" algn="ctr">
              <a:lnSpc>
                <a:spcPct val="150000"/>
              </a:lnSpc>
              <a:buFont typeface="Arial" panose="020B0604020202020204" pitchFamily="34" charset="0"/>
              <a:buChar char="•"/>
            </a:pPr>
            <a:r>
              <a:rPr lang="en-IN" sz="2800" dirty="0">
                <a:latin typeface="Raleway" panose="020B0604020202020204" charset="0"/>
              </a:rPr>
              <a:t>Track complaint status</a:t>
            </a:r>
          </a:p>
        </p:txBody>
      </p:sp>
      <p:sp>
        <p:nvSpPr>
          <p:cNvPr id="12" name="Oval 11">
            <a:extLst>
              <a:ext uri="{FF2B5EF4-FFF2-40B4-BE49-F238E27FC236}">
                <a16:creationId xmlns:a16="http://schemas.microsoft.com/office/drawing/2014/main" id="{72E3A2AE-6C69-518E-2B6E-02B13074741E}"/>
              </a:ext>
            </a:extLst>
          </p:cNvPr>
          <p:cNvSpPr/>
          <p:nvPr/>
        </p:nvSpPr>
        <p:spPr>
          <a:xfrm>
            <a:off x="6248400" y="2570208"/>
            <a:ext cx="5791200" cy="5715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442B91C7-3AAB-9FD6-7D73-9AC4AE270F12}"/>
              </a:ext>
            </a:extLst>
          </p:cNvPr>
          <p:cNvSpPr/>
          <p:nvPr/>
        </p:nvSpPr>
        <p:spPr>
          <a:xfrm>
            <a:off x="12344400" y="2618014"/>
            <a:ext cx="5791200" cy="5715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9630501F-D0FD-7365-6EE6-440F36B889B1}"/>
              </a:ext>
            </a:extLst>
          </p:cNvPr>
          <p:cNvSpPr txBox="1"/>
          <p:nvPr/>
        </p:nvSpPr>
        <p:spPr>
          <a:xfrm>
            <a:off x="6079671" y="3269445"/>
            <a:ext cx="5959929" cy="3894592"/>
          </a:xfrm>
          <a:prstGeom prst="rect">
            <a:avLst/>
          </a:prstGeom>
          <a:noFill/>
        </p:spPr>
        <p:txBody>
          <a:bodyPr wrap="square">
            <a:spAutoFit/>
          </a:bodyPr>
          <a:lstStyle/>
          <a:p>
            <a:pPr algn="ctr">
              <a:lnSpc>
                <a:spcPct val="150000"/>
              </a:lnSpc>
            </a:pPr>
            <a:r>
              <a:rPr lang="en-IN" sz="2800" b="1" dirty="0">
                <a:latin typeface="Raleway" panose="020B0604020202020204" charset="0"/>
              </a:rPr>
              <a:t>EMPLOYEE</a:t>
            </a:r>
            <a:endParaRPr lang="en-IN" sz="2800" dirty="0">
              <a:latin typeface="Raleway" panose="020B0604020202020204" charset="0"/>
            </a:endParaRPr>
          </a:p>
          <a:p>
            <a:pPr marL="457200" lvl="0" indent="-457200" algn="ctr">
              <a:lnSpc>
                <a:spcPct val="150000"/>
              </a:lnSpc>
              <a:buFont typeface="Arial" panose="020B0604020202020204" pitchFamily="34" charset="0"/>
              <a:buChar char="•"/>
            </a:pPr>
            <a:r>
              <a:rPr lang="en-IN" sz="2800" dirty="0">
                <a:latin typeface="Raleway" panose="020B0604020202020204" charset="0"/>
              </a:rPr>
              <a:t>Login </a:t>
            </a:r>
          </a:p>
          <a:p>
            <a:pPr marL="457200" lvl="0" indent="-457200" algn="ctr">
              <a:lnSpc>
                <a:spcPct val="150000"/>
              </a:lnSpc>
              <a:buFont typeface="Arial" panose="020B0604020202020204" pitchFamily="34" charset="0"/>
              <a:buChar char="•"/>
            </a:pPr>
            <a:r>
              <a:rPr lang="en-IN" sz="2800" dirty="0">
                <a:latin typeface="Raleway" panose="020B0604020202020204" charset="0"/>
              </a:rPr>
              <a:t>View assigned complaints </a:t>
            </a:r>
          </a:p>
          <a:p>
            <a:pPr marL="457200" lvl="0" indent="-457200" algn="ctr">
              <a:lnSpc>
                <a:spcPct val="150000"/>
              </a:lnSpc>
              <a:buFont typeface="Arial" panose="020B0604020202020204" pitchFamily="34" charset="0"/>
              <a:buChar char="•"/>
            </a:pPr>
            <a:r>
              <a:rPr lang="en-IN" sz="2800" dirty="0">
                <a:latin typeface="Raleway" panose="020B0604020202020204" charset="0"/>
              </a:rPr>
              <a:t>Update complaint status </a:t>
            </a:r>
          </a:p>
          <a:p>
            <a:pPr marL="457200" lvl="0" indent="-457200" algn="ctr">
              <a:lnSpc>
                <a:spcPct val="150000"/>
              </a:lnSpc>
              <a:buFont typeface="Arial" panose="020B0604020202020204" pitchFamily="34" charset="0"/>
              <a:buChar char="•"/>
            </a:pPr>
            <a:r>
              <a:rPr lang="en-IN" sz="2800" dirty="0">
                <a:latin typeface="Raleway" panose="020B0604020202020204" charset="0"/>
              </a:rPr>
              <a:t>Add remarks </a:t>
            </a:r>
          </a:p>
          <a:p>
            <a:pPr marL="457200" lvl="0" indent="-457200" algn="ctr">
              <a:lnSpc>
                <a:spcPct val="150000"/>
              </a:lnSpc>
              <a:buFont typeface="Arial" panose="020B0604020202020204" pitchFamily="34" charset="0"/>
              <a:buChar char="•"/>
            </a:pPr>
            <a:r>
              <a:rPr lang="en-IN" sz="2800" dirty="0">
                <a:latin typeface="Raleway" panose="020B0604020202020204" charset="0"/>
              </a:rPr>
              <a:t>Resolve complaints</a:t>
            </a:r>
          </a:p>
        </p:txBody>
      </p:sp>
      <p:sp>
        <p:nvSpPr>
          <p:cNvPr id="19" name="TextBox 18">
            <a:extLst>
              <a:ext uri="{FF2B5EF4-FFF2-40B4-BE49-F238E27FC236}">
                <a16:creationId xmlns:a16="http://schemas.microsoft.com/office/drawing/2014/main" id="{65499726-6EEE-EB00-9292-DCCC1D5C0F89}"/>
              </a:ext>
            </a:extLst>
          </p:cNvPr>
          <p:cNvSpPr txBox="1"/>
          <p:nvPr/>
        </p:nvSpPr>
        <p:spPr>
          <a:xfrm>
            <a:off x="10668000" y="2946279"/>
            <a:ext cx="9144000" cy="4540923"/>
          </a:xfrm>
          <a:prstGeom prst="rect">
            <a:avLst/>
          </a:prstGeom>
          <a:noFill/>
        </p:spPr>
        <p:txBody>
          <a:bodyPr wrap="square">
            <a:spAutoFit/>
          </a:bodyPr>
          <a:lstStyle/>
          <a:p>
            <a:pPr algn="ctr">
              <a:lnSpc>
                <a:spcPct val="150000"/>
              </a:lnSpc>
              <a:buNone/>
            </a:pPr>
            <a:r>
              <a:rPr lang="en-IN" sz="2750" b="1" dirty="0">
                <a:latin typeface="Raleway" panose="020B0604020202020204" charset="0"/>
              </a:rPr>
              <a:t>ADMINISTRATOR</a:t>
            </a:r>
            <a:endParaRPr lang="en-IN" sz="2750" dirty="0">
              <a:latin typeface="Raleway" panose="020B0604020202020204" charset="0"/>
            </a:endParaRPr>
          </a:p>
          <a:p>
            <a:pPr marL="342900" lvl="0" indent="-342900" algn="ctr">
              <a:lnSpc>
                <a:spcPct val="150000"/>
              </a:lnSpc>
              <a:buFont typeface="Arial" panose="020B0604020202020204" pitchFamily="34" charset="0"/>
              <a:buChar char="•"/>
            </a:pPr>
            <a:r>
              <a:rPr lang="en-IN" sz="2750" dirty="0">
                <a:latin typeface="Raleway" panose="020B0604020202020204" charset="0"/>
              </a:rPr>
              <a:t>Manage customers </a:t>
            </a:r>
          </a:p>
          <a:p>
            <a:pPr marL="342900" lvl="0" indent="-342900" algn="ctr">
              <a:lnSpc>
                <a:spcPct val="150000"/>
              </a:lnSpc>
              <a:buFont typeface="Arial" panose="020B0604020202020204" pitchFamily="34" charset="0"/>
              <a:buChar char="•"/>
            </a:pPr>
            <a:r>
              <a:rPr lang="en-IN" sz="2750" dirty="0">
                <a:latin typeface="Raleway" panose="020B0604020202020204" charset="0"/>
              </a:rPr>
              <a:t>Manage employees </a:t>
            </a:r>
          </a:p>
          <a:p>
            <a:pPr marL="342900" lvl="0" indent="-342900" algn="ctr">
              <a:lnSpc>
                <a:spcPct val="150000"/>
              </a:lnSpc>
              <a:buFont typeface="Arial" panose="020B0604020202020204" pitchFamily="34" charset="0"/>
              <a:buChar char="•"/>
            </a:pPr>
            <a:r>
              <a:rPr lang="en-IN" sz="2750" dirty="0">
                <a:latin typeface="Raleway" panose="020B0604020202020204" charset="0"/>
              </a:rPr>
              <a:t>Manage departments </a:t>
            </a:r>
          </a:p>
          <a:p>
            <a:pPr marL="342900" lvl="0" indent="-342900" algn="ctr">
              <a:lnSpc>
                <a:spcPct val="150000"/>
              </a:lnSpc>
              <a:buFont typeface="Arial" panose="020B0604020202020204" pitchFamily="34" charset="0"/>
              <a:buChar char="•"/>
            </a:pPr>
            <a:r>
              <a:rPr lang="en-IN" sz="2750" dirty="0">
                <a:latin typeface="Raleway" panose="020B0604020202020204" charset="0"/>
              </a:rPr>
              <a:t>Manage complaints </a:t>
            </a:r>
          </a:p>
          <a:p>
            <a:pPr marL="342900" lvl="0" indent="-342900" algn="ctr">
              <a:lnSpc>
                <a:spcPct val="150000"/>
              </a:lnSpc>
              <a:buFont typeface="Arial" panose="020B0604020202020204" pitchFamily="34" charset="0"/>
              <a:buChar char="•"/>
            </a:pPr>
            <a:r>
              <a:rPr lang="en-IN" sz="2750" dirty="0">
                <a:latin typeface="Raleway" panose="020B0604020202020204" charset="0"/>
              </a:rPr>
              <a:t>View complaint statistics </a:t>
            </a:r>
          </a:p>
          <a:p>
            <a:pPr marL="342900" lvl="0" indent="-342900" algn="ctr">
              <a:lnSpc>
                <a:spcPct val="150000"/>
              </a:lnSpc>
              <a:buFont typeface="Arial" panose="020B0604020202020204" pitchFamily="34" charset="0"/>
              <a:buChar char="•"/>
            </a:pPr>
            <a:r>
              <a:rPr lang="en-IN" sz="2750" dirty="0">
                <a:latin typeface="Raleway" panose="020B0604020202020204" charset="0"/>
              </a:rPr>
              <a:t>Monitor system analytics</a:t>
            </a:r>
          </a:p>
        </p:txBody>
      </p:sp>
    </p:spTree>
    <p:extLst>
      <p:ext uri="{BB962C8B-B14F-4D97-AF65-F5344CB8AC3E}">
        <p14:creationId xmlns:p14="http://schemas.microsoft.com/office/powerpoint/2010/main" val="249246234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2" name="TextBox 2"/>
          <p:cNvSpPr txBox="1"/>
          <p:nvPr/>
        </p:nvSpPr>
        <p:spPr>
          <a:xfrm>
            <a:off x="2776554" y="4533900"/>
            <a:ext cx="12734892" cy="1535036"/>
          </a:xfrm>
          <a:prstGeom prst="rect">
            <a:avLst/>
          </a:prstGeom>
        </p:spPr>
        <p:txBody>
          <a:bodyPr lIns="0" tIns="0" rIns="0" bIns="0" rtlCol="0" anchor="t">
            <a:spAutoFit/>
          </a:bodyPr>
          <a:lstStyle/>
          <a:p>
            <a:pPr algn="ctr">
              <a:lnSpc>
                <a:spcPts val="11400"/>
              </a:lnSpc>
            </a:pPr>
            <a:r>
              <a:rPr lang="en-US" sz="11400" dirty="0">
                <a:solidFill>
                  <a:srgbClr val="344E41"/>
                </a:solidFill>
                <a:latin typeface="Prata"/>
                <a:ea typeface="Prata"/>
                <a:cs typeface="Prata"/>
                <a:sym typeface="Prata"/>
              </a:rPr>
              <a:t>THANK YOU</a:t>
            </a:r>
          </a:p>
        </p:txBody>
      </p:sp>
      <p:grpSp>
        <p:nvGrpSpPr>
          <p:cNvPr id="3" name="Group 3"/>
          <p:cNvGrpSpPr/>
          <p:nvPr/>
        </p:nvGrpSpPr>
        <p:grpSpPr>
          <a:xfrm>
            <a:off x="0" y="9258300"/>
            <a:ext cx="18288000" cy="10287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10" name="TextBox 7">
            <a:extLst>
              <a:ext uri="{FF2B5EF4-FFF2-40B4-BE49-F238E27FC236}">
                <a16:creationId xmlns:a16="http://schemas.microsoft.com/office/drawing/2014/main" id="{AF43FBDD-9F48-12BC-B0E4-FE89E68007E9}"/>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14</a:t>
            </a:r>
          </a:p>
        </p:txBody>
      </p:sp>
      <p:pic>
        <p:nvPicPr>
          <p:cNvPr id="12" name="Picture 11">
            <a:extLst>
              <a:ext uri="{FF2B5EF4-FFF2-40B4-BE49-F238E27FC236}">
                <a16:creationId xmlns:a16="http://schemas.microsoft.com/office/drawing/2014/main" id="{4FE86A1C-5221-116F-EF68-28F5BEEAE7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25800" y="-69011"/>
            <a:ext cx="2395447" cy="1200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635</TotalTime>
  <Words>1493</Words>
  <Application>Microsoft Office PowerPoint</Application>
  <PresentationFormat>Custom</PresentationFormat>
  <Paragraphs>198</Paragraphs>
  <Slides>14</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Raleway</vt:lpstr>
      <vt:lpstr>Arial</vt:lpstr>
      <vt:lpstr>Raleway Bold</vt:lpstr>
      <vt:lpstr>Calibri</vt:lpstr>
      <vt:lpstr>Prata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Monochromatic Simple The Minimalist Presentation Template</dc:title>
  <dc:creator>Kundana Mani</dc:creator>
  <cp:lastModifiedBy>Kundana Mani B</cp:lastModifiedBy>
  <cp:revision>11</cp:revision>
  <dcterms:created xsi:type="dcterms:W3CDTF">2006-08-16T00:00:00Z</dcterms:created>
  <dcterms:modified xsi:type="dcterms:W3CDTF">2026-08-25T16:04:55Z</dcterms:modified>
  <dc:identifier>DAHRUIAc530</dc:identifier>
</cp:coreProperties>
</file>