
<file path=[Content_Types].xml><?xml version="1.0" encoding="utf-8"?>
<Types xmlns="http://schemas.openxmlformats.org/package/2006/content-types">
  <Default Extension="fntdata" ContentType="application/x-fontdata"/>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60" r:id="rId3"/>
    <p:sldId id="273" r:id="rId4"/>
    <p:sldId id="275" r:id="rId5"/>
    <p:sldId id="276" r:id="rId6"/>
    <p:sldId id="277" r:id="rId7"/>
    <p:sldId id="278" r:id="rId8"/>
    <p:sldId id="279" r:id="rId9"/>
    <p:sldId id="281" r:id="rId10"/>
    <p:sldId id="283" r:id="rId11"/>
    <p:sldId id="284" r:id="rId12"/>
    <p:sldId id="282" r:id="rId13"/>
    <p:sldId id="280" r:id="rId14"/>
    <p:sldId id="265" r:id="rId15"/>
  </p:sldIdLst>
  <p:sldSz cx="18288000" cy="10287000"/>
  <p:notesSz cx="6858000" cy="9144000"/>
  <p:embeddedFontLst>
    <p:embeddedFont>
      <p:font typeface="Prata" panose="020B0604020202020204" charset="0"/>
      <p:regular r:id="rId17"/>
    </p:embeddedFont>
    <p:embeddedFont>
      <p:font typeface="Raleway"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3B18A"/>
    <a:srgbClr val="DAD7CD"/>
    <a:srgbClr val="91B44A"/>
    <a:srgbClr val="679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1738" autoAdjust="0"/>
  </p:normalViewPr>
  <p:slideViewPr>
    <p:cSldViewPr>
      <p:cViewPr varScale="1">
        <p:scale>
          <a:sx n="39" d="100"/>
          <a:sy n="39" d="100"/>
        </p:scale>
        <p:origin x="94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E6CA9-397A-4E5A-A759-0034275F8D08}" type="datetimeFigureOut">
              <a:rPr lang="en-IN" smtClean="0"/>
              <a:t>16-10-2026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51B677-E104-40AF-8F31-261290023787}" type="slidenum">
              <a:rPr lang="en-IN" smtClean="0"/>
              <a:t>‹#›</a:t>
            </a:fld>
            <a:endParaRPr lang="en-IN"/>
          </a:p>
        </p:txBody>
      </p:sp>
    </p:spTree>
    <p:extLst>
      <p:ext uri="{BB962C8B-B14F-4D97-AF65-F5344CB8AC3E}">
        <p14:creationId xmlns:p14="http://schemas.microsoft.com/office/powerpoint/2010/main" val="29247334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dirty="0"/>
              <a:t>Good morning everyone.</a:t>
            </a:r>
          </a:p>
          <a:p>
            <a:r>
              <a:rPr lang="en-IN" b="0" dirty="0"/>
              <a:t>Our project is titled AI-Powered Banking Customer Complaint Management System using BERT.</a:t>
            </a:r>
          </a:p>
          <a:p>
            <a:r>
              <a:rPr lang="en-IN" b="0" dirty="0"/>
              <a:t>The objective of this project is to automate the complete complaint management process in banks using Artificial Intelligence.</a:t>
            </a:r>
          </a:p>
          <a:p>
            <a:r>
              <a:rPr lang="en-IN" b="0" dirty="0"/>
              <a:t>Instead of manually reading complaints, our system uses the BERT language model to understand complaint narratives, classify them into multiple categories, and automatically generate ticket information, assign departments, prioritize complaints, and provide dashboards for customers, employees, and administrators.</a:t>
            </a:r>
          </a:p>
          <a:p>
            <a:endParaRPr lang="en-IN" b="0" dirty="0"/>
          </a:p>
        </p:txBody>
      </p:sp>
      <p:sp>
        <p:nvSpPr>
          <p:cNvPr id="4" name="Slide Number Placeholder 3"/>
          <p:cNvSpPr>
            <a:spLocks noGrp="1"/>
          </p:cNvSpPr>
          <p:nvPr>
            <p:ph type="sldNum" sz="quarter" idx="5"/>
          </p:nvPr>
        </p:nvSpPr>
        <p:spPr/>
        <p:txBody>
          <a:bodyPr/>
          <a:lstStyle/>
          <a:p>
            <a:fld id="{5451B677-E104-40AF-8F31-261290023787}" type="slidenum">
              <a:rPr lang="en-IN" smtClean="0"/>
              <a:t>1</a:t>
            </a:fld>
            <a:endParaRPr lang="en-IN"/>
          </a:p>
        </p:txBody>
      </p:sp>
    </p:spTree>
    <p:extLst>
      <p:ext uri="{BB962C8B-B14F-4D97-AF65-F5344CB8AC3E}">
        <p14:creationId xmlns:p14="http://schemas.microsoft.com/office/powerpoint/2010/main" val="3030294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72DCD-D099-0965-4FA3-2FED4481B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A0D597-19C4-34A0-2BF5-379B8678E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96682-416C-7DEF-BE62-0FA050C3B659}"/>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E4F7B6D4-0946-DE09-D255-61BE492B8C3B}"/>
              </a:ext>
            </a:extLst>
          </p:cNvPr>
          <p:cNvSpPr>
            <a:spLocks noGrp="1"/>
          </p:cNvSpPr>
          <p:nvPr>
            <p:ph type="sldNum" sz="quarter" idx="5"/>
          </p:nvPr>
        </p:nvSpPr>
        <p:spPr/>
        <p:txBody>
          <a:bodyPr/>
          <a:lstStyle/>
          <a:p>
            <a:fld id="{5451B677-E104-40AF-8F31-261290023787}" type="slidenum">
              <a:rPr lang="en-IN" smtClean="0"/>
              <a:t>3</a:t>
            </a:fld>
            <a:endParaRPr lang="en-IN"/>
          </a:p>
        </p:txBody>
      </p:sp>
    </p:spTree>
    <p:extLst>
      <p:ext uri="{BB962C8B-B14F-4D97-AF65-F5344CB8AC3E}">
        <p14:creationId xmlns:p14="http://schemas.microsoft.com/office/powerpoint/2010/main" val="988389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D4F2-9100-132B-E6FB-25983C48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318E-59FB-D871-6DBC-5C5A536F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B3644-67D2-791F-36D2-F629E026993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525313F-377B-58EA-9B50-1112D53A188D}"/>
              </a:ext>
            </a:extLst>
          </p:cNvPr>
          <p:cNvSpPr>
            <a:spLocks noGrp="1"/>
          </p:cNvSpPr>
          <p:nvPr>
            <p:ph type="sldNum" sz="quarter" idx="5"/>
          </p:nvPr>
        </p:nvSpPr>
        <p:spPr/>
        <p:txBody>
          <a:bodyPr/>
          <a:lstStyle/>
          <a:p>
            <a:fld id="{5451B677-E104-40AF-8F31-261290023787}" type="slidenum">
              <a:rPr lang="en-IN" smtClean="0"/>
              <a:t>4</a:t>
            </a:fld>
            <a:endParaRPr lang="en-IN"/>
          </a:p>
        </p:txBody>
      </p:sp>
    </p:spTree>
    <p:extLst>
      <p:ext uri="{BB962C8B-B14F-4D97-AF65-F5344CB8AC3E}">
        <p14:creationId xmlns:p14="http://schemas.microsoft.com/office/powerpoint/2010/main" val="3439674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E1F57-061E-EDA1-C462-4C39AB7FE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2E134-29C9-D5B6-91E6-78F10A7A68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C43B8F-7FD7-5C39-AAC9-D2A0862BBE23}"/>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2CBA413F-59A4-6B47-2A7E-5FC6A093E5F7}"/>
              </a:ext>
            </a:extLst>
          </p:cNvPr>
          <p:cNvSpPr>
            <a:spLocks noGrp="1"/>
          </p:cNvSpPr>
          <p:nvPr>
            <p:ph type="sldNum" sz="quarter" idx="5"/>
          </p:nvPr>
        </p:nvSpPr>
        <p:spPr/>
        <p:txBody>
          <a:bodyPr/>
          <a:lstStyle/>
          <a:p>
            <a:fld id="{5451B677-E104-40AF-8F31-261290023787}" type="slidenum">
              <a:rPr lang="en-IN" smtClean="0"/>
              <a:t>5</a:t>
            </a:fld>
            <a:endParaRPr lang="en-IN"/>
          </a:p>
        </p:txBody>
      </p:sp>
    </p:spTree>
    <p:extLst>
      <p:ext uri="{BB962C8B-B14F-4D97-AF65-F5344CB8AC3E}">
        <p14:creationId xmlns:p14="http://schemas.microsoft.com/office/powerpoint/2010/main" val="3027785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DC6E4-4885-DD5F-92DB-C5B00F54CC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AEFC2-7EFD-98F6-C22F-53B53B0F3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3F9E23-074B-407C-B06E-107730A4F3FD}"/>
              </a:ext>
            </a:extLst>
          </p:cNvPr>
          <p:cNvSpPr>
            <a:spLocks noGrp="1"/>
          </p:cNvSpPr>
          <p:nvPr>
            <p:ph type="body" idx="1"/>
          </p:nvPr>
        </p:nvSpPr>
        <p:spPr/>
        <p:txBody>
          <a:bodyPr/>
          <a:lstStyle/>
          <a:p>
            <a:r>
              <a:rPr lang="en-IN" b="0" dirty="0"/>
              <a:t>Why These Columns?</a:t>
            </a:r>
          </a:p>
          <a:p>
            <a:pPr lvl="0"/>
            <a:r>
              <a:rPr lang="en-IN" b="0" dirty="0"/>
              <a:t>Complaint Narrative contains the contextual information required for classification. </a:t>
            </a:r>
          </a:p>
          <a:p>
            <a:pPr lvl="0"/>
            <a:r>
              <a:rPr lang="en-IN" b="0" dirty="0"/>
              <a:t>Product, Sub-product, Issue, and Sub-issue serve as target labels for BERT training. </a:t>
            </a:r>
          </a:p>
          <a:p>
            <a:pPr lvl="0"/>
            <a:r>
              <a:rPr lang="en-IN" b="0" dirty="0"/>
              <a:t>Other columns (Company, State, ZIP Code, Date Received, Company Response, etc.) were excluded because they are either unavailable during prediction, unrelated to complaint semantics, or may introduce bias and data leakage. </a:t>
            </a:r>
          </a:p>
          <a:p>
            <a:br>
              <a:rPr lang="en-IN" b="0" dirty="0"/>
            </a:br>
            <a:endParaRPr lang="en-IN" b="0" dirty="0"/>
          </a:p>
          <a:p>
            <a:r>
              <a:rPr lang="en-IN" b="0" dirty="0"/>
              <a:t>Why CFPB Dataset?</a:t>
            </a:r>
          </a:p>
          <a:p>
            <a:pPr lvl="0"/>
            <a:r>
              <a:rPr lang="en-IN" b="0" dirty="0"/>
              <a:t>Large real-world banking complaint dataset. </a:t>
            </a:r>
          </a:p>
          <a:p>
            <a:pPr lvl="0"/>
            <a:r>
              <a:rPr lang="en-IN" b="0" dirty="0"/>
              <a:t>Officially published by the U.S. Consumer Financial Protection Bureau. </a:t>
            </a:r>
          </a:p>
          <a:p>
            <a:pPr lvl="0"/>
            <a:r>
              <a:rPr lang="en-IN" b="0" dirty="0"/>
              <a:t>Contains diverse financial complaint narratives. </a:t>
            </a:r>
          </a:p>
          <a:p>
            <a:pPr lvl="0"/>
            <a:r>
              <a:rPr lang="en-IN" b="0" dirty="0"/>
              <a:t>Well-suited for training NLP and BERT-based complaint classification models.</a:t>
            </a:r>
          </a:p>
          <a:p>
            <a:endParaRPr lang="en-IN" b="0" dirty="0"/>
          </a:p>
        </p:txBody>
      </p:sp>
      <p:sp>
        <p:nvSpPr>
          <p:cNvPr id="4" name="Slide Number Placeholder 3">
            <a:extLst>
              <a:ext uri="{FF2B5EF4-FFF2-40B4-BE49-F238E27FC236}">
                <a16:creationId xmlns:a16="http://schemas.microsoft.com/office/drawing/2014/main" id="{D13DBB93-1A34-785A-A4A5-0C8B9ADDDAAD}"/>
              </a:ext>
            </a:extLst>
          </p:cNvPr>
          <p:cNvSpPr>
            <a:spLocks noGrp="1"/>
          </p:cNvSpPr>
          <p:nvPr>
            <p:ph type="sldNum" sz="quarter" idx="5"/>
          </p:nvPr>
        </p:nvSpPr>
        <p:spPr/>
        <p:txBody>
          <a:bodyPr/>
          <a:lstStyle/>
          <a:p>
            <a:fld id="{5451B677-E104-40AF-8F31-261290023787}" type="slidenum">
              <a:rPr lang="en-IN" smtClean="0"/>
              <a:t>6</a:t>
            </a:fld>
            <a:endParaRPr lang="en-IN"/>
          </a:p>
        </p:txBody>
      </p:sp>
    </p:spTree>
    <p:extLst>
      <p:ext uri="{BB962C8B-B14F-4D97-AF65-F5344CB8AC3E}">
        <p14:creationId xmlns:p14="http://schemas.microsoft.com/office/powerpoint/2010/main" val="915789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5D4F2-9100-132B-E6FB-25983C48E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A318E-59FB-D871-6DBC-5C5A536F37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B3644-67D2-791F-36D2-F629E026993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525313F-377B-58EA-9B50-1112D53A188D}"/>
              </a:ext>
            </a:extLst>
          </p:cNvPr>
          <p:cNvSpPr>
            <a:spLocks noGrp="1"/>
          </p:cNvSpPr>
          <p:nvPr>
            <p:ph type="sldNum" sz="quarter" idx="5"/>
          </p:nvPr>
        </p:nvSpPr>
        <p:spPr/>
        <p:txBody>
          <a:bodyPr/>
          <a:lstStyle/>
          <a:p>
            <a:fld id="{5451B677-E104-40AF-8F31-261290023787}" type="slidenum">
              <a:rPr lang="en-IN" smtClean="0"/>
              <a:t>7</a:t>
            </a:fld>
            <a:endParaRPr lang="en-IN"/>
          </a:p>
        </p:txBody>
      </p:sp>
    </p:spTree>
    <p:extLst>
      <p:ext uri="{BB962C8B-B14F-4D97-AF65-F5344CB8AC3E}">
        <p14:creationId xmlns:p14="http://schemas.microsoft.com/office/powerpoint/2010/main" val="34396742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14204-1482-D0D0-0A6C-060F43148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AA5A7E-3880-6331-42A3-7C77F5C837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FC8F3-7159-951C-20BD-E3F5CEF3F84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EA8C31CF-AE09-ED55-4B33-92AF8CB7AA45}"/>
              </a:ext>
            </a:extLst>
          </p:cNvPr>
          <p:cNvSpPr>
            <a:spLocks noGrp="1"/>
          </p:cNvSpPr>
          <p:nvPr>
            <p:ph type="sldNum" sz="quarter" idx="5"/>
          </p:nvPr>
        </p:nvSpPr>
        <p:spPr/>
        <p:txBody>
          <a:bodyPr/>
          <a:lstStyle/>
          <a:p>
            <a:fld id="{5451B677-E104-40AF-8F31-261290023787}" type="slidenum">
              <a:rPr lang="en-IN" smtClean="0"/>
              <a:t>8</a:t>
            </a:fld>
            <a:endParaRPr lang="en-IN"/>
          </a:p>
        </p:txBody>
      </p:sp>
    </p:spTree>
    <p:extLst>
      <p:ext uri="{BB962C8B-B14F-4D97-AF65-F5344CB8AC3E}">
        <p14:creationId xmlns:p14="http://schemas.microsoft.com/office/powerpoint/2010/main" val="2913082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756FE-131E-9C02-5545-B50325189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2B06ED-BD5D-236D-0EA1-9C2306839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AC0540-5029-698B-D756-AC406F923C7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CA24A8F-4F6C-5CE2-7D54-0F9F576EA7BE}"/>
              </a:ext>
            </a:extLst>
          </p:cNvPr>
          <p:cNvSpPr>
            <a:spLocks noGrp="1"/>
          </p:cNvSpPr>
          <p:nvPr>
            <p:ph type="sldNum" sz="quarter" idx="5"/>
          </p:nvPr>
        </p:nvSpPr>
        <p:spPr/>
        <p:txBody>
          <a:bodyPr/>
          <a:lstStyle/>
          <a:p>
            <a:fld id="{5451B677-E104-40AF-8F31-261290023787}" type="slidenum">
              <a:rPr lang="en-IN" smtClean="0"/>
              <a:t>9</a:t>
            </a:fld>
            <a:endParaRPr lang="en-IN"/>
          </a:p>
        </p:txBody>
      </p:sp>
    </p:spTree>
    <p:extLst>
      <p:ext uri="{BB962C8B-B14F-4D97-AF65-F5344CB8AC3E}">
        <p14:creationId xmlns:p14="http://schemas.microsoft.com/office/powerpoint/2010/main" val="2986172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A691E-F1A8-FBBB-5AE4-02BDAC444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05BB3D-3A86-12E3-14D3-CEEDC9D55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7B950A-CF45-CAD9-8002-74AAE71AC26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A4B7BAE-2AA1-2B56-4E14-9A1473871DD6}"/>
              </a:ext>
            </a:extLst>
          </p:cNvPr>
          <p:cNvSpPr>
            <a:spLocks noGrp="1"/>
          </p:cNvSpPr>
          <p:nvPr>
            <p:ph type="sldNum" sz="quarter" idx="5"/>
          </p:nvPr>
        </p:nvSpPr>
        <p:spPr/>
        <p:txBody>
          <a:bodyPr/>
          <a:lstStyle/>
          <a:p>
            <a:fld id="{5451B677-E104-40AF-8F31-261290023787}" type="slidenum">
              <a:rPr lang="en-IN" smtClean="0"/>
              <a:t>10</a:t>
            </a:fld>
            <a:endParaRPr lang="en-IN"/>
          </a:p>
        </p:txBody>
      </p:sp>
    </p:spTree>
    <p:extLst>
      <p:ext uri="{BB962C8B-B14F-4D97-AF65-F5344CB8AC3E}">
        <p14:creationId xmlns:p14="http://schemas.microsoft.com/office/powerpoint/2010/main" val="2898606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1190-6055-A31D-4D20-2DBF4ACB9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0CE19-15D5-BE45-7B25-EE28717947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EAF6A1-81FB-37A9-BB80-8239FA03DB2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63B21E6-BD97-8CDB-001A-6AF550C421FF}"/>
              </a:ext>
            </a:extLst>
          </p:cNvPr>
          <p:cNvSpPr>
            <a:spLocks noGrp="1"/>
          </p:cNvSpPr>
          <p:nvPr>
            <p:ph type="sldNum" sz="quarter" idx="5"/>
          </p:nvPr>
        </p:nvSpPr>
        <p:spPr/>
        <p:txBody>
          <a:bodyPr/>
          <a:lstStyle/>
          <a:p>
            <a:fld id="{5451B677-E104-40AF-8F31-261290023787}" type="slidenum">
              <a:rPr lang="en-IN" smtClean="0"/>
              <a:t>11</a:t>
            </a:fld>
            <a:endParaRPr lang="en-IN"/>
          </a:p>
        </p:txBody>
      </p:sp>
    </p:spTree>
    <p:extLst>
      <p:ext uri="{BB962C8B-B14F-4D97-AF65-F5344CB8AC3E}">
        <p14:creationId xmlns:p14="http://schemas.microsoft.com/office/powerpoint/2010/main" val="18551771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EEE98-02A0-7EB9-13E3-4870FF88E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28339-D29C-88CA-145D-50F678B27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AD5C5-E1B2-8CD3-66BD-6F0EC5DEC8A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8A88C76-1C99-132A-A351-A13B611694D2}"/>
              </a:ext>
            </a:extLst>
          </p:cNvPr>
          <p:cNvSpPr>
            <a:spLocks noGrp="1"/>
          </p:cNvSpPr>
          <p:nvPr>
            <p:ph type="sldNum" sz="quarter" idx="5"/>
          </p:nvPr>
        </p:nvSpPr>
        <p:spPr/>
        <p:txBody>
          <a:bodyPr/>
          <a:lstStyle/>
          <a:p>
            <a:fld id="{5451B677-E104-40AF-8F31-261290023787}" type="slidenum">
              <a:rPr lang="en-IN" smtClean="0"/>
              <a:t>12</a:t>
            </a:fld>
            <a:endParaRPr lang="en-IN"/>
          </a:p>
        </p:txBody>
      </p:sp>
    </p:spTree>
    <p:extLst>
      <p:ext uri="{BB962C8B-B14F-4D97-AF65-F5344CB8AC3E}">
        <p14:creationId xmlns:p14="http://schemas.microsoft.com/office/powerpoint/2010/main" val="3428731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9534A-3B48-E7E5-8BA0-27D06DAD09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9863A-67B6-7773-18A6-6025528C18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676ED-9B8D-834B-6810-D0B0D2905EF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35406DC-8297-F453-47C8-6102A0325EEA}"/>
              </a:ext>
            </a:extLst>
          </p:cNvPr>
          <p:cNvSpPr>
            <a:spLocks noGrp="1"/>
          </p:cNvSpPr>
          <p:nvPr>
            <p:ph type="sldNum" sz="quarter" idx="5"/>
          </p:nvPr>
        </p:nvSpPr>
        <p:spPr/>
        <p:txBody>
          <a:bodyPr/>
          <a:lstStyle/>
          <a:p>
            <a:fld id="{5451B677-E104-40AF-8F31-261290023787}" type="slidenum">
              <a:rPr lang="en-IN" smtClean="0"/>
              <a:t>13</a:t>
            </a:fld>
            <a:endParaRPr lang="en-IN"/>
          </a:p>
        </p:txBody>
      </p:sp>
    </p:spTree>
    <p:extLst>
      <p:ext uri="{BB962C8B-B14F-4D97-AF65-F5344CB8AC3E}">
        <p14:creationId xmlns:p14="http://schemas.microsoft.com/office/powerpoint/2010/main" val="327038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667000" y="1648825"/>
            <a:ext cx="12734892" cy="5713102"/>
          </a:xfrm>
          <a:prstGeom prst="rect">
            <a:avLst/>
          </a:prstGeom>
        </p:spPr>
        <p:txBody>
          <a:bodyPr lIns="0" tIns="0" rIns="0" bIns="0" rtlCol="0" anchor="t">
            <a:spAutoFit/>
          </a:bodyPr>
          <a:lstStyle/>
          <a:p>
            <a:pPr algn="ctr">
              <a:lnSpc>
                <a:spcPts val="11400"/>
              </a:lnSpc>
            </a:pPr>
            <a:r>
              <a:rPr lang="en-IN" sz="6600" b="1" dirty="0">
                <a:solidFill>
                  <a:schemeClr val="accent3">
                    <a:lumMod val="50000"/>
                  </a:schemeClr>
                </a:solidFill>
                <a:latin typeface="Prata" panose="020B0604020202020204" charset="0"/>
              </a:rPr>
              <a:t>AI-POWERED BANKING CUSTOMER COMPLAINT MANAGEMENT SYSTEM USING BERT</a:t>
            </a:r>
            <a:endParaRPr lang="en-US" sz="7200" b="1" dirty="0">
              <a:solidFill>
                <a:schemeClr val="accent3">
                  <a:lumMod val="50000"/>
                </a:schemeClr>
              </a:solidFill>
              <a:latin typeface="Prata" panose="020B0604020202020204" charset="0"/>
              <a:ea typeface="Prata"/>
              <a:cs typeface="Prata"/>
              <a:sym typeface="Prata"/>
            </a:endParaRPr>
          </a:p>
        </p:txBody>
      </p:sp>
      <p:grpSp>
        <p:nvGrpSpPr>
          <p:cNvPr id="3" name="Group 3"/>
          <p:cNvGrpSpPr/>
          <p:nvPr/>
        </p:nvGrpSpPr>
        <p:grpSpPr>
          <a:xfrm>
            <a:off x="0" y="8724900"/>
            <a:ext cx="18288000" cy="15621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p:cNvSpPr txBox="1"/>
          <p:nvPr/>
        </p:nvSpPr>
        <p:spPr>
          <a:xfrm>
            <a:off x="13182600" y="8877300"/>
            <a:ext cx="4953000" cy="1272656"/>
          </a:xfrm>
          <a:prstGeom prst="rect">
            <a:avLst/>
          </a:prstGeom>
        </p:spPr>
        <p:txBody>
          <a:bodyPr wrap="square"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Presentation by:</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B. Kundana Mani (2420030558)</a:t>
            </a:r>
            <a:br>
              <a:rPr lang="en-US" sz="2400" dirty="0">
                <a:solidFill>
                  <a:srgbClr val="344E41"/>
                </a:solidFill>
                <a:latin typeface="Raleway"/>
                <a:ea typeface="Raleway"/>
                <a:cs typeface="Raleway"/>
                <a:sym typeface="Raleway"/>
              </a:rPr>
            </a:br>
            <a:r>
              <a:rPr lang="en-US" sz="2400" dirty="0">
                <a:solidFill>
                  <a:srgbClr val="344E41"/>
                </a:solidFill>
                <a:latin typeface="Raleway"/>
                <a:ea typeface="Raleway"/>
                <a:cs typeface="Raleway"/>
                <a:sym typeface="Raleway"/>
              </a:rPr>
              <a:t>M. Sai Kridhay Kumar (2420030211)</a:t>
            </a:r>
          </a:p>
        </p:txBody>
      </p:sp>
      <p:pic>
        <p:nvPicPr>
          <p:cNvPr id="12" name="Picture 11">
            <a:extLst>
              <a:ext uri="{FF2B5EF4-FFF2-40B4-BE49-F238E27FC236}">
                <a16:creationId xmlns:a16="http://schemas.microsoft.com/office/drawing/2014/main" id="{379974A4-61A3-EAF9-0BB4-A555249B8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80961" y="-190500"/>
            <a:ext cx="4419600" cy="4419600"/>
          </a:xfrm>
          <a:prstGeom prst="rect">
            <a:avLst/>
          </a:prstGeom>
        </p:spPr>
      </p:pic>
      <p:pic>
        <p:nvPicPr>
          <p:cNvPr id="14" name="Picture 13">
            <a:extLst>
              <a:ext uri="{FF2B5EF4-FFF2-40B4-BE49-F238E27FC236}">
                <a16:creationId xmlns:a16="http://schemas.microsoft.com/office/drawing/2014/main" id="{16D97E24-C5C3-05EE-A0B9-E65D7339D3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52550" y="5753100"/>
            <a:ext cx="2705100" cy="2705100"/>
          </a:xfrm>
          <a:prstGeom prst="rect">
            <a:avLst/>
          </a:prstGeom>
        </p:spPr>
      </p:pic>
      <p:pic>
        <p:nvPicPr>
          <p:cNvPr id="6" name="Picture 5">
            <a:extLst>
              <a:ext uri="{FF2B5EF4-FFF2-40B4-BE49-F238E27FC236}">
                <a16:creationId xmlns:a16="http://schemas.microsoft.com/office/drawing/2014/main" id="{B1323845-B110-57C7-5554-C9B4B43B41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381" y="10783"/>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18" name="Oval 17">
            <a:extLst>
              <a:ext uri="{FF2B5EF4-FFF2-40B4-BE49-F238E27FC236}">
                <a16:creationId xmlns:a16="http://schemas.microsoft.com/office/drawing/2014/main" id="{C447B2CA-1DFC-4815-F585-0A6330E07A4A}"/>
              </a:ext>
            </a:extLst>
          </p:cNvPr>
          <p:cNvSpPr/>
          <p:nvPr/>
        </p:nvSpPr>
        <p:spPr>
          <a:xfrm>
            <a:off x="-6254918" y="-1304539"/>
            <a:ext cx="12509836" cy="12272833"/>
          </a:xfrm>
          <a:prstGeom prst="ellipse">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Box 2"/>
          <p:cNvSpPr txBox="1"/>
          <p:nvPr/>
        </p:nvSpPr>
        <p:spPr>
          <a:xfrm>
            <a:off x="753476" y="4133610"/>
            <a:ext cx="5767660" cy="1396536"/>
          </a:xfrm>
          <a:prstGeom prst="rect">
            <a:avLst/>
          </a:prstGeom>
        </p:spPr>
        <p:txBody>
          <a:bodyPr wrap="square" lIns="0" tIns="0" rIns="0" bIns="0" rtlCol="0" anchor="t">
            <a:spAutoFit/>
          </a:bodyPr>
          <a:lstStyle/>
          <a:p>
            <a:pPr algn="ctr">
              <a:lnSpc>
                <a:spcPct val="150000"/>
              </a:lnSpc>
            </a:pPr>
            <a:r>
              <a:rPr lang="en-IN" sz="6600" b="1" dirty="0">
                <a:latin typeface="Prata" panose="020B0604020202020204" charset="0"/>
              </a:rPr>
              <a:t>CORA</a:t>
            </a:r>
            <a:endParaRPr lang="en-US" sz="6600" b="1" dirty="0">
              <a:solidFill>
                <a:srgbClr val="344E41"/>
              </a:solidFill>
              <a:latin typeface="Prata" panose="020B0604020202020204" charset="0"/>
              <a:ea typeface="Prata"/>
              <a:cs typeface="Prata"/>
              <a:sym typeface="Prata"/>
            </a:endParaRP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5" name="TextBox 5"/>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2</a:t>
            </a:r>
          </a:p>
        </p:txBody>
      </p:sp>
      <p:pic>
        <p:nvPicPr>
          <p:cNvPr id="20" name="Picture 19">
            <a:extLst>
              <a:ext uri="{FF2B5EF4-FFF2-40B4-BE49-F238E27FC236}">
                <a16:creationId xmlns:a16="http://schemas.microsoft.com/office/drawing/2014/main" id="{730917DD-627B-9BB1-E09E-0830E29D90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1" y="0"/>
            <a:ext cx="2395447" cy="1200650"/>
          </a:xfrm>
          <a:prstGeom prst="rect">
            <a:avLst/>
          </a:prstGeom>
          <a:noFill/>
          <a:ln>
            <a:noFill/>
          </a:ln>
        </p:spPr>
      </p:pic>
      <p:sp>
        <p:nvSpPr>
          <p:cNvPr id="7" name="TextBox 6">
            <a:extLst>
              <a:ext uri="{FF2B5EF4-FFF2-40B4-BE49-F238E27FC236}">
                <a16:creationId xmlns:a16="http://schemas.microsoft.com/office/drawing/2014/main" id="{11108FC2-95E2-E30B-45F4-9D8737780B5A}"/>
              </a:ext>
            </a:extLst>
          </p:cNvPr>
          <p:cNvSpPr txBox="1"/>
          <p:nvPr/>
        </p:nvSpPr>
        <p:spPr>
          <a:xfrm>
            <a:off x="6493868" y="952500"/>
            <a:ext cx="11555182" cy="7392473"/>
          </a:xfrm>
          <a:prstGeom prst="rect">
            <a:avLst/>
          </a:prstGeom>
          <a:noFill/>
        </p:spPr>
        <p:txBody>
          <a:bodyPr wrap="square">
            <a:spAutoFit/>
          </a:bodyPr>
          <a:lstStyle/>
          <a:p>
            <a:pPr algn="just">
              <a:lnSpc>
                <a:spcPct val="150000"/>
              </a:lnSpc>
            </a:pPr>
            <a:r>
              <a:rPr lang="en-IN" sz="3200" b="1" i="1" dirty="0">
                <a:latin typeface="Raleway" panose="020B0604020202020204" charset="0"/>
              </a:rPr>
              <a:t>Complaint Orchestration and Routing Architecture</a:t>
            </a:r>
            <a:endParaRPr lang="en-IN" sz="3200" b="1" dirty="0">
              <a:latin typeface="Raleway" panose="020B0604020202020204" charset="0"/>
            </a:endParaRPr>
          </a:p>
          <a:p>
            <a:pPr algn="just">
              <a:lnSpc>
                <a:spcPct val="150000"/>
              </a:lnSpc>
            </a:pPr>
            <a:r>
              <a:rPr lang="en-IN" sz="3200" b="1" dirty="0">
                <a:latin typeface="Raleway" panose="020B0604020202020204" charset="0"/>
              </a:rPr>
              <a:t>What is CORA?</a:t>
            </a:r>
            <a:endParaRPr lang="en-IN" sz="3200" dirty="0">
              <a:latin typeface="Raleway" panose="020B0604020202020204" charset="0"/>
            </a:endParaRPr>
          </a:p>
          <a:p>
            <a:pPr marL="457200" lvl="0" indent="-457200" algn="just">
              <a:lnSpc>
                <a:spcPct val="150000"/>
              </a:lnSpc>
              <a:buFont typeface="Arial" panose="020B0604020202020204" pitchFamily="34" charset="0"/>
              <a:buChar char="•"/>
            </a:pPr>
            <a:r>
              <a:rPr lang="en-IN" sz="3200" dirty="0">
                <a:latin typeface="Raleway" panose="020B0604020202020204" charset="0"/>
              </a:rPr>
              <a:t>An </a:t>
            </a:r>
            <a:r>
              <a:rPr lang="en-IN" sz="3200" b="1" dirty="0">
                <a:latin typeface="Raleway" panose="020B0604020202020204" charset="0"/>
              </a:rPr>
              <a:t>AI-powered banking complaint management system</a:t>
            </a:r>
            <a:r>
              <a:rPr lang="en-IN" sz="3200" dirty="0">
                <a:latin typeface="Raleway" panose="020B0604020202020204" charset="0"/>
              </a:rPr>
              <a:t>. </a:t>
            </a:r>
          </a:p>
          <a:p>
            <a:pPr marL="457200" lvl="0" indent="-457200" algn="just">
              <a:lnSpc>
                <a:spcPct val="150000"/>
              </a:lnSpc>
              <a:buFont typeface="Arial" panose="020B0604020202020204" pitchFamily="34" charset="0"/>
              <a:buChar char="•"/>
            </a:pPr>
            <a:r>
              <a:rPr lang="en-IN" sz="3200" dirty="0">
                <a:latin typeface="Raleway" panose="020B0604020202020204" charset="0"/>
              </a:rPr>
              <a:t>Uses </a:t>
            </a:r>
            <a:r>
              <a:rPr lang="en-IN" sz="3200" b="1" dirty="0">
                <a:latin typeface="Raleway" panose="020B0604020202020204" charset="0"/>
              </a:rPr>
              <a:t>BERT</a:t>
            </a:r>
            <a:r>
              <a:rPr lang="en-IN" sz="3200" dirty="0">
                <a:latin typeface="Raleway" panose="020B0604020202020204" charset="0"/>
              </a:rPr>
              <a:t> to understand customer complaint narratives. </a:t>
            </a:r>
          </a:p>
          <a:p>
            <a:pPr marL="457200" lvl="0" indent="-457200" algn="just">
              <a:lnSpc>
                <a:spcPct val="150000"/>
              </a:lnSpc>
              <a:buFont typeface="Arial" panose="020B0604020202020204" pitchFamily="34" charset="0"/>
              <a:buChar char="•"/>
            </a:pPr>
            <a:r>
              <a:rPr lang="en-IN" sz="3200" dirty="0">
                <a:latin typeface="Raleway" panose="020B0604020202020204" charset="0"/>
              </a:rPr>
              <a:t>Classifies complaints into four levels:</a:t>
            </a:r>
            <a:br>
              <a:rPr lang="en-IN" sz="3200" dirty="0">
                <a:latin typeface="Raleway" panose="020B0604020202020204" charset="0"/>
              </a:rPr>
            </a:br>
            <a:r>
              <a:rPr lang="en-IN" sz="3200" b="1" dirty="0">
                <a:latin typeface="Raleway" panose="020B0604020202020204" charset="0"/>
              </a:rPr>
              <a:t>Product → Sub-product → Issue → Sub-issue</a:t>
            </a:r>
            <a:r>
              <a:rPr lang="en-IN" sz="3200" dirty="0">
                <a:latin typeface="Raleway" panose="020B0604020202020204" charset="0"/>
              </a:rPr>
              <a:t> </a:t>
            </a:r>
          </a:p>
          <a:p>
            <a:pPr marL="457200" lvl="0" indent="-457200" algn="just">
              <a:lnSpc>
                <a:spcPct val="150000"/>
              </a:lnSpc>
              <a:buFont typeface="Arial" panose="020B0604020202020204" pitchFamily="34" charset="0"/>
              <a:buChar char="•"/>
            </a:pPr>
            <a:r>
              <a:rPr lang="en-IN" sz="3200" dirty="0">
                <a:latin typeface="Raleway" panose="020B0604020202020204" charset="0"/>
              </a:rPr>
              <a:t>Uses a </a:t>
            </a:r>
            <a:r>
              <a:rPr lang="en-IN" sz="3200" b="1" dirty="0">
                <a:latin typeface="Raleway" panose="020B0604020202020204" charset="0"/>
              </a:rPr>
              <a:t>Business Rule Engine</a:t>
            </a:r>
            <a:r>
              <a:rPr lang="en-IN" sz="3200" dirty="0">
                <a:latin typeface="Raleway" panose="020B0604020202020204" charset="0"/>
              </a:rPr>
              <a:t> to determine routing and priority. </a:t>
            </a:r>
          </a:p>
          <a:p>
            <a:pPr marL="457200" lvl="0" indent="-457200" algn="just">
              <a:lnSpc>
                <a:spcPct val="150000"/>
              </a:lnSpc>
              <a:buFont typeface="Arial" panose="020B0604020202020204" pitchFamily="34" charset="0"/>
              <a:buChar char="•"/>
            </a:pPr>
            <a:r>
              <a:rPr lang="en-IN" sz="3200" dirty="0">
                <a:latin typeface="Raleway" panose="020B0604020202020204" charset="0"/>
              </a:rPr>
              <a:t>Generates a </a:t>
            </a:r>
            <a:r>
              <a:rPr lang="en-IN" sz="3200" b="1" dirty="0">
                <a:latin typeface="Raleway" panose="020B0604020202020204" charset="0"/>
              </a:rPr>
              <a:t>ticket</a:t>
            </a:r>
            <a:r>
              <a:rPr lang="en-IN" sz="3200" dirty="0">
                <a:latin typeface="Raleway" panose="020B0604020202020204" charset="0"/>
              </a:rPr>
              <a:t> and supports complaint </a:t>
            </a:r>
            <a:r>
              <a:rPr lang="en-IN" sz="3200" b="1" dirty="0">
                <a:latin typeface="Raleway" panose="020B0604020202020204" charset="0"/>
              </a:rPr>
              <a:t>assignment, tracking and resolution</a:t>
            </a:r>
            <a:r>
              <a:rPr lang="en-IN" sz="3200" dirty="0">
                <a:latin typeface="Raleway" panose="020B0604020202020204" charset="0"/>
              </a:rPr>
              <a:t>.</a:t>
            </a:r>
          </a:p>
        </p:txBody>
      </p:sp>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1CA803E-EA11-239F-7DF6-B7CA8E7778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D7803A2-D659-536C-8447-ACFC35143A1F}"/>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3C2C6154-206E-606F-29F1-733A800FB37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FAE6E2A5-0E84-A70B-FEE8-85A09AB88A8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3</a:t>
            </a:r>
          </a:p>
        </p:txBody>
      </p:sp>
      <p:sp>
        <p:nvSpPr>
          <p:cNvPr id="8" name="TextBox 8">
            <a:extLst>
              <a:ext uri="{FF2B5EF4-FFF2-40B4-BE49-F238E27FC236}">
                <a16:creationId xmlns:a16="http://schemas.microsoft.com/office/drawing/2014/main" id="{FD49E5A6-942E-125A-1CD3-EF0C225C46D8}"/>
              </a:ext>
            </a:extLst>
          </p:cNvPr>
          <p:cNvSpPr txBox="1"/>
          <p:nvPr/>
        </p:nvSpPr>
        <p:spPr>
          <a:xfrm>
            <a:off x="4267200" y="391654"/>
            <a:ext cx="102108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CORA METHODOLOGY</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E3D53EB0-3FA6-7FE6-670C-0AD6758F0D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5" name="TextBox 4">
            <a:extLst>
              <a:ext uri="{FF2B5EF4-FFF2-40B4-BE49-F238E27FC236}">
                <a16:creationId xmlns:a16="http://schemas.microsoft.com/office/drawing/2014/main" id="{06E331F1-F130-338F-C20D-5F9F8D807913}"/>
              </a:ext>
            </a:extLst>
          </p:cNvPr>
          <p:cNvSpPr txBox="1"/>
          <p:nvPr/>
        </p:nvSpPr>
        <p:spPr>
          <a:xfrm>
            <a:off x="3048" y="1553795"/>
            <a:ext cx="10058400" cy="7772577"/>
          </a:xfrm>
          <a:prstGeom prst="rect">
            <a:avLst/>
          </a:prstGeom>
          <a:noFill/>
        </p:spPr>
        <p:txBody>
          <a:bodyPr wrap="square">
            <a:spAutoFit/>
          </a:bodyPr>
          <a:lstStyle/>
          <a:p>
            <a:pPr marL="342900" lvl="0" indent="-342900" algn="just">
              <a:lnSpc>
                <a:spcPct val="150000"/>
              </a:lnSpc>
              <a:buFont typeface="Arial" panose="020B0604020202020204" pitchFamily="34" charset="0"/>
              <a:buChar char="•"/>
            </a:pPr>
            <a:r>
              <a:rPr lang="en-IN" sz="2800" b="1" dirty="0">
                <a:latin typeface="Raleway" panose="020B0604020202020204" charset="0"/>
              </a:rPr>
              <a:t>Data Collection</a:t>
            </a:r>
            <a:r>
              <a:rPr lang="en-IN" sz="2800" dirty="0">
                <a:latin typeface="Raleway" panose="020B0604020202020204" charset="0"/>
              </a:rPr>
              <a:t> – CFPB Consumer Complaint Database </a:t>
            </a:r>
          </a:p>
          <a:p>
            <a:pPr marL="342900" lvl="0" indent="-342900" algn="just">
              <a:lnSpc>
                <a:spcPct val="150000"/>
              </a:lnSpc>
              <a:buFont typeface="Arial" panose="020B0604020202020204" pitchFamily="34" charset="0"/>
              <a:buChar char="•"/>
            </a:pPr>
            <a:r>
              <a:rPr lang="en-IN" sz="2800" b="1" dirty="0">
                <a:latin typeface="Raleway" panose="020B0604020202020204" charset="0"/>
              </a:rPr>
              <a:t>Data Preprocessing</a:t>
            </a:r>
            <a:r>
              <a:rPr lang="en-IN" sz="2800" dirty="0">
                <a:latin typeface="Raleway" panose="020B0604020202020204" charset="0"/>
              </a:rPr>
              <a:t> – Cleaning, duplicate removal and missing-value handling </a:t>
            </a:r>
          </a:p>
          <a:p>
            <a:pPr marL="342900" lvl="0" indent="-342900" algn="just">
              <a:lnSpc>
                <a:spcPct val="150000"/>
              </a:lnSpc>
              <a:buFont typeface="Arial" panose="020B0604020202020204" pitchFamily="34" charset="0"/>
              <a:buChar char="•"/>
            </a:pPr>
            <a:r>
              <a:rPr lang="en-IN" sz="2800" b="1" dirty="0">
                <a:latin typeface="Raleway" panose="020B0604020202020204" charset="0"/>
              </a:rPr>
              <a:t>BERT Processing</a:t>
            </a:r>
            <a:r>
              <a:rPr lang="en-IN" sz="2800" dirty="0">
                <a:latin typeface="Raleway" panose="020B0604020202020204" charset="0"/>
              </a:rPr>
              <a:t> – Tokenization and contextual representation </a:t>
            </a:r>
          </a:p>
          <a:p>
            <a:pPr marL="342900" lvl="0" indent="-342900" algn="just">
              <a:lnSpc>
                <a:spcPct val="150000"/>
              </a:lnSpc>
              <a:buFont typeface="Arial" panose="020B0604020202020204" pitchFamily="34" charset="0"/>
              <a:buChar char="•"/>
            </a:pPr>
            <a:r>
              <a:rPr lang="en-IN" sz="2800" b="1" dirty="0">
                <a:latin typeface="Raleway" panose="020B0604020202020204" charset="0"/>
              </a:rPr>
              <a:t>Hierarchical Classification</a:t>
            </a:r>
            <a:r>
              <a:rPr lang="en-IN" sz="2800" dirty="0">
                <a:latin typeface="Raleway" panose="020B0604020202020204" charset="0"/>
              </a:rPr>
              <a:t> – Product → Sub-product → Issue → Sub-issue </a:t>
            </a:r>
          </a:p>
          <a:p>
            <a:pPr marL="342900" lvl="0" indent="-342900" algn="just">
              <a:lnSpc>
                <a:spcPct val="150000"/>
              </a:lnSpc>
              <a:buFont typeface="Arial" panose="020B0604020202020204" pitchFamily="34" charset="0"/>
              <a:buChar char="•"/>
            </a:pPr>
            <a:r>
              <a:rPr lang="en-IN" sz="2800" b="1" dirty="0">
                <a:latin typeface="Raleway" panose="020B0604020202020204" charset="0"/>
              </a:rPr>
              <a:t>Business Rule Engine</a:t>
            </a:r>
            <a:r>
              <a:rPr lang="en-IN" sz="2800" dirty="0">
                <a:latin typeface="Raleway" panose="020B0604020202020204" charset="0"/>
              </a:rPr>
              <a:t> – Priority and department-wise routing </a:t>
            </a:r>
          </a:p>
          <a:p>
            <a:pPr marL="342900" lvl="0" indent="-342900" algn="just">
              <a:lnSpc>
                <a:spcPct val="150000"/>
              </a:lnSpc>
              <a:buFont typeface="Arial" panose="020B0604020202020204" pitchFamily="34" charset="0"/>
              <a:buChar char="•"/>
            </a:pPr>
            <a:r>
              <a:rPr lang="en-IN" sz="2800" b="1" dirty="0">
                <a:latin typeface="Raleway" panose="020B0604020202020204" charset="0"/>
              </a:rPr>
              <a:t>Complaint Management</a:t>
            </a:r>
            <a:r>
              <a:rPr lang="en-IN" sz="2800" dirty="0">
                <a:latin typeface="Raleway" panose="020B0604020202020204" charset="0"/>
              </a:rPr>
              <a:t> – Ticket generation, employee assignment and tracking </a:t>
            </a:r>
          </a:p>
          <a:p>
            <a:pPr marL="342900" lvl="0" indent="-342900" algn="just">
              <a:lnSpc>
                <a:spcPct val="150000"/>
              </a:lnSpc>
              <a:buFont typeface="Arial" panose="020B0604020202020204" pitchFamily="34" charset="0"/>
              <a:buChar char="•"/>
            </a:pPr>
            <a:r>
              <a:rPr lang="en-IN" sz="2800" b="1" dirty="0">
                <a:latin typeface="Raleway" panose="020B0604020202020204" charset="0"/>
              </a:rPr>
              <a:t>Dashboard</a:t>
            </a:r>
            <a:r>
              <a:rPr lang="en-IN" sz="2800" dirty="0">
                <a:latin typeface="Raleway" panose="020B0604020202020204" charset="0"/>
              </a:rPr>
              <a:t> – Customer and administrator monitoring</a:t>
            </a:r>
          </a:p>
        </p:txBody>
      </p:sp>
      <p:pic>
        <p:nvPicPr>
          <p:cNvPr id="12" name="Picture 11">
            <a:extLst>
              <a:ext uri="{FF2B5EF4-FFF2-40B4-BE49-F238E27FC236}">
                <a16:creationId xmlns:a16="http://schemas.microsoft.com/office/drawing/2014/main" id="{20C7E012-A30F-1C40-A46D-FF9885DB41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2773" y="1712159"/>
            <a:ext cx="7060477" cy="7444165"/>
          </a:xfrm>
          <a:prstGeom prst="rect">
            <a:avLst/>
          </a:prstGeom>
        </p:spPr>
      </p:pic>
    </p:spTree>
    <p:extLst>
      <p:ext uri="{BB962C8B-B14F-4D97-AF65-F5344CB8AC3E}">
        <p14:creationId xmlns:p14="http://schemas.microsoft.com/office/powerpoint/2010/main" val="100443715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76CD8FC-BF38-C08A-DBCF-3ACFE58998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F99929-C26C-46B6-F8FA-A75DEE871F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CF37BE3-848A-D169-AB65-D517924008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38B928F-D69D-97FA-0391-01A96A518C7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4</a:t>
            </a:r>
          </a:p>
        </p:txBody>
      </p:sp>
      <p:sp>
        <p:nvSpPr>
          <p:cNvPr id="10" name="TextBox 9">
            <a:extLst>
              <a:ext uri="{FF2B5EF4-FFF2-40B4-BE49-F238E27FC236}">
                <a16:creationId xmlns:a16="http://schemas.microsoft.com/office/drawing/2014/main" id="{142ABE14-4CE2-D352-02B3-D033290E4C66}"/>
              </a:ext>
            </a:extLst>
          </p:cNvPr>
          <p:cNvSpPr txBox="1"/>
          <p:nvPr/>
        </p:nvSpPr>
        <p:spPr>
          <a:xfrm>
            <a:off x="6810258" y="60893"/>
            <a:ext cx="5029200" cy="938719"/>
          </a:xfrm>
          <a:prstGeom prst="rect">
            <a:avLst/>
          </a:prstGeom>
          <a:noFill/>
        </p:spPr>
        <p:txBody>
          <a:bodyPr wrap="square">
            <a:spAutoFit/>
          </a:bodyPr>
          <a:lstStyle/>
          <a:p>
            <a:pPr algn="just">
              <a:lnSpc>
                <a:spcPct val="150000"/>
              </a:lnSpc>
            </a:pPr>
            <a:r>
              <a:rPr lang="en-IN" sz="4000" dirty="0">
                <a:latin typeface="Prata" panose="020B0604020202020204" charset="0"/>
              </a:rPr>
              <a:t>SYSTEM DESIGN</a:t>
            </a:r>
          </a:p>
        </p:txBody>
      </p:sp>
      <p:pic>
        <p:nvPicPr>
          <p:cNvPr id="15" name="Picture 14">
            <a:extLst>
              <a:ext uri="{FF2B5EF4-FFF2-40B4-BE49-F238E27FC236}">
                <a16:creationId xmlns:a16="http://schemas.microsoft.com/office/drawing/2014/main" id="{396A5143-EA47-C717-ABC5-C3D2DF21E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13" name="Picture 12">
            <a:extLst>
              <a:ext uri="{FF2B5EF4-FFF2-40B4-BE49-F238E27FC236}">
                <a16:creationId xmlns:a16="http://schemas.microsoft.com/office/drawing/2014/main" id="{5F9DA419-E973-22B1-E5B5-7F868E8EDC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439" y="192920"/>
            <a:ext cx="7239000" cy="8933353"/>
          </a:xfrm>
          <a:prstGeom prst="rect">
            <a:avLst/>
          </a:prstGeom>
        </p:spPr>
      </p:pic>
      <p:sp>
        <p:nvSpPr>
          <p:cNvPr id="16" name="Oval 15">
            <a:extLst>
              <a:ext uri="{FF2B5EF4-FFF2-40B4-BE49-F238E27FC236}">
                <a16:creationId xmlns:a16="http://schemas.microsoft.com/office/drawing/2014/main" id="{A096A3A1-79AA-5E58-5A1C-239259A73AE5}"/>
              </a:ext>
            </a:extLst>
          </p:cNvPr>
          <p:cNvSpPr/>
          <p:nvPr/>
        </p:nvSpPr>
        <p:spPr>
          <a:xfrm>
            <a:off x="6410208" y="1379650"/>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F8F92B45-4266-3758-47BD-E5985E9E6D26}"/>
              </a:ext>
            </a:extLst>
          </p:cNvPr>
          <p:cNvSpPr txBox="1"/>
          <p:nvPr/>
        </p:nvSpPr>
        <p:spPr>
          <a:xfrm>
            <a:off x="7000758" y="1480996"/>
            <a:ext cx="4648200" cy="3894592"/>
          </a:xfrm>
          <a:prstGeom prst="rect">
            <a:avLst/>
          </a:prstGeom>
          <a:noFill/>
        </p:spPr>
        <p:txBody>
          <a:bodyPr wrap="square">
            <a:spAutoFit/>
          </a:bodyPr>
          <a:lstStyle/>
          <a:p>
            <a:pPr algn="ctr">
              <a:lnSpc>
                <a:spcPct val="150000"/>
              </a:lnSpc>
              <a:buNone/>
            </a:pPr>
            <a:r>
              <a:rPr lang="en-IN" sz="2800" b="1" dirty="0">
                <a:latin typeface="Raleway" panose="020B0604020202020204" charset="0"/>
              </a:rPr>
              <a:t>CUSTOMER</a:t>
            </a:r>
            <a:endParaRPr lang="en-IN" sz="2800" dirty="0">
              <a:latin typeface="Raleway" panose="020B0604020202020204" charset="0"/>
            </a:endParaRPr>
          </a:p>
          <a:p>
            <a:pPr marL="342900" lvl="0" indent="-342900" algn="ctr">
              <a:lnSpc>
                <a:spcPct val="150000"/>
              </a:lnSpc>
              <a:buFont typeface="Arial" panose="020B0604020202020204" pitchFamily="34" charset="0"/>
              <a:buChar char="•"/>
            </a:pPr>
            <a:r>
              <a:rPr lang="en-IN" sz="2800" dirty="0">
                <a:latin typeface="Raleway" panose="020B0604020202020204" charset="0"/>
              </a:rPr>
              <a:t>Register / Login </a:t>
            </a:r>
          </a:p>
          <a:p>
            <a:pPr marL="342900" lvl="0" indent="-342900" algn="ctr">
              <a:lnSpc>
                <a:spcPct val="150000"/>
              </a:lnSpc>
              <a:buFont typeface="Arial" panose="020B0604020202020204" pitchFamily="34" charset="0"/>
              <a:buChar char="•"/>
            </a:pPr>
            <a:r>
              <a:rPr lang="en-IN" sz="2800" dirty="0">
                <a:latin typeface="Raleway" panose="020B0604020202020204" charset="0"/>
              </a:rPr>
              <a:t>Submit complaint </a:t>
            </a:r>
          </a:p>
          <a:p>
            <a:pPr marL="342900" lvl="0" indent="-342900" algn="ctr">
              <a:lnSpc>
                <a:spcPct val="150000"/>
              </a:lnSpc>
              <a:buFont typeface="Arial" panose="020B0604020202020204" pitchFamily="34" charset="0"/>
              <a:buChar char="•"/>
            </a:pPr>
            <a:r>
              <a:rPr lang="en-IN" sz="2800" dirty="0">
                <a:latin typeface="Raleway" panose="020B0604020202020204" charset="0"/>
              </a:rPr>
              <a:t>Receive Ticket ID </a:t>
            </a:r>
          </a:p>
          <a:p>
            <a:pPr marL="342900" lvl="0" indent="-342900" algn="ctr">
              <a:lnSpc>
                <a:spcPct val="150000"/>
              </a:lnSpc>
              <a:buFont typeface="Arial" panose="020B0604020202020204" pitchFamily="34" charset="0"/>
              <a:buChar char="•"/>
            </a:pPr>
            <a:r>
              <a:rPr lang="en-IN" sz="2800" dirty="0">
                <a:latin typeface="Raleway" panose="020B0604020202020204" charset="0"/>
              </a:rPr>
              <a:t>View complaint details </a:t>
            </a:r>
          </a:p>
          <a:p>
            <a:pPr marL="342900" lvl="0" indent="-342900" algn="ctr">
              <a:lnSpc>
                <a:spcPct val="150000"/>
              </a:lnSpc>
              <a:buFont typeface="Arial" panose="020B0604020202020204" pitchFamily="34" charset="0"/>
              <a:buChar char="•"/>
            </a:pPr>
            <a:r>
              <a:rPr lang="en-IN" sz="2800" dirty="0">
                <a:latin typeface="Raleway" panose="020B0604020202020204" charset="0"/>
              </a:rPr>
              <a:t>Track complaint status</a:t>
            </a:r>
          </a:p>
        </p:txBody>
      </p:sp>
      <p:sp>
        <p:nvSpPr>
          <p:cNvPr id="20" name="Oval 19">
            <a:extLst>
              <a:ext uri="{FF2B5EF4-FFF2-40B4-BE49-F238E27FC236}">
                <a16:creationId xmlns:a16="http://schemas.microsoft.com/office/drawing/2014/main" id="{745D69C1-41A0-168A-1F6F-953F18D22DA8}"/>
              </a:ext>
            </a:extLst>
          </p:cNvPr>
          <p:cNvSpPr/>
          <p:nvPr/>
        </p:nvSpPr>
        <p:spPr>
          <a:xfrm>
            <a:off x="12176045" y="1344171"/>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F94C5BC6-8955-DCC2-0D7A-1BD8DD6E4EE0}"/>
              </a:ext>
            </a:extLst>
          </p:cNvPr>
          <p:cNvSpPr txBox="1"/>
          <p:nvPr/>
        </p:nvSpPr>
        <p:spPr>
          <a:xfrm>
            <a:off x="12052300" y="1540432"/>
            <a:ext cx="5959929" cy="3894592"/>
          </a:xfrm>
          <a:prstGeom prst="rect">
            <a:avLst/>
          </a:prstGeom>
          <a:noFill/>
        </p:spPr>
        <p:txBody>
          <a:bodyPr wrap="square">
            <a:spAutoFit/>
          </a:bodyPr>
          <a:lstStyle/>
          <a:p>
            <a:pPr algn="ctr">
              <a:lnSpc>
                <a:spcPct val="150000"/>
              </a:lnSpc>
            </a:pPr>
            <a:r>
              <a:rPr lang="en-IN" sz="2800" b="1" dirty="0">
                <a:latin typeface="Raleway" panose="020B0604020202020204" charset="0"/>
              </a:rPr>
              <a:t>EMPLOYEE</a:t>
            </a:r>
            <a:endParaRPr lang="en-IN" sz="2800" dirty="0">
              <a:latin typeface="Raleway" panose="020B0604020202020204" charset="0"/>
            </a:endParaRPr>
          </a:p>
          <a:p>
            <a:pPr marL="457200" lvl="0" indent="-457200" algn="ctr">
              <a:lnSpc>
                <a:spcPct val="150000"/>
              </a:lnSpc>
              <a:buFont typeface="Arial" panose="020B0604020202020204" pitchFamily="34" charset="0"/>
              <a:buChar char="•"/>
            </a:pPr>
            <a:r>
              <a:rPr lang="en-IN" sz="2800" dirty="0">
                <a:latin typeface="Raleway" panose="020B0604020202020204" charset="0"/>
              </a:rPr>
              <a:t>Login </a:t>
            </a:r>
          </a:p>
          <a:p>
            <a:pPr marL="457200" lvl="0" indent="-457200" algn="ctr">
              <a:lnSpc>
                <a:spcPct val="150000"/>
              </a:lnSpc>
              <a:buFont typeface="Arial" panose="020B0604020202020204" pitchFamily="34" charset="0"/>
              <a:buChar char="•"/>
            </a:pPr>
            <a:r>
              <a:rPr lang="en-IN" sz="2800" dirty="0">
                <a:latin typeface="Raleway" panose="020B0604020202020204" charset="0"/>
              </a:rPr>
              <a:t>View assigned complaints </a:t>
            </a:r>
          </a:p>
          <a:p>
            <a:pPr marL="457200" lvl="0" indent="-457200" algn="ctr">
              <a:lnSpc>
                <a:spcPct val="150000"/>
              </a:lnSpc>
              <a:buFont typeface="Arial" panose="020B0604020202020204" pitchFamily="34" charset="0"/>
              <a:buChar char="•"/>
            </a:pPr>
            <a:r>
              <a:rPr lang="en-IN" sz="2800" dirty="0">
                <a:latin typeface="Raleway" panose="020B0604020202020204" charset="0"/>
              </a:rPr>
              <a:t>Update complaint status </a:t>
            </a:r>
          </a:p>
          <a:p>
            <a:pPr marL="457200" lvl="0" indent="-457200" algn="ctr">
              <a:lnSpc>
                <a:spcPct val="150000"/>
              </a:lnSpc>
              <a:buFont typeface="Arial" panose="020B0604020202020204" pitchFamily="34" charset="0"/>
              <a:buChar char="•"/>
            </a:pPr>
            <a:r>
              <a:rPr lang="en-IN" sz="2800" dirty="0">
                <a:latin typeface="Raleway" panose="020B0604020202020204" charset="0"/>
              </a:rPr>
              <a:t>Add remarks </a:t>
            </a:r>
          </a:p>
          <a:p>
            <a:pPr marL="457200" lvl="0" indent="-457200" algn="ctr">
              <a:lnSpc>
                <a:spcPct val="150000"/>
              </a:lnSpc>
              <a:buFont typeface="Arial" panose="020B0604020202020204" pitchFamily="34" charset="0"/>
              <a:buChar char="•"/>
            </a:pPr>
            <a:r>
              <a:rPr lang="en-IN" sz="2800" dirty="0">
                <a:latin typeface="Raleway" panose="020B0604020202020204" charset="0"/>
              </a:rPr>
              <a:t>Resolve complaints</a:t>
            </a:r>
          </a:p>
        </p:txBody>
      </p:sp>
      <p:sp>
        <p:nvSpPr>
          <p:cNvPr id="26" name="Oval 25">
            <a:extLst>
              <a:ext uri="{FF2B5EF4-FFF2-40B4-BE49-F238E27FC236}">
                <a16:creationId xmlns:a16="http://schemas.microsoft.com/office/drawing/2014/main" id="{C3817F78-3E5B-E6F9-AC62-0665CCE9EB75}"/>
              </a:ext>
            </a:extLst>
          </p:cNvPr>
          <p:cNvSpPr/>
          <p:nvPr/>
        </p:nvSpPr>
        <p:spPr>
          <a:xfrm>
            <a:off x="9324858" y="4536521"/>
            <a:ext cx="5791200" cy="571500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87211A10-E398-872A-499C-0AA5EEE5AC71}"/>
              </a:ext>
            </a:extLst>
          </p:cNvPr>
          <p:cNvSpPr txBox="1"/>
          <p:nvPr/>
        </p:nvSpPr>
        <p:spPr>
          <a:xfrm>
            <a:off x="9432845" y="6488140"/>
            <a:ext cx="5638800" cy="2557175"/>
          </a:xfrm>
          <a:prstGeom prst="rect">
            <a:avLst/>
          </a:prstGeom>
          <a:noFill/>
        </p:spPr>
        <p:txBody>
          <a:bodyPr wrap="square">
            <a:spAutoFit/>
          </a:bodyPr>
          <a:lstStyle/>
          <a:p>
            <a:pPr algn="ctr">
              <a:lnSpc>
                <a:spcPct val="150000"/>
              </a:lnSpc>
              <a:buNone/>
            </a:pPr>
            <a:r>
              <a:rPr lang="en-IN" sz="2750" b="1" dirty="0">
                <a:latin typeface="Raleway" panose="020B0604020202020204" charset="0"/>
              </a:rPr>
              <a:t>ADMINISTRATOR</a:t>
            </a:r>
            <a:endParaRPr lang="en-IN" sz="2750" dirty="0">
              <a:latin typeface="Raleway" panose="020B0604020202020204" charset="0"/>
            </a:endParaRPr>
          </a:p>
          <a:p>
            <a:pPr marL="342900" lvl="0" indent="-342900" algn="ctr">
              <a:lnSpc>
                <a:spcPct val="150000"/>
              </a:lnSpc>
              <a:buFont typeface="Arial" panose="020B0604020202020204" pitchFamily="34" charset="0"/>
              <a:buChar char="•"/>
            </a:pPr>
            <a:r>
              <a:rPr lang="en-IN" sz="2750" dirty="0">
                <a:latin typeface="Raleway" panose="020B0604020202020204" charset="0"/>
              </a:rPr>
              <a:t>Manage everything</a:t>
            </a:r>
          </a:p>
          <a:p>
            <a:pPr marL="342900" lvl="0" indent="-342900" algn="ctr">
              <a:lnSpc>
                <a:spcPct val="150000"/>
              </a:lnSpc>
              <a:buFont typeface="Arial" panose="020B0604020202020204" pitchFamily="34" charset="0"/>
              <a:buChar char="•"/>
            </a:pPr>
            <a:r>
              <a:rPr lang="en-IN" sz="2750" dirty="0">
                <a:latin typeface="Raleway" panose="020B0604020202020204" charset="0"/>
              </a:rPr>
              <a:t>View complaint statistics </a:t>
            </a:r>
          </a:p>
          <a:p>
            <a:pPr marL="342900" lvl="0" indent="-342900" algn="ctr">
              <a:lnSpc>
                <a:spcPct val="150000"/>
              </a:lnSpc>
              <a:buFont typeface="Arial" panose="020B0604020202020204" pitchFamily="34" charset="0"/>
              <a:buChar char="•"/>
            </a:pPr>
            <a:r>
              <a:rPr lang="en-IN" sz="2750" dirty="0">
                <a:latin typeface="Raleway" panose="020B0604020202020204" charset="0"/>
              </a:rPr>
              <a:t>Monitor system analytics</a:t>
            </a:r>
          </a:p>
        </p:txBody>
      </p:sp>
    </p:spTree>
    <p:extLst>
      <p:ext uri="{BB962C8B-B14F-4D97-AF65-F5344CB8AC3E}">
        <p14:creationId xmlns:p14="http://schemas.microsoft.com/office/powerpoint/2010/main" val="288403167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74E65551-1B7D-1125-2E3C-8678A8687EF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ADEECB6-3A16-E16D-5AF4-45E720545156}"/>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D4C432A8-DC1F-AE5E-4FCF-74542504D48A}"/>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34DEDD20-7C50-624C-B7B4-C78688EFB6A8}"/>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5</a:t>
            </a:r>
          </a:p>
        </p:txBody>
      </p:sp>
      <p:sp>
        <p:nvSpPr>
          <p:cNvPr id="8" name="TextBox 8">
            <a:extLst>
              <a:ext uri="{FF2B5EF4-FFF2-40B4-BE49-F238E27FC236}">
                <a16:creationId xmlns:a16="http://schemas.microsoft.com/office/drawing/2014/main" id="{74854169-C8AC-C0E9-0A2E-65B6A975B069}"/>
              </a:ext>
            </a:extLst>
          </p:cNvPr>
          <p:cNvSpPr txBox="1"/>
          <p:nvPr/>
        </p:nvSpPr>
        <p:spPr>
          <a:xfrm>
            <a:off x="3200400" y="661570"/>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MODERN TOOLS AND TECHNOLOGY</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C5B1D9BF-958B-ECC5-8710-593BFBB6F8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4" name="Table 3">
            <a:extLst>
              <a:ext uri="{FF2B5EF4-FFF2-40B4-BE49-F238E27FC236}">
                <a16:creationId xmlns:a16="http://schemas.microsoft.com/office/drawing/2014/main" id="{4B76C7B7-6AB2-4090-E639-979E4D61F317}"/>
              </a:ext>
            </a:extLst>
          </p:cNvPr>
          <p:cNvGraphicFramePr>
            <a:graphicFrameLocks noGrp="1"/>
          </p:cNvGraphicFramePr>
          <p:nvPr>
            <p:extLst>
              <p:ext uri="{D42A27DB-BD31-4B8C-83A1-F6EECF244321}">
                <p14:modId xmlns:p14="http://schemas.microsoft.com/office/powerpoint/2010/main" val="4263650059"/>
              </p:ext>
            </p:extLst>
          </p:nvPr>
        </p:nvGraphicFramePr>
        <p:xfrm>
          <a:off x="495300" y="1851496"/>
          <a:ext cx="17297400" cy="7045951"/>
        </p:xfrm>
        <a:graphic>
          <a:graphicData uri="http://schemas.openxmlformats.org/drawingml/2006/table">
            <a:tbl>
              <a:tblPr>
                <a:tableStyleId>{2D5ABB26-0587-4C30-8999-92F81FD0307C}</a:tableStyleId>
              </a:tblPr>
              <a:tblGrid>
                <a:gridCol w="5765800">
                  <a:extLst>
                    <a:ext uri="{9D8B030D-6E8A-4147-A177-3AD203B41FA5}">
                      <a16:colId xmlns:a16="http://schemas.microsoft.com/office/drawing/2014/main" val="3555361444"/>
                    </a:ext>
                  </a:extLst>
                </a:gridCol>
                <a:gridCol w="5765800">
                  <a:extLst>
                    <a:ext uri="{9D8B030D-6E8A-4147-A177-3AD203B41FA5}">
                      <a16:colId xmlns:a16="http://schemas.microsoft.com/office/drawing/2014/main" val="2021328104"/>
                    </a:ext>
                  </a:extLst>
                </a:gridCol>
                <a:gridCol w="5765800">
                  <a:extLst>
                    <a:ext uri="{9D8B030D-6E8A-4147-A177-3AD203B41FA5}">
                      <a16:colId xmlns:a16="http://schemas.microsoft.com/office/drawing/2014/main" val="2070030726"/>
                    </a:ext>
                  </a:extLst>
                </a:gridCol>
              </a:tblGrid>
              <a:tr h="640541">
                <a:tc>
                  <a:txBody>
                    <a:bodyPr/>
                    <a:lstStyle/>
                    <a:p>
                      <a:pPr algn="ctr">
                        <a:buNone/>
                      </a:pPr>
                      <a:r>
                        <a:rPr lang="en-IN" sz="3200" dirty="0">
                          <a:latin typeface="Raleway" panose="020B0604020202020204" charset="0"/>
                        </a:rPr>
                        <a:t>Category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200" dirty="0">
                          <a:latin typeface="Raleway" panose="020B0604020202020204" charset="0"/>
                        </a:rPr>
                        <a:t>Technology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200" dirty="0">
                          <a:latin typeface="Raleway" panose="020B0604020202020204" charset="0"/>
                        </a:rPr>
                        <a:t>Purpose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extLst>
                  <a:ext uri="{0D108BD9-81ED-4DB2-BD59-A6C34878D82A}">
                    <a16:rowId xmlns:a16="http://schemas.microsoft.com/office/drawing/2014/main" val="4140195424"/>
                  </a:ext>
                </a:extLst>
              </a:tr>
              <a:tr h="640541">
                <a:tc>
                  <a:txBody>
                    <a:bodyPr/>
                    <a:lstStyle/>
                    <a:p>
                      <a:pPr>
                        <a:buNone/>
                      </a:pPr>
                      <a:r>
                        <a:rPr lang="en-IN" sz="3200">
                          <a:latin typeface="Raleway" panose="020B0604020202020204" charset="0"/>
                        </a:rPr>
                        <a:t>Programming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Python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Development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755881685"/>
                  </a:ext>
                </a:extLst>
              </a:tr>
              <a:tr h="640541">
                <a:tc>
                  <a:txBody>
                    <a:bodyPr/>
                    <a:lstStyle/>
                    <a:p>
                      <a:pPr>
                        <a:buNone/>
                      </a:pPr>
                      <a:r>
                        <a:rPr lang="en-IN" sz="3200">
                          <a:latin typeface="Raleway" panose="020B0604020202020204" charset="0"/>
                        </a:rPr>
                        <a:t>AI/NLP</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BERT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Complaint classification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344235839"/>
                  </a:ext>
                </a:extLst>
              </a:tr>
              <a:tr h="640541">
                <a:tc>
                  <a:txBody>
                    <a:bodyPr/>
                    <a:lstStyle/>
                    <a:p>
                      <a:pPr>
                        <a:buNone/>
                      </a:pPr>
                      <a:r>
                        <a:rPr lang="en-IN" sz="3200">
                          <a:latin typeface="Raleway" panose="020B0604020202020204" charset="0"/>
                        </a:rPr>
                        <a:t>Deep Learning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err="1">
                          <a:latin typeface="Raleway" panose="020B0604020202020204" charset="0"/>
                        </a:rPr>
                        <a:t>PyTorch</a:t>
                      </a:r>
                      <a:endParaRPr lang="en-IN" sz="3200" dirty="0">
                        <a:latin typeface="Raleway" panose="020B0604020202020204" charset="0"/>
                      </a:endParaRP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Model training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512877144"/>
                  </a:ext>
                </a:extLst>
              </a:tr>
              <a:tr h="640541">
                <a:tc>
                  <a:txBody>
                    <a:bodyPr/>
                    <a:lstStyle/>
                    <a:p>
                      <a:pPr>
                        <a:buNone/>
                      </a:pPr>
                      <a:r>
                        <a:rPr lang="en-IN" sz="3200">
                          <a:latin typeface="Raleway" panose="020B0604020202020204" charset="0"/>
                        </a:rPr>
                        <a:t>NLP Library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Hugging Face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BERT &amp; tokenizer</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856612746"/>
                  </a:ext>
                </a:extLst>
              </a:tr>
              <a:tr h="640541">
                <a:tc>
                  <a:txBody>
                    <a:bodyPr/>
                    <a:lstStyle/>
                    <a:p>
                      <a:pPr>
                        <a:buNone/>
                      </a:pPr>
                      <a:r>
                        <a:rPr lang="en-IN" sz="3200">
                          <a:latin typeface="Raleway" panose="020B0604020202020204" charset="0"/>
                        </a:rPr>
                        <a:t>Backend</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Flask</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Web application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1734762104"/>
                  </a:ext>
                </a:extLst>
              </a:tr>
              <a:tr h="640541">
                <a:tc>
                  <a:txBody>
                    <a:bodyPr/>
                    <a:lstStyle/>
                    <a:p>
                      <a:pPr>
                        <a:buNone/>
                      </a:pPr>
                      <a:r>
                        <a:rPr lang="en-IN" sz="3200">
                          <a:latin typeface="Raleway" panose="020B0604020202020204" charset="0"/>
                        </a:rPr>
                        <a:t>Database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MySQL</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Data &amp; ticket storage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02796335"/>
                  </a:ext>
                </a:extLst>
              </a:tr>
              <a:tr h="640541">
                <a:tc>
                  <a:txBody>
                    <a:bodyPr/>
                    <a:lstStyle/>
                    <a:p>
                      <a:pPr>
                        <a:buNone/>
                      </a:pPr>
                      <a:r>
                        <a:rPr lang="en-IN" sz="3200">
                          <a:latin typeface="Raleway" panose="020B0604020202020204" charset="0"/>
                        </a:rPr>
                        <a:t>Frontend</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HTML, CSS, Bootstrap</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User interface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24171106"/>
                  </a:ext>
                </a:extLst>
              </a:tr>
              <a:tr h="640541">
                <a:tc>
                  <a:txBody>
                    <a:bodyPr/>
                    <a:lstStyle/>
                    <a:p>
                      <a:pPr>
                        <a:buNone/>
                      </a:pPr>
                      <a:r>
                        <a:rPr lang="en-IN" sz="3200">
                          <a:latin typeface="Raleway" panose="020B0604020202020204" charset="0"/>
                        </a:rPr>
                        <a:t>Scripting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JavaScript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Interactivity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051194590"/>
                  </a:ext>
                </a:extLst>
              </a:tr>
              <a:tr h="640541">
                <a:tc>
                  <a:txBody>
                    <a:bodyPr/>
                    <a:lstStyle/>
                    <a:p>
                      <a:pPr>
                        <a:buNone/>
                      </a:pPr>
                      <a:r>
                        <a:rPr lang="en-IN" sz="3200">
                          <a:latin typeface="Raleway" panose="020B0604020202020204" charset="0"/>
                        </a:rPr>
                        <a:t>Data Processing</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Pandas, NumPy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Data preparation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689020197"/>
                  </a:ext>
                </a:extLst>
              </a:tr>
              <a:tr h="640541">
                <a:tc>
                  <a:txBody>
                    <a:bodyPr/>
                    <a:lstStyle/>
                    <a:p>
                      <a:pPr>
                        <a:buNone/>
                      </a:pPr>
                      <a:r>
                        <a:rPr lang="en-IN" sz="3200">
                          <a:latin typeface="Raleway" panose="020B0604020202020204" charset="0"/>
                        </a:rPr>
                        <a:t>Development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a:latin typeface="Raleway" panose="020B0604020202020204" charset="0"/>
                        </a:rPr>
                        <a:t>VS Code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3200" dirty="0">
                          <a:latin typeface="Raleway" panose="020B0604020202020204" charset="0"/>
                        </a:rPr>
                        <a:t>Project development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984009755"/>
                  </a:ext>
                </a:extLst>
              </a:tr>
            </a:tbl>
          </a:graphicData>
        </a:graphic>
      </p:graphicFrame>
    </p:spTree>
    <p:extLst>
      <p:ext uri="{BB962C8B-B14F-4D97-AF65-F5344CB8AC3E}">
        <p14:creationId xmlns:p14="http://schemas.microsoft.com/office/powerpoint/2010/main" val="353987534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D60EEDAE-7F1D-A1AC-113D-7AF04C7F27D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42D7B49-EA41-8DB9-7288-FEAEF1E060D3}"/>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09B98F0D-1F6D-282E-7A13-6379E9BA2936}"/>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87806836-292C-80D4-BA86-C2251A1863DD}"/>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6</a:t>
            </a:r>
          </a:p>
        </p:txBody>
      </p:sp>
      <p:sp>
        <p:nvSpPr>
          <p:cNvPr id="8" name="TextBox 8">
            <a:extLst>
              <a:ext uri="{FF2B5EF4-FFF2-40B4-BE49-F238E27FC236}">
                <a16:creationId xmlns:a16="http://schemas.microsoft.com/office/drawing/2014/main" id="{0731DFDB-8CEB-A30D-B58F-89A927E2FF3E}"/>
              </a:ext>
            </a:extLst>
          </p:cNvPr>
          <p:cNvSpPr txBox="1"/>
          <p:nvPr/>
        </p:nvSpPr>
        <p:spPr>
          <a:xfrm>
            <a:off x="3009900" y="207356"/>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LITERATURE MODEL COMPARISON</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D66DE4EB-C0A2-9247-4EDA-BD547321A1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5" name="Table 4">
            <a:extLst>
              <a:ext uri="{FF2B5EF4-FFF2-40B4-BE49-F238E27FC236}">
                <a16:creationId xmlns:a16="http://schemas.microsoft.com/office/drawing/2014/main" id="{F3623F20-C1A8-3DB9-CB5D-CA6494FD25BA}"/>
              </a:ext>
            </a:extLst>
          </p:cNvPr>
          <p:cNvGraphicFramePr>
            <a:graphicFrameLocks noGrp="1"/>
          </p:cNvGraphicFramePr>
          <p:nvPr>
            <p:extLst>
              <p:ext uri="{D42A27DB-BD31-4B8C-83A1-F6EECF244321}">
                <p14:modId xmlns:p14="http://schemas.microsoft.com/office/powerpoint/2010/main" val="2720055976"/>
              </p:ext>
            </p:extLst>
          </p:nvPr>
        </p:nvGraphicFramePr>
        <p:xfrm>
          <a:off x="266700" y="1120705"/>
          <a:ext cx="17754600" cy="8129866"/>
        </p:xfrm>
        <a:graphic>
          <a:graphicData uri="http://schemas.openxmlformats.org/drawingml/2006/table">
            <a:tbl>
              <a:tblPr>
                <a:tableStyleId>{2D5ABB26-0587-4C30-8999-92F81FD0307C}</a:tableStyleId>
              </a:tblPr>
              <a:tblGrid>
                <a:gridCol w="3550920">
                  <a:extLst>
                    <a:ext uri="{9D8B030D-6E8A-4147-A177-3AD203B41FA5}">
                      <a16:colId xmlns:a16="http://schemas.microsoft.com/office/drawing/2014/main" val="1054801018"/>
                    </a:ext>
                  </a:extLst>
                </a:gridCol>
                <a:gridCol w="3550920">
                  <a:extLst>
                    <a:ext uri="{9D8B030D-6E8A-4147-A177-3AD203B41FA5}">
                      <a16:colId xmlns:a16="http://schemas.microsoft.com/office/drawing/2014/main" val="2401237658"/>
                    </a:ext>
                  </a:extLst>
                </a:gridCol>
                <a:gridCol w="3550920">
                  <a:extLst>
                    <a:ext uri="{9D8B030D-6E8A-4147-A177-3AD203B41FA5}">
                      <a16:colId xmlns:a16="http://schemas.microsoft.com/office/drawing/2014/main" val="3745114526"/>
                    </a:ext>
                  </a:extLst>
                </a:gridCol>
                <a:gridCol w="3550920">
                  <a:extLst>
                    <a:ext uri="{9D8B030D-6E8A-4147-A177-3AD203B41FA5}">
                      <a16:colId xmlns:a16="http://schemas.microsoft.com/office/drawing/2014/main" val="81689029"/>
                    </a:ext>
                  </a:extLst>
                </a:gridCol>
                <a:gridCol w="3550920">
                  <a:extLst>
                    <a:ext uri="{9D8B030D-6E8A-4147-A177-3AD203B41FA5}">
                      <a16:colId xmlns:a16="http://schemas.microsoft.com/office/drawing/2014/main" val="613520823"/>
                    </a:ext>
                  </a:extLst>
                </a:gridCol>
              </a:tblGrid>
              <a:tr h="709454">
                <a:tc>
                  <a:txBody>
                    <a:bodyPr/>
                    <a:lstStyle/>
                    <a:p>
                      <a:pPr algn="ctr">
                        <a:buNone/>
                      </a:pPr>
                      <a:r>
                        <a:rPr lang="en-IN" sz="2800" dirty="0">
                          <a:latin typeface="Raleway" panose="020B0604020202020204" charset="0"/>
                        </a:rPr>
                        <a:t>Model</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Project Goal</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What the Model Does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Reported Result</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Limitation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extLst>
                  <a:ext uri="{0D108BD9-81ED-4DB2-BD59-A6C34878D82A}">
                    <a16:rowId xmlns:a16="http://schemas.microsoft.com/office/drawing/2014/main" val="3524233524"/>
                  </a:ext>
                </a:extLst>
              </a:tr>
              <a:tr h="1013507">
                <a:tc>
                  <a:txBody>
                    <a:bodyPr/>
                    <a:lstStyle/>
                    <a:p>
                      <a:pPr>
                        <a:buNone/>
                      </a:pPr>
                      <a:r>
                        <a:rPr lang="en-IN" sz="2800" dirty="0">
                          <a:latin typeface="Raleway" panose="020B0604020202020204" charset="0"/>
                        </a:rPr>
                        <a:t>LDA</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Discover complaint topics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Finds hidden topics in complaint text</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No Accuracy/F1 reported</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Topic discovery only</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2106237634"/>
                  </a:ext>
                </a:extLst>
              </a:tr>
              <a:tr h="1317559">
                <a:tc>
                  <a:txBody>
                    <a:bodyPr/>
                    <a:lstStyle/>
                    <a:p>
                      <a:pPr>
                        <a:buNone/>
                      </a:pPr>
                      <a:r>
                        <a:rPr lang="en-IN" sz="2800" dirty="0" err="1">
                          <a:latin typeface="Raleway" panose="020B0604020202020204" charset="0"/>
                        </a:rPr>
                        <a:t>BERTopic</a:t>
                      </a:r>
                      <a:endParaRPr lang="en-IN" sz="2800" dirty="0">
                        <a:latin typeface="Raleway" panose="020B0604020202020204" charset="0"/>
                      </a:endParaRP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Identify meaningful complaint topics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Uses BERT embeddings to group similar complaints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Topic coherence metrics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No detailed classification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590946599"/>
                  </a:ext>
                </a:extLst>
              </a:tr>
              <a:tr h="1317559">
                <a:tc>
                  <a:txBody>
                    <a:bodyPr/>
                    <a:lstStyle/>
                    <a:p>
                      <a:pPr>
                        <a:buNone/>
                      </a:pPr>
                      <a:r>
                        <a:rPr lang="en-IN" sz="2800">
                          <a:latin typeface="Raleway" panose="020B0604020202020204" charset="0"/>
                        </a:rPr>
                        <a:t>Emotion Detection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Analyze customer emotions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Detects emotional patterns in complaints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Emotion metrics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Does not classify complaint hierarchy</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11637341"/>
                  </a:ext>
                </a:extLst>
              </a:tr>
              <a:tr h="1621610">
                <a:tc>
                  <a:txBody>
                    <a:bodyPr/>
                    <a:lstStyle/>
                    <a:p>
                      <a:pPr>
                        <a:buNone/>
                      </a:pPr>
                      <a:r>
                        <a:rPr lang="en-IN" sz="2800">
                          <a:latin typeface="Raleway" panose="020B0604020202020204" charset="0"/>
                        </a:rPr>
                        <a:t>LSTM</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Classify complaint text</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Learns sequential patterns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Transformer approach performed better in cited comparison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Weaker contextual understanding</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1139406704"/>
                  </a:ext>
                </a:extLst>
              </a:tr>
              <a:tr h="1317559">
                <a:tc>
                  <a:txBody>
                    <a:bodyPr/>
                    <a:lstStyle/>
                    <a:p>
                      <a:pPr>
                        <a:buNone/>
                      </a:pPr>
                      <a:r>
                        <a:rPr lang="en-IN" sz="2800">
                          <a:latin typeface="Raleway" panose="020B0604020202020204" charset="0"/>
                        </a:rPr>
                        <a:t>LLM Classification</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Classify financial complaints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Assigns complaints to broad categories</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a:latin typeface="Raleway" panose="020B0604020202020204" charset="0"/>
                        </a:rPr>
                        <a:t>77.7% Accuracy / 77.64% F1</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buNone/>
                      </a:pPr>
                      <a:r>
                        <a:rPr lang="en-IN" sz="2800" dirty="0">
                          <a:latin typeface="Raleway" panose="020B0604020202020204" charset="0"/>
                        </a:rPr>
                        <a:t>Broad classification; no routing</a:t>
                      </a:r>
                    </a:p>
                  </a:txBody>
                  <a:tcPr marL="62861" marR="62861" marT="31430" marB="31430"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995374098"/>
                  </a:ext>
                </a:extLst>
              </a:tr>
            </a:tbl>
          </a:graphicData>
        </a:graphic>
      </p:graphicFrame>
    </p:spTree>
    <p:extLst>
      <p:ext uri="{BB962C8B-B14F-4D97-AF65-F5344CB8AC3E}">
        <p14:creationId xmlns:p14="http://schemas.microsoft.com/office/powerpoint/2010/main" val="925072180"/>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76CD8FC-BF38-C08A-DBCF-3ACFE58998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EF99929-C26C-46B6-F8FA-A75DEE871FC2}"/>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CF37BE3-848A-D169-AB65-D517924008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38B928F-D69D-97FA-0391-01A96A518C74}"/>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7</a:t>
            </a:r>
          </a:p>
        </p:txBody>
      </p:sp>
      <p:sp>
        <p:nvSpPr>
          <p:cNvPr id="10" name="TextBox 9">
            <a:extLst>
              <a:ext uri="{FF2B5EF4-FFF2-40B4-BE49-F238E27FC236}">
                <a16:creationId xmlns:a16="http://schemas.microsoft.com/office/drawing/2014/main" id="{142ABE14-4CE2-D352-02B3-D033290E4C66}"/>
              </a:ext>
            </a:extLst>
          </p:cNvPr>
          <p:cNvSpPr txBox="1"/>
          <p:nvPr/>
        </p:nvSpPr>
        <p:spPr>
          <a:xfrm>
            <a:off x="70107" y="723900"/>
            <a:ext cx="8381995" cy="8304966"/>
          </a:xfrm>
          <a:prstGeom prst="rect">
            <a:avLst/>
          </a:prstGeom>
          <a:noFill/>
        </p:spPr>
        <p:txBody>
          <a:bodyPr wrap="square">
            <a:spAutoFit/>
          </a:bodyPr>
          <a:lstStyle/>
          <a:p>
            <a:pPr>
              <a:lnSpc>
                <a:spcPct val="150000"/>
              </a:lnSpc>
            </a:pPr>
            <a:r>
              <a:rPr lang="en-IN" sz="3600" b="1" dirty="0">
                <a:latin typeface="Raleway" panose="020B0604020202020204" charset="0"/>
              </a:rPr>
              <a:t>Dataset</a:t>
            </a:r>
          </a:p>
          <a:p>
            <a:pPr>
              <a:lnSpc>
                <a:spcPct val="150000"/>
              </a:lnSpc>
            </a:pPr>
            <a:r>
              <a:rPr lang="en-IN" sz="3600" b="1" dirty="0">
                <a:latin typeface="Raleway" panose="020B0604020202020204" charset="0"/>
              </a:rPr>
              <a:t>CFPB Consumer Complaint Database</a:t>
            </a:r>
            <a:endParaRPr lang="en-IN" sz="3600" dirty="0">
              <a:latin typeface="Raleway" panose="020B0604020202020204" charset="0"/>
            </a:endParaRPr>
          </a:p>
          <a:p>
            <a:pPr lvl="0">
              <a:lnSpc>
                <a:spcPct val="150000"/>
              </a:lnSpc>
            </a:pPr>
            <a:r>
              <a:rPr lang="en-IN" sz="3600" b="1" dirty="0">
                <a:latin typeface="Raleway" panose="020B0604020202020204" charset="0"/>
              </a:rPr>
              <a:t>Training:</a:t>
            </a:r>
            <a:r>
              <a:rPr lang="en-IN" sz="3600" dirty="0">
                <a:latin typeface="Raleway" panose="020B0604020202020204" charset="0"/>
              </a:rPr>
              <a:t> 10,157 complaints </a:t>
            </a:r>
          </a:p>
          <a:p>
            <a:pPr lvl="0">
              <a:lnSpc>
                <a:spcPct val="150000"/>
              </a:lnSpc>
            </a:pPr>
            <a:r>
              <a:rPr lang="en-IN" sz="3600" b="1" dirty="0">
                <a:latin typeface="Raleway" panose="020B0604020202020204" charset="0"/>
              </a:rPr>
              <a:t>Validation:</a:t>
            </a:r>
            <a:r>
              <a:rPr lang="en-IN" sz="3600" dirty="0">
                <a:latin typeface="Raleway" panose="020B0604020202020204" charset="0"/>
              </a:rPr>
              <a:t> 2,540 complaints </a:t>
            </a:r>
          </a:p>
          <a:p>
            <a:pPr lvl="0">
              <a:lnSpc>
                <a:spcPct val="150000"/>
              </a:lnSpc>
            </a:pPr>
            <a:r>
              <a:rPr lang="en-IN" sz="3600" b="1" dirty="0">
                <a:latin typeface="Raleway" panose="020B0604020202020204" charset="0"/>
              </a:rPr>
              <a:t>Input (X):</a:t>
            </a:r>
            <a:r>
              <a:rPr lang="en-IN" sz="3600" dirty="0">
                <a:latin typeface="Raleway" panose="020B0604020202020204" charset="0"/>
              </a:rPr>
              <a:t> Complaint Narrative </a:t>
            </a:r>
          </a:p>
          <a:p>
            <a:pPr lvl="0">
              <a:lnSpc>
                <a:spcPct val="150000"/>
              </a:lnSpc>
            </a:pPr>
            <a:r>
              <a:rPr lang="en-IN" sz="3600" b="1" dirty="0">
                <a:latin typeface="Raleway" panose="020B0604020202020204" charset="0"/>
              </a:rPr>
              <a:t>Output (Y):</a:t>
            </a:r>
            <a:r>
              <a:rPr lang="en-IN" sz="3600" dirty="0">
                <a:latin typeface="Raleway" panose="020B0604020202020204" charset="0"/>
              </a:rPr>
              <a:t> </a:t>
            </a:r>
          </a:p>
          <a:p>
            <a:pPr lvl="1">
              <a:lnSpc>
                <a:spcPct val="150000"/>
              </a:lnSpc>
            </a:pPr>
            <a:r>
              <a:rPr lang="en-IN" sz="3600" dirty="0">
                <a:latin typeface="Raleway" panose="020B0604020202020204" charset="0"/>
              </a:rPr>
              <a:t>Product </a:t>
            </a:r>
          </a:p>
          <a:p>
            <a:pPr lvl="1">
              <a:lnSpc>
                <a:spcPct val="150000"/>
              </a:lnSpc>
            </a:pPr>
            <a:r>
              <a:rPr lang="en-IN" sz="3600" dirty="0">
                <a:latin typeface="Raleway" panose="020B0604020202020204" charset="0"/>
              </a:rPr>
              <a:t>Sub-product </a:t>
            </a:r>
          </a:p>
          <a:p>
            <a:pPr lvl="1">
              <a:lnSpc>
                <a:spcPct val="150000"/>
              </a:lnSpc>
            </a:pPr>
            <a:r>
              <a:rPr lang="en-IN" sz="3600" dirty="0">
                <a:latin typeface="Raleway" panose="020B0604020202020204" charset="0"/>
              </a:rPr>
              <a:t>Issue </a:t>
            </a:r>
          </a:p>
          <a:p>
            <a:pPr lvl="1">
              <a:lnSpc>
                <a:spcPct val="150000"/>
              </a:lnSpc>
            </a:pPr>
            <a:r>
              <a:rPr lang="en-IN" sz="3600" dirty="0">
                <a:latin typeface="Raleway" panose="020B0604020202020204" charset="0"/>
              </a:rPr>
              <a:t>Sub-issue</a:t>
            </a:r>
          </a:p>
        </p:txBody>
      </p:sp>
      <p:cxnSp>
        <p:nvCxnSpPr>
          <p:cNvPr id="12" name="Straight Connector 11">
            <a:extLst>
              <a:ext uri="{FF2B5EF4-FFF2-40B4-BE49-F238E27FC236}">
                <a16:creationId xmlns:a16="http://schemas.microsoft.com/office/drawing/2014/main" id="{5CFB6F50-4C6C-4B20-8BAE-523111547168}"/>
              </a:ext>
            </a:extLst>
          </p:cNvPr>
          <p:cNvCxnSpPr>
            <a:cxnSpLocks/>
          </p:cNvCxnSpPr>
          <p:nvPr/>
        </p:nvCxnSpPr>
        <p:spPr>
          <a:xfrm>
            <a:off x="8534400" y="0"/>
            <a:ext cx="0" cy="10287000"/>
          </a:xfrm>
          <a:prstGeom prst="line">
            <a:avLst/>
          </a:prstGeom>
          <a:ln w="38100"/>
        </p:spPr>
        <p:style>
          <a:lnRef idx="1">
            <a:schemeClr val="accent3"/>
          </a:lnRef>
          <a:fillRef idx="0">
            <a:schemeClr val="accent3"/>
          </a:fillRef>
          <a:effectRef idx="0">
            <a:schemeClr val="accent3"/>
          </a:effectRef>
          <a:fontRef idx="minor">
            <a:schemeClr val="tx1"/>
          </a:fontRef>
        </p:style>
      </p:cxnSp>
      <p:pic>
        <p:nvPicPr>
          <p:cNvPr id="15" name="Picture 14">
            <a:extLst>
              <a:ext uri="{FF2B5EF4-FFF2-40B4-BE49-F238E27FC236}">
                <a16:creationId xmlns:a16="http://schemas.microsoft.com/office/drawing/2014/main" id="{396A5143-EA47-C717-ABC5-C3D2DF21E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6" name="TextBox 5">
            <a:extLst>
              <a:ext uri="{FF2B5EF4-FFF2-40B4-BE49-F238E27FC236}">
                <a16:creationId xmlns:a16="http://schemas.microsoft.com/office/drawing/2014/main" id="{A648DEDE-B2EE-56DB-E9E7-8079BDF30B42}"/>
              </a:ext>
            </a:extLst>
          </p:cNvPr>
          <p:cNvSpPr txBox="1"/>
          <p:nvPr/>
        </p:nvSpPr>
        <p:spPr>
          <a:xfrm>
            <a:off x="8967867" y="-212324"/>
            <a:ext cx="9225642" cy="9608464"/>
          </a:xfrm>
          <a:prstGeom prst="rect">
            <a:avLst/>
          </a:prstGeom>
          <a:noFill/>
        </p:spPr>
        <p:txBody>
          <a:bodyPr wrap="square">
            <a:spAutoFit/>
          </a:bodyPr>
          <a:lstStyle/>
          <a:p>
            <a:pPr>
              <a:lnSpc>
                <a:spcPct val="150000"/>
              </a:lnSpc>
            </a:pPr>
            <a:r>
              <a:rPr lang="en-IN" sz="3200" b="1" dirty="0">
                <a:latin typeface="Raleway" panose="020B0604020202020204" charset="0"/>
              </a:rPr>
              <a:t>Implemented Components</a:t>
            </a:r>
          </a:p>
          <a:p>
            <a:pPr>
              <a:lnSpc>
                <a:spcPct val="150000"/>
              </a:lnSpc>
            </a:pPr>
            <a:r>
              <a:rPr lang="en-IN" sz="3200" b="1" dirty="0">
                <a:latin typeface="Raleway" panose="020B0604020202020204" charset="0"/>
              </a:rPr>
              <a:t>AI Module</a:t>
            </a:r>
            <a:endParaRPr lang="en-IN" sz="3200" dirty="0">
              <a:latin typeface="Raleway" panose="020B0604020202020204" charset="0"/>
            </a:endParaRPr>
          </a:p>
          <a:p>
            <a:pPr marL="457200" lvl="0" indent="-457200">
              <a:lnSpc>
                <a:spcPct val="150000"/>
              </a:lnSpc>
              <a:buFont typeface="Arial" panose="020B0604020202020204" pitchFamily="34" charset="0"/>
              <a:buChar char="•"/>
            </a:pPr>
            <a:r>
              <a:rPr lang="en-IN" sz="3200" dirty="0">
                <a:latin typeface="Raleway" panose="020B0604020202020204" charset="0"/>
              </a:rPr>
              <a:t>Text preprocessing </a:t>
            </a:r>
          </a:p>
          <a:p>
            <a:pPr marL="457200" lvl="0" indent="-457200">
              <a:lnSpc>
                <a:spcPct val="150000"/>
              </a:lnSpc>
              <a:buFont typeface="Arial" panose="020B0604020202020204" pitchFamily="34" charset="0"/>
              <a:buChar char="•"/>
            </a:pPr>
            <a:r>
              <a:rPr lang="en-IN" sz="3200" dirty="0">
                <a:latin typeface="Raleway" panose="020B0604020202020204" charset="0"/>
              </a:rPr>
              <a:t>BERT tokenization </a:t>
            </a:r>
          </a:p>
          <a:p>
            <a:pPr marL="457200" lvl="0" indent="-457200">
              <a:lnSpc>
                <a:spcPct val="150000"/>
              </a:lnSpc>
              <a:buFont typeface="Arial" panose="020B0604020202020204" pitchFamily="34" charset="0"/>
              <a:buChar char="•"/>
            </a:pPr>
            <a:r>
              <a:rPr lang="en-IN" sz="3200" dirty="0">
                <a:latin typeface="Raleway" panose="020B0604020202020204" charset="0"/>
              </a:rPr>
              <a:t>Fine-tuned BERT </a:t>
            </a:r>
          </a:p>
          <a:p>
            <a:pPr marL="457200" lvl="0" indent="-457200">
              <a:lnSpc>
                <a:spcPct val="150000"/>
              </a:lnSpc>
              <a:buFont typeface="Arial" panose="020B0604020202020204" pitchFamily="34" charset="0"/>
              <a:buChar char="•"/>
            </a:pPr>
            <a:r>
              <a:rPr lang="en-IN" sz="3200" dirty="0">
                <a:latin typeface="Raleway" panose="020B0604020202020204" charset="0"/>
              </a:rPr>
              <a:t>Four-level classification </a:t>
            </a:r>
          </a:p>
          <a:p>
            <a:pPr marL="457200" lvl="0" indent="-457200">
              <a:lnSpc>
                <a:spcPct val="150000"/>
              </a:lnSpc>
              <a:buFont typeface="Arial" panose="020B0604020202020204" pitchFamily="34" charset="0"/>
              <a:buChar char="•"/>
            </a:pPr>
            <a:r>
              <a:rPr lang="en-IN" sz="3200" dirty="0">
                <a:latin typeface="Raleway" panose="020B0604020202020204" charset="0"/>
              </a:rPr>
              <a:t>Class imbalance handling </a:t>
            </a:r>
          </a:p>
          <a:p>
            <a:pPr>
              <a:lnSpc>
                <a:spcPct val="150000"/>
              </a:lnSpc>
            </a:pPr>
            <a:r>
              <a:rPr lang="en-IN" sz="3200" b="1" dirty="0">
                <a:latin typeface="Raleway" panose="020B0604020202020204" charset="0"/>
              </a:rPr>
              <a:t>Application Module</a:t>
            </a:r>
            <a:endParaRPr lang="en-IN" sz="3200" dirty="0">
              <a:latin typeface="Raleway" panose="020B0604020202020204" charset="0"/>
            </a:endParaRPr>
          </a:p>
          <a:p>
            <a:pPr marL="457200" lvl="0" indent="-457200">
              <a:lnSpc>
                <a:spcPct val="150000"/>
              </a:lnSpc>
              <a:buFont typeface="Arial" panose="020B0604020202020204" pitchFamily="34" charset="0"/>
              <a:buChar char="•"/>
            </a:pPr>
            <a:r>
              <a:rPr lang="en-IN" sz="3200" dirty="0">
                <a:latin typeface="Raleway" panose="020B0604020202020204" charset="0"/>
              </a:rPr>
              <a:t>Complaint submission </a:t>
            </a:r>
          </a:p>
          <a:p>
            <a:pPr marL="457200" lvl="0" indent="-457200">
              <a:lnSpc>
                <a:spcPct val="150000"/>
              </a:lnSpc>
              <a:buFont typeface="Arial" panose="020B0604020202020204" pitchFamily="34" charset="0"/>
              <a:buChar char="•"/>
            </a:pPr>
            <a:r>
              <a:rPr lang="en-IN" sz="3200" dirty="0">
                <a:latin typeface="Raleway" panose="020B0604020202020204" charset="0"/>
              </a:rPr>
              <a:t>Ticket generation </a:t>
            </a:r>
          </a:p>
          <a:p>
            <a:pPr marL="457200" lvl="0" indent="-457200">
              <a:lnSpc>
                <a:spcPct val="150000"/>
              </a:lnSpc>
              <a:buFont typeface="Arial" panose="020B0604020202020204" pitchFamily="34" charset="0"/>
              <a:buChar char="•"/>
            </a:pPr>
            <a:r>
              <a:rPr lang="en-IN" sz="3200" dirty="0">
                <a:latin typeface="Raleway" panose="020B0604020202020204" charset="0"/>
              </a:rPr>
              <a:t>Business-rule routing </a:t>
            </a:r>
          </a:p>
          <a:p>
            <a:pPr marL="457200" lvl="0" indent="-457200">
              <a:lnSpc>
                <a:spcPct val="150000"/>
              </a:lnSpc>
              <a:buFont typeface="Arial" panose="020B0604020202020204" pitchFamily="34" charset="0"/>
              <a:buChar char="•"/>
            </a:pPr>
            <a:r>
              <a:rPr lang="en-IN" sz="3200" dirty="0">
                <a:latin typeface="Raleway" panose="020B0604020202020204" charset="0"/>
              </a:rPr>
              <a:t>Employee assignment </a:t>
            </a:r>
          </a:p>
          <a:p>
            <a:pPr marL="457200" lvl="0" indent="-457200">
              <a:lnSpc>
                <a:spcPct val="150000"/>
              </a:lnSpc>
              <a:buFont typeface="Arial" panose="020B0604020202020204" pitchFamily="34" charset="0"/>
              <a:buChar char="•"/>
            </a:pPr>
            <a:r>
              <a:rPr lang="en-IN" sz="3200" dirty="0">
                <a:latin typeface="Raleway" panose="020B0604020202020204" charset="0"/>
              </a:rPr>
              <a:t>Status tracking</a:t>
            </a:r>
          </a:p>
        </p:txBody>
      </p:sp>
    </p:spTree>
    <p:extLst>
      <p:ext uri="{BB962C8B-B14F-4D97-AF65-F5344CB8AC3E}">
        <p14:creationId xmlns:p14="http://schemas.microsoft.com/office/powerpoint/2010/main" val="592653381"/>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02817748-1FE8-D738-F7F3-4F848CD9B4E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B9951C-6E15-F200-EF51-012561B49041}"/>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C091385-3522-0B4F-A326-45D7F9919BD3}"/>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487757B2-87DB-F8E1-37A1-D4299CAE183C}"/>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8</a:t>
            </a:r>
          </a:p>
        </p:txBody>
      </p:sp>
      <p:sp>
        <p:nvSpPr>
          <p:cNvPr id="8" name="TextBox 8">
            <a:extLst>
              <a:ext uri="{FF2B5EF4-FFF2-40B4-BE49-F238E27FC236}">
                <a16:creationId xmlns:a16="http://schemas.microsoft.com/office/drawing/2014/main" id="{44FA8FBB-2F1C-83A9-F7C7-9218615DB4E1}"/>
              </a:ext>
            </a:extLst>
          </p:cNvPr>
          <p:cNvSpPr txBox="1"/>
          <p:nvPr/>
        </p:nvSpPr>
        <p:spPr>
          <a:xfrm>
            <a:off x="3009900" y="360853"/>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RESULTS</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D2EF669F-DF2D-49DE-6014-5ABDD9EB52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sp>
        <p:nvSpPr>
          <p:cNvPr id="6" name="TextBox 5">
            <a:extLst>
              <a:ext uri="{FF2B5EF4-FFF2-40B4-BE49-F238E27FC236}">
                <a16:creationId xmlns:a16="http://schemas.microsoft.com/office/drawing/2014/main" id="{7414EF58-642B-4DCC-C972-96E7B8258421}"/>
              </a:ext>
            </a:extLst>
          </p:cNvPr>
          <p:cNvSpPr txBox="1"/>
          <p:nvPr/>
        </p:nvSpPr>
        <p:spPr>
          <a:xfrm>
            <a:off x="5562600" y="1233858"/>
            <a:ext cx="9144000" cy="646331"/>
          </a:xfrm>
          <a:prstGeom prst="rect">
            <a:avLst/>
          </a:prstGeom>
          <a:noFill/>
        </p:spPr>
        <p:txBody>
          <a:bodyPr wrap="square">
            <a:spAutoFit/>
          </a:bodyPr>
          <a:lstStyle/>
          <a:p>
            <a:r>
              <a:rPr lang="en-IN" sz="3600" dirty="0">
                <a:latin typeface="Raleway" panose="020B0604020202020204" charset="0"/>
              </a:rPr>
              <a:t>CORA-BERT Baseline Performance</a:t>
            </a:r>
          </a:p>
        </p:txBody>
      </p:sp>
      <p:graphicFrame>
        <p:nvGraphicFramePr>
          <p:cNvPr id="9" name="Table 8">
            <a:extLst>
              <a:ext uri="{FF2B5EF4-FFF2-40B4-BE49-F238E27FC236}">
                <a16:creationId xmlns:a16="http://schemas.microsoft.com/office/drawing/2014/main" id="{9E371EBA-A8DC-AF09-0238-7390C3E7F83C}"/>
              </a:ext>
            </a:extLst>
          </p:cNvPr>
          <p:cNvGraphicFramePr>
            <a:graphicFrameLocks noGrp="1"/>
          </p:cNvGraphicFramePr>
          <p:nvPr>
            <p:extLst>
              <p:ext uri="{D42A27DB-BD31-4B8C-83A1-F6EECF244321}">
                <p14:modId xmlns:p14="http://schemas.microsoft.com/office/powerpoint/2010/main" val="1224130851"/>
              </p:ext>
            </p:extLst>
          </p:nvPr>
        </p:nvGraphicFramePr>
        <p:xfrm>
          <a:off x="457200" y="2628740"/>
          <a:ext cx="17221200" cy="4673737"/>
        </p:xfrm>
        <a:graphic>
          <a:graphicData uri="http://schemas.openxmlformats.org/drawingml/2006/table">
            <a:tbl>
              <a:tblPr>
                <a:tableStyleId>{2D5ABB26-0587-4C30-8999-92F81FD0307C}</a:tableStyleId>
              </a:tblPr>
              <a:tblGrid>
                <a:gridCol w="3444240">
                  <a:extLst>
                    <a:ext uri="{9D8B030D-6E8A-4147-A177-3AD203B41FA5}">
                      <a16:colId xmlns:a16="http://schemas.microsoft.com/office/drawing/2014/main" val="1127823921"/>
                    </a:ext>
                  </a:extLst>
                </a:gridCol>
                <a:gridCol w="3444240">
                  <a:extLst>
                    <a:ext uri="{9D8B030D-6E8A-4147-A177-3AD203B41FA5}">
                      <a16:colId xmlns:a16="http://schemas.microsoft.com/office/drawing/2014/main" val="3365848858"/>
                    </a:ext>
                  </a:extLst>
                </a:gridCol>
                <a:gridCol w="3444240">
                  <a:extLst>
                    <a:ext uri="{9D8B030D-6E8A-4147-A177-3AD203B41FA5}">
                      <a16:colId xmlns:a16="http://schemas.microsoft.com/office/drawing/2014/main" val="3489349536"/>
                    </a:ext>
                  </a:extLst>
                </a:gridCol>
                <a:gridCol w="3444240">
                  <a:extLst>
                    <a:ext uri="{9D8B030D-6E8A-4147-A177-3AD203B41FA5}">
                      <a16:colId xmlns:a16="http://schemas.microsoft.com/office/drawing/2014/main" val="2173169432"/>
                    </a:ext>
                  </a:extLst>
                </a:gridCol>
                <a:gridCol w="3444240">
                  <a:extLst>
                    <a:ext uri="{9D8B030D-6E8A-4147-A177-3AD203B41FA5}">
                      <a16:colId xmlns:a16="http://schemas.microsoft.com/office/drawing/2014/main" val="3876729876"/>
                    </a:ext>
                  </a:extLst>
                </a:gridCol>
              </a:tblGrid>
              <a:tr h="1422441">
                <a:tc>
                  <a:txBody>
                    <a:bodyPr/>
                    <a:lstStyle/>
                    <a:p>
                      <a:pPr algn="ctr">
                        <a:buNone/>
                      </a:pPr>
                      <a:r>
                        <a:rPr lang="en-IN" sz="3600" dirty="0">
                          <a:latin typeface="Raleway" panose="020B0604020202020204" charset="0"/>
                        </a:rPr>
                        <a:t>Classification Level</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Accuracy</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Precision</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Recall</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tc>
                  <a:txBody>
                    <a:bodyPr/>
                    <a:lstStyle/>
                    <a:p>
                      <a:pPr algn="ctr">
                        <a:buNone/>
                      </a:pPr>
                      <a:r>
                        <a:rPr lang="en-IN" sz="3600" dirty="0">
                          <a:latin typeface="Raleway" panose="020B0604020202020204" charset="0"/>
                        </a:rPr>
                        <a:t>F1-Score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solidFill>
                      <a:srgbClr val="A3B18A"/>
                    </a:solidFill>
                  </a:tcPr>
                </a:tc>
                <a:extLst>
                  <a:ext uri="{0D108BD9-81ED-4DB2-BD59-A6C34878D82A}">
                    <a16:rowId xmlns:a16="http://schemas.microsoft.com/office/drawing/2014/main" val="1508450843"/>
                  </a:ext>
                </a:extLst>
              </a:tr>
              <a:tr h="812824">
                <a:tc>
                  <a:txBody>
                    <a:bodyPr/>
                    <a:lstStyle/>
                    <a:p>
                      <a:pPr>
                        <a:buNone/>
                      </a:pPr>
                      <a:r>
                        <a:rPr lang="en-IN" sz="3600">
                          <a:latin typeface="Raleway" panose="020B0604020202020204" charset="0"/>
                        </a:rPr>
                        <a:t>Product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dirty="0">
                          <a:latin typeface="Raleway" panose="020B0604020202020204" charset="0"/>
                        </a:rPr>
                        <a:t>83.19%</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dirty="0">
                          <a:latin typeface="Raleway" panose="020B0604020202020204" charset="0"/>
                        </a:rPr>
                        <a:t>83.88%</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83.19%</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83.17%</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417528892"/>
                  </a:ext>
                </a:extLst>
              </a:tr>
              <a:tr h="812824">
                <a:tc>
                  <a:txBody>
                    <a:bodyPr/>
                    <a:lstStyle/>
                    <a:p>
                      <a:pPr>
                        <a:buNone/>
                      </a:pPr>
                      <a:r>
                        <a:rPr lang="en-IN" sz="3600" dirty="0">
                          <a:latin typeface="Raleway" panose="020B0604020202020204" charset="0"/>
                        </a:rPr>
                        <a:t>Sub-product</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75.04%</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69.15%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75.04%</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71.42%</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4242073379"/>
                  </a:ext>
                </a:extLst>
              </a:tr>
              <a:tr h="812824">
                <a:tc>
                  <a:txBody>
                    <a:bodyPr/>
                    <a:lstStyle/>
                    <a:p>
                      <a:pPr>
                        <a:buNone/>
                      </a:pPr>
                      <a:r>
                        <a:rPr lang="en-IN" sz="3600">
                          <a:latin typeface="Raleway" panose="020B0604020202020204" charset="0"/>
                        </a:rPr>
                        <a:t>Issue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47.95%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41.52%</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47.95%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40.43%</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142965732"/>
                  </a:ext>
                </a:extLst>
              </a:tr>
              <a:tr h="812824">
                <a:tc>
                  <a:txBody>
                    <a:bodyPr/>
                    <a:lstStyle/>
                    <a:p>
                      <a:pPr>
                        <a:buNone/>
                      </a:pPr>
                      <a:r>
                        <a:rPr lang="en-IN" sz="3600">
                          <a:latin typeface="Raleway" panose="020B0604020202020204" charset="0"/>
                        </a:rPr>
                        <a:t>Sub-issue</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26.06%</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16.05%</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a:latin typeface="Raleway" panose="020B0604020202020204" charset="0"/>
                        </a:rPr>
                        <a:t>26.06%</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tc>
                  <a:txBody>
                    <a:bodyPr/>
                    <a:lstStyle/>
                    <a:p>
                      <a:pPr algn="r">
                        <a:buNone/>
                      </a:pPr>
                      <a:r>
                        <a:rPr lang="en-IN" sz="3600" dirty="0">
                          <a:latin typeface="Raleway" panose="020B0604020202020204" charset="0"/>
                        </a:rPr>
                        <a:t>16.98%</a:t>
                      </a:r>
                    </a:p>
                  </a:txBody>
                  <a:tcPr anchor="ctr">
                    <a:lnL w="12700" cap="flat" cmpd="sng" algn="ctr">
                      <a:solidFill>
                        <a:srgbClr val="679A00"/>
                      </a:solidFill>
                      <a:prstDash val="solid"/>
                      <a:round/>
                      <a:headEnd type="none" w="med" len="med"/>
                      <a:tailEnd type="none" w="med" len="med"/>
                    </a:lnL>
                    <a:lnR w="12700" cap="flat" cmpd="sng" algn="ctr">
                      <a:solidFill>
                        <a:srgbClr val="679A00"/>
                      </a:solidFill>
                      <a:prstDash val="solid"/>
                      <a:round/>
                      <a:headEnd type="none" w="med" len="med"/>
                      <a:tailEnd type="none" w="med" len="med"/>
                    </a:lnR>
                    <a:lnT w="12700" cap="flat" cmpd="sng" algn="ctr">
                      <a:solidFill>
                        <a:srgbClr val="679A00"/>
                      </a:solidFill>
                      <a:prstDash val="solid"/>
                      <a:round/>
                      <a:headEnd type="none" w="med" len="med"/>
                      <a:tailEnd type="none" w="med" len="med"/>
                    </a:lnT>
                    <a:lnB w="12700" cap="flat" cmpd="sng" algn="ctr">
                      <a:solidFill>
                        <a:srgbClr val="679A00"/>
                      </a:solidFill>
                      <a:prstDash val="solid"/>
                      <a:round/>
                      <a:headEnd type="none" w="med" len="med"/>
                      <a:tailEnd type="none" w="med" len="med"/>
                    </a:lnB>
                  </a:tcPr>
                </a:tc>
                <a:extLst>
                  <a:ext uri="{0D108BD9-81ED-4DB2-BD59-A6C34878D82A}">
                    <a16:rowId xmlns:a16="http://schemas.microsoft.com/office/drawing/2014/main" val="3564071458"/>
                  </a:ext>
                </a:extLst>
              </a:tr>
            </a:tbl>
          </a:graphicData>
        </a:graphic>
      </p:graphicFrame>
    </p:spTree>
    <p:extLst>
      <p:ext uri="{BB962C8B-B14F-4D97-AF65-F5344CB8AC3E}">
        <p14:creationId xmlns:p14="http://schemas.microsoft.com/office/powerpoint/2010/main" val="108142144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A0095E36-A523-0A17-2CAC-61D5231515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534C577-1F31-6F51-47CA-A134F50E6341}"/>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5150E5F-DE5D-E6B7-FBF5-9C11AFEADF11}"/>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B5F6A63B-7E5C-CE8F-05CE-F5667686BB70}"/>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9</a:t>
            </a:r>
          </a:p>
        </p:txBody>
      </p:sp>
      <p:sp>
        <p:nvSpPr>
          <p:cNvPr id="8" name="TextBox 8">
            <a:extLst>
              <a:ext uri="{FF2B5EF4-FFF2-40B4-BE49-F238E27FC236}">
                <a16:creationId xmlns:a16="http://schemas.microsoft.com/office/drawing/2014/main" id="{A17D714D-0A50-B2FD-F260-2DE4D8F03E11}"/>
              </a:ext>
            </a:extLst>
          </p:cNvPr>
          <p:cNvSpPr txBox="1"/>
          <p:nvPr/>
        </p:nvSpPr>
        <p:spPr>
          <a:xfrm>
            <a:off x="3009900" y="360853"/>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COMPARATIVE ANALYSIS</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0B54FAB2-C264-332F-B298-2A0AD99DD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5" name="Picture 4">
            <a:extLst>
              <a:ext uri="{FF2B5EF4-FFF2-40B4-BE49-F238E27FC236}">
                <a16:creationId xmlns:a16="http://schemas.microsoft.com/office/drawing/2014/main" id="{48185F41-EEB6-F29F-1781-984AF45B59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90800" y="1131639"/>
            <a:ext cx="12263136" cy="8175424"/>
          </a:xfrm>
          <a:prstGeom prst="rect">
            <a:avLst/>
          </a:prstGeom>
        </p:spPr>
      </p:pic>
    </p:spTree>
    <p:extLst>
      <p:ext uri="{BB962C8B-B14F-4D97-AF65-F5344CB8AC3E}">
        <p14:creationId xmlns:p14="http://schemas.microsoft.com/office/powerpoint/2010/main" val="16976457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69399AA9-AB18-5035-0583-ECDB167E85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4F93A4A-4142-E7FD-F844-CCB6ADE1414F}"/>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77916619-CA60-68DD-6537-DCDDC456B604}"/>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8" name="TextBox 8">
            <a:extLst>
              <a:ext uri="{FF2B5EF4-FFF2-40B4-BE49-F238E27FC236}">
                <a16:creationId xmlns:a16="http://schemas.microsoft.com/office/drawing/2014/main" id="{10D20C13-CD54-B181-15C1-7DBB2F0F77A9}"/>
              </a:ext>
            </a:extLst>
          </p:cNvPr>
          <p:cNvSpPr txBox="1"/>
          <p:nvPr/>
        </p:nvSpPr>
        <p:spPr>
          <a:xfrm>
            <a:off x="2038350" y="286350"/>
            <a:ext cx="142113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COMPARATIVE ANALYSIS TABLE (CORA)</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BBD39FBE-0114-117C-1AFC-409792ED32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5" name="Table 4">
            <a:extLst>
              <a:ext uri="{FF2B5EF4-FFF2-40B4-BE49-F238E27FC236}">
                <a16:creationId xmlns:a16="http://schemas.microsoft.com/office/drawing/2014/main" id="{58A278CE-5A14-980C-18BE-0BE583DB74B6}"/>
              </a:ext>
            </a:extLst>
          </p:cNvPr>
          <p:cNvGraphicFramePr>
            <a:graphicFrameLocks noGrp="1"/>
          </p:cNvGraphicFramePr>
          <p:nvPr>
            <p:extLst>
              <p:ext uri="{D42A27DB-BD31-4B8C-83A1-F6EECF244321}">
                <p14:modId xmlns:p14="http://schemas.microsoft.com/office/powerpoint/2010/main" val="3292036286"/>
              </p:ext>
            </p:extLst>
          </p:nvPr>
        </p:nvGraphicFramePr>
        <p:xfrm>
          <a:off x="838200" y="1309306"/>
          <a:ext cx="16383000" cy="7862271"/>
        </p:xfrm>
        <a:graphic>
          <a:graphicData uri="http://schemas.openxmlformats.org/drawingml/2006/table">
            <a:tbl>
              <a:tblPr>
                <a:tableStyleId>{5C22544A-7EE6-4342-B048-85BDC9FD1C3A}</a:tableStyleId>
              </a:tblPr>
              <a:tblGrid>
                <a:gridCol w="3276600">
                  <a:extLst>
                    <a:ext uri="{9D8B030D-6E8A-4147-A177-3AD203B41FA5}">
                      <a16:colId xmlns:a16="http://schemas.microsoft.com/office/drawing/2014/main" val="3603918570"/>
                    </a:ext>
                  </a:extLst>
                </a:gridCol>
                <a:gridCol w="3276600">
                  <a:extLst>
                    <a:ext uri="{9D8B030D-6E8A-4147-A177-3AD203B41FA5}">
                      <a16:colId xmlns:a16="http://schemas.microsoft.com/office/drawing/2014/main" val="4180804974"/>
                    </a:ext>
                  </a:extLst>
                </a:gridCol>
                <a:gridCol w="3276600">
                  <a:extLst>
                    <a:ext uri="{9D8B030D-6E8A-4147-A177-3AD203B41FA5}">
                      <a16:colId xmlns:a16="http://schemas.microsoft.com/office/drawing/2014/main" val="649825864"/>
                    </a:ext>
                  </a:extLst>
                </a:gridCol>
                <a:gridCol w="3276600">
                  <a:extLst>
                    <a:ext uri="{9D8B030D-6E8A-4147-A177-3AD203B41FA5}">
                      <a16:colId xmlns:a16="http://schemas.microsoft.com/office/drawing/2014/main" val="4043079056"/>
                    </a:ext>
                  </a:extLst>
                </a:gridCol>
                <a:gridCol w="3276600">
                  <a:extLst>
                    <a:ext uri="{9D8B030D-6E8A-4147-A177-3AD203B41FA5}">
                      <a16:colId xmlns:a16="http://schemas.microsoft.com/office/drawing/2014/main" val="581626215"/>
                    </a:ext>
                  </a:extLst>
                </a:gridCol>
              </a:tblGrid>
              <a:tr h="417531">
                <a:tc>
                  <a:txBody>
                    <a:bodyPr/>
                    <a:lstStyle/>
                    <a:p>
                      <a:pPr algn="ctr">
                        <a:buNone/>
                      </a:pPr>
                      <a:r>
                        <a:rPr lang="en-IN" sz="2800" dirty="0">
                          <a:latin typeface="Raleway" panose="020B0604020202020204" charset="0"/>
                        </a:rPr>
                        <a:t>Classes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800">
                          <a:latin typeface="Raleway" panose="020B0604020202020204" charset="0"/>
                        </a:rPr>
                        <a:t>Precision</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800">
                          <a:latin typeface="Raleway" panose="020B0604020202020204" charset="0"/>
                        </a:rPr>
                        <a:t>Recall</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800">
                          <a:latin typeface="Raleway" panose="020B0604020202020204" charset="0"/>
                        </a:rPr>
                        <a:t>F1-Score</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800" dirty="0">
                          <a:latin typeface="Raleway" panose="020B0604020202020204" charset="0"/>
                        </a:rPr>
                        <a:t>Support</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extLst>
                  <a:ext uri="{0D108BD9-81ED-4DB2-BD59-A6C34878D82A}">
                    <a16:rowId xmlns:a16="http://schemas.microsoft.com/office/drawing/2014/main" val="3152422188"/>
                  </a:ext>
                </a:extLst>
              </a:tr>
              <a:tr h="1019643">
                <a:tc>
                  <a:txBody>
                    <a:bodyPr/>
                    <a:lstStyle/>
                    <a:p>
                      <a:pPr>
                        <a:buNone/>
                      </a:pPr>
                      <a:r>
                        <a:rPr lang="en-IN" sz="2800" dirty="0">
                          <a:latin typeface="Raleway" panose="020B0604020202020204" charset="0"/>
                        </a:rPr>
                        <a:t>Checking or savings account</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dirty="0">
                          <a:latin typeface="Raleway" panose="020B0604020202020204" charset="0"/>
                        </a:rPr>
                        <a:t>0.84</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dirty="0">
                          <a:latin typeface="Raleway" panose="020B0604020202020204" charset="0"/>
                        </a:rPr>
                        <a:t>0.84</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dirty="0">
                          <a:latin typeface="Raleway" panose="020B0604020202020204" charset="0"/>
                        </a:rPr>
                        <a:t>0.84</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3439</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3188972"/>
                  </a:ext>
                </a:extLst>
              </a:tr>
              <a:tr h="730680">
                <a:tc>
                  <a:txBody>
                    <a:bodyPr/>
                    <a:lstStyle/>
                    <a:p>
                      <a:pPr>
                        <a:buNone/>
                      </a:pPr>
                      <a:r>
                        <a:rPr lang="en-IN" sz="2800" dirty="0">
                          <a:latin typeface="Raleway" panose="020B0604020202020204" charset="0"/>
                        </a:rPr>
                        <a:t>Credit card or prepaid card</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0.85</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0.84</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0.84</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3981</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4569474"/>
                  </a:ext>
                </a:extLst>
              </a:tr>
              <a:tr h="2545072">
                <a:tc>
                  <a:txBody>
                    <a:bodyPr/>
                    <a:lstStyle/>
                    <a:p>
                      <a:pPr>
                        <a:buNone/>
                      </a:pPr>
                      <a:r>
                        <a:rPr lang="en-IN" sz="2800">
                          <a:latin typeface="Raleway" panose="020B0604020202020204" charset="0"/>
                        </a:rPr>
                        <a:t>Credit reporting, credit repair services, or other personal consumer reports</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0.82</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0.81</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0.81</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dirty="0">
                          <a:latin typeface="Raleway" panose="020B0604020202020204" charset="0"/>
                        </a:rPr>
                        <a:t>1579</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287647"/>
                  </a:ext>
                </a:extLst>
              </a:tr>
              <a:tr h="714556">
                <a:tc>
                  <a:txBody>
                    <a:bodyPr/>
                    <a:lstStyle/>
                    <a:p>
                      <a:pPr>
                        <a:buNone/>
                      </a:pPr>
                      <a:r>
                        <a:rPr lang="en-IN" sz="2800">
                          <a:latin typeface="Raleway" panose="020B0604020202020204" charset="0"/>
                        </a:rPr>
                        <a:t>Debt collection</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0.80</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0.79</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0.79</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743</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160256"/>
                  </a:ext>
                </a:extLst>
              </a:tr>
              <a:tr h="417531">
                <a:tc>
                  <a:txBody>
                    <a:bodyPr/>
                    <a:lstStyle/>
                    <a:p>
                      <a:pPr>
                        <a:buNone/>
                      </a:pPr>
                      <a:r>
                        <a:rPr lang="en-IN" sz="2800">
                          <a:latin typeface="Raleway" panose="020B0604020202020204" charset="0"/>
                        </a:rPr>
                        <a:t>Student loan</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0.70</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0.68</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0.69</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110</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48262596"/>
                  </a:ext>
                </a:extLst>
              </a:tr>
              <a:tr h="730680">
                <a:tc>
                  <a:txBody>
                    <a:bodyPr/>
                    <a:lstStyle/>
                    <a:p>
                      <a:pPr>
                        <a:buNone/>
                      </a:pPr>
                      <a:r>
                        <a:rPr lang="en-IN" sz="2800">
                          <a:latin typeface="Raleway" panose="020B0604020202020204" charset="0"/>
                        </a:rPr>
                        <a:t>Vehicle loan or lease</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0.73</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0.71</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0.72</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305</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5172151"/>
                  </a:ext>
                </a:extLst>
              </a:tr>
              <a:tr h="730680">
                <a:tc>
                  <a:txBody>
                    <a:bodyPr/>
                    <a:lstStyle/>
                    <a:p>
                      <a:pPr>
                        <a:buNone/>
                      </a:pPr>
                      <a:r>
                        <a:rPr lang="en-IN" sz="2800">
                          <a:latin typeface="Raleway" panose="020B0604020202020204" charset="0"/>
                        </a:rPr>
                        <a:t>Weighted Average</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0.84</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0.83</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a:latin typeface="Raleway" panose="020B0604020202020204" charset="0"/>
                        </a:rPr>
                        <a:t>0.83</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IN" sz="2800" dirty="0">
                          <a:latin typeface="Raleway" panose="020B0604020202020204" charset="0"/>
                        </a:rPr>
                        <a:t>10157</a:t>
                      </a:r>
                    </a:p>
                  </a:txBody>
                  <a:tcPr marL="72999" marR="72999" marT="36500" marB="3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0354905"/>
                  </a:ext>
                </a:extLst>
              </a:tr>
            </a:tbl>
          </a:graphicData>
        </a:graphic>
      </p:graphicFrame>
    </p:spTree>
    <p:extLst>
      <p:ext uri="{BB962C8B-B14F-4D97-AF65-F5344CB8AC3E}">
        <p14:creationId xmlns:p14="http://schemas.microsoft.com/office/powerpoint/2010/main" val="175489234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D13C8A51-9BA0-656B-D73E-2593976D305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0395F51-F2D0-9588-474C-81D333EF3310}"/>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851D7D0D-5B32-20F2-1B85-6E2B9439C5C3}"/>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8" name="TextBox 8">
            <a:extLst>
              <a:ext uri="{FF2B5EF4-FFF2-40B4-BE49-F238E27FC236}">
                <a16:creationId xmlns:a16="http://schemas.microsoft.com/office/drawing/2014/main" id="{391249D9-5D28-474B-8DF0-9FD2136FC953}"/>
              </a:ext>
            </a:extLst>
          </p:cNvPr>
          <p:cNvSpPr txBox="1"/>
          <p:nvPr/>
        </p:nvSpPr>
        <p:spPr>
          <a:xfrm>
            <a:off x="1447800" y="241433"/>
            <a:ext cx="144399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COMPARATIVE ANALYSIS TABLE (Previous)</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D1EE4F66-5A69-DB42-929C-2C430A904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6" name="Picture 5">
            <a:extLst>
              <a:ext uri="{FF2B5EF4-FFF2-40B4-BE49-F238E27FC236}">
                <a16:creationId xmlns:a16="http://schemas.microsoft.com/office/drawing/2014/main" id="{47F843BB-3BEA-70AC-D870-6858DDEDFE36}"/>
              </a:ext>
            </a:extLst>
          </p:cNvPr>
          <p:cNvPicPr>
            <a:picLocks noChangeAspect="1"/>
          </p:cNvPicPr>
          <p:nvPr/>
        </p:nvPicPr>
        <p:blipFill>
          <a:blip r:embed="rId4"/>
          <a:stretch>
            <a:fillRect/>
          </a:stretch>
        </p:blipFill>
        <p:spPr>
          <a:xfrm>
            <a:off x="1447800" y="1190589"/>
            <a:ext cx="15239999" cy="7827546"/>
          </a:xfrm>
          <a:prstGeom prst="rect">
            <a:avLst/>
          </a:prstGeom>
        </p:spPr>
      </p:pic>
    </p:spTree>
    <p:extLst>
      <p:ext uri="{BB962C8B-B14F-4D97-AF65-F5344CB8AC3E}">
        <p14:creationId xmlns:p14="http://schemas.microsoft.com/office/powerpoint/2010/main" val="350019926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0CBB1E7E-982B-10C0-38FE-EC11A555E2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47C5AC9-38E4-3AE3-D8A9-1D63AF1E1E99}"/>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9CA8EF8F-42EB-AD8A-CC9A-BC9DD0703714}"/>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20FC15AE-5DDE-0552-434A-F9040A951391}"/>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8</a:t>
            </a:r>
          </a:p>
        </p:txBody>
      </p:sp>
      <p:sp>
        <p:nvSpPr>
          <p:cNvPr id="8" name="TextBox 8">
            <a:extLst>
              <a:ext uri="{FF2B5EF4-FFF2-40B4-BE49-F238E27FC236}">
                <a16:creationId xmlns:a16="http://schemas.microsoft.com/office/drawing/2014/main" id="{F9740CC0-CAF0-5950-3469-8FEC80C3053A}"/>
              </a:ext>
            </a:extLst>
          </p:cNvPr>
          <p:cNvSpPr txBox="1"/>
          <p:nvPr/>
        </p:nvSpPr>
        <p:spPr>
          <a:xfrm>
            <a:off x="3009900" y="360853"/>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COMPARATIVE ANALYSIS TABLE</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0BA1D0CF-FAB4-C099-6211-489F359C6D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graphicFrame>
        <p:nvGraphicFramePr>
          <p:cNvPr id="4" name="Table 3">
            <a:extLst>
              <a:ext uri="{FF2B5EF4-FFF2-40B4-BE49-F238E27FC236}">
                <a16:creationId xmlns:a16="http://schemas.microsoft.com/office/drawing/2014/main" id="{AB5E6A4D-C7C4-F2C6-D198-DB48C929EF5D}"/>
              </a:ext>
            </a:extLst>
          </p:cNvPr>
          <p:cNvGraphicFramePr>
            <a:graphicFrameLocks noGrp="1"/>
          </p:cNvGraphicFramePr>
          <p:nvPr>
            <p:extLst>
              <p:ext uri="{D42A27DB-BD31-4B8C-83A1-F6EECF244321}">
                <p14:modId xmlns:p14="http://schemas.microsoft.com/office/powerpoint/2010/main" val="2842276089"/>
              </p:ext>
            </p:extLst>
          </p:nvPr>
        </p:nvGraphicFramePr>
        <p:xfrm>
          <a:off x="228600" y="1262359"/>
          <a:ext cx="17830800" cy="7792576"/>
        </p:xfrm>
        <a:graphic>
          <a:graphicData uri="http://schemas.openxmlformats.org/drawingml/2006/table">
            <a:tbl>
              <a:tblPr>
                <a:tableStyleId>{5C22544A-7EE6-4342-B048-85BDC9FD1C3A}</a:tableStyleId>
              </a:tblPr>
              <a:tblGrid>
                <a:gridCol w="2971800">
                  <a:extLst>
                    <a:ext uri="{9D8B030D-6E8A-4147-A177-3AD203B41FA5}">
                      <a16:colId xmlns:a16="http://schemas.microsoft.com/office/drawing/2014/main" val="4278278820"/>
                    </a:ext>
                  </a:extLst>
                </a:gridCol>
                <a:gridCol w="2971800">
                  <a:extLst>
                    <a:ext uri="{9D8B030D-6E8A-4147-A177-3AD203B41FA5}">
                      <a16:colId xmlns:a16="http://schemas.microsoft.com/office/drawing/2014/main" val="207347508"/>
                    </a:ext>
                  </a:extLst>
                </a:gridCol>
                <a:gridCol w="2971800">
                  <a:extLst>
                    <a:ext uri="{9D8B030D-6E8A-4147-A177-3AD203B41FA5}">
                      <a16:colId xmlns:a16="http://schemas.microsoft.com/office/drawing/2014/main" val="1052185738"/>
                    </a:ext>
                  </a:extLst>
                </a:gridCol>
                <a:gridCol w="2971800">
                  <a:extLst>
                    <a:ext uri="{9D8B030D-6E8A-4147-A177-3AD203B41FA5}">
                      <a16:colId xmlns:a16="http://schemas.microsoft.com/office/drawing/2014/main" val="515318931"/>
                    </a:ext>
                  </a:extLst>
                </a:gridCol>
                <a:gridCol w="2971800">
                  <a:extLst>
                    <a:ext uri="{9D8B030D-6E8A-4147-A177-3AD203B41FA5}">
                      <a16:colId xmlns:a16="http://schemas.microsoft.com/office/drawing/2014/main" val="323496073"/>
                    </a:ext>
                  </a:extLst>
                </a:gridCol>
                <a:gridCol w="2971800">
                  <a:extLst>
                    <a:ext uri="{9D8B030D-6E8A-4147-A177-3AD203B41FA5}">
                      <a16:colId xmlns:a16="http://schemas.microsoft.com/office/drawing/2014/main" val="1898625709"/>
                    </a:ext>
                  </a:extLst>
                </a:gridCol>
              </a:tblGrid>
              <a:tr h="608213">
                <a:tc>
                  <a:txBody>
                    <a:bodyPr/>
                    <a:lstStyle/>
                    <a:p>
                      <a:pPr algn="ctr">
                        <a:buNone/>
                      </a:pPr>
                      <a:r>
                        <a:rPr lang="en-IN" sz="2200" dirty="0">
                          <a:latin typeface="Raleway" panose="020B0604020202020204" charset="0"/>
                        </a:rPr>
                        <a:t>Model / Approach</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200">
                          <a:latin typeface="Raleway" panose="020B0604020202020204" charset="0"/>
                        </a:rPr>
                        <a:t>Project Goal</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200">
                          <a:latin typeface="Raleway" panose="020B0604020202020204" charset="0"/>
                        </a:rPr>
                        <a:t>What the Model Does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200">
                          <a:latin typeface="Raleway" panose="020B0604020202020204" charset="0"/>
                        </a:rPr>
                        <a:t>Performance</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200">
                          <a:latin typeface="Raleway" panose="020B0604020202020204" charset="0"/>
                        </a:rPr>
                        <a:t>Limitation</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tc>
                  <a:txBody>
                    <a:bodyPr/>
                    <a:lstStyle/>
                    <a:p>
                      <a:pPr algn="ctr">
                        <a:buNone/>
                      </a:pPr>
                      <a:r>
                        <a:rPr lang="en-IN" sz="2200" dirty="0">
                          <a:latin typeface="Raleway" panose="020B0604020202020204" charset="0"/>
                        </a:rPr>
                        <a:t>CORA Advantage</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A3B18A"/>
                    </a:solidFill>
                  </a:tcPr>
                </a:tc>
                <a:extLst>
                  <a:ext uri="{0D108BD9-81ED-4DB2-BD59-A6C34878D82A}">
                    <a16:rowId xmlns:a16="http://schemas.microsoft.com/office/drawing/2014/main" val="1847176119"/>
                  </a:ext>
                </a:extLst>
              </a:tr>
              <a:tr h="1190625">
                <a:tc>
                  <a:txBody>
                    <a:bodyPr/>
                    <a:lstStyle/>
                    <a:p>
                      <a:pPr>
                        <a:buNone/>
                      </a:pPr>
                      <a:r>
                        <a:rPr lang="en-IN" sz="2200">
                          <a:latin typeface="Raleway" panose="020B0604020202020204" charset="0"/>
                        </a:rPr>
                        <a:t>LDA</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Discover complaint topics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Finds hidden topics from complaint narratives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Accuracy/F1 not reported</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Topic discovery only</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CORA performs supervised complaint classification</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5894655"/>
                  </a:ext>
                </a:extLst>
              </a:tr>
              <a:tr h="1190625">
                <a:tc>
                  <a:txBody>
                    <a:bodyPr/>
                    <a:lstStyle/>
                    <a:p>
                      <a:pPr>
                        <a:buNone/>
                      </a:pPr>
                      <a:r>
                        <a:rPr lang="en-IN" sz="2200" dirty="0" err="1">
                          <a:latin typeface="Raleway" panose="020B0604020202020204" charset="0"/>
                        </a:rPr>
                        <a:t>BERTopic</a:t>
                      </a:r>
                      <a:endParaRPr lang="en-IN" sz="2200" dirty="0">
                        <a:latin typeface="Raleway" panose="020B0604020202020204" charset="0"/>
                      </a:endParaRP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Identify meaningful complaint topics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Uses contextual embeddings to group similar complaints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Topic coherence metrics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Does not provide detailed complaint labels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CORA predicts 4 hierarchical complaint levels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92497470"/>
                  </a:ext>
                </a:extLst>
              </a:tr>
              <a:tr h="1190625">
                <a:tc>
                  <a:txBody>
                    <a:bodyPr/>
                    <a:lstStyle/>
                    <a:p>
                      <a:pPr>
                        <a:buNone/>
                      </a:pPr>
                      <a:r>
                        <a:rPr lang="en-IN" sz="2200">
                          <a:latin typeface="Raleway" panose="020B0604020202020204" charset="0"/>
                        </a:rPr>
                        <a:t>Emotion Detection</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err="1">
                          <a:latin typeface="Raleway" panose="020B0604020202020204" charset="0"/>
                        </a:rPr>
                        <a:t>Analyze</a:t>
                      </a:r>
                      <a:r>
                        <a:rPr lang="en-IN" sz="2200" dirty="0">
                          <a:latin typeface="Raleway" panose="020B0604020202020204" charset="0"/>
                        </a:rPr>
                        <a:t> customer emotions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Detects emotional patterns in complaints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Emotion-based metrics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Focuses on emotion, not complaint type</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CORA identifies complaint type and enables routing</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9896148"/>
                  </a:ext>
                </a:extLst>
              </a:tr>
              <a:tr h="1190625">
                <a:tc>
                  <a:txBody>
                    <a:bodyPr/>
                    <a:lstStyle/>
                    <a:p>
                      <a:pPr>
                        <a:buNone/>
                      </a:pPr>
                      <a:r>
                        <a:rPr lang="en-IN" sz="2200">
                          <a:latin typeface="Raleway" panose="020B0604020202020204" charset="0"/>
                        </a:rPr>
                        <a:t>LSTM</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Classify complaint text</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Learns sequential patterns in complaint narratives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Transformer models performed better in cited comparison</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Weaker contextual understanding</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CORA uses BERT's contextual representation</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2128739"/>
                  </a:ext>
                </a:extLst>
              </a:tr>
              <a:tr h="1012950">
                <a:tc>
                  <a:txBody>
                    <a:bodyPr/>
                    <a:lstStyle/>
                    <a:p>
                      <a:pPr>
                        <a:buNone/>
                      </a:pPr>
                      <a:r>
                        <a:rPr lang="en-IN" sz="2200">
                          <a:latin typeface="Raleway" panose="020B0604020202020204" charset="0"/>
                        </a:rPr>
                        <a:t>LLM Classification</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Classify financial complaints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Assigns complaints to broad financial categories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77.7% Accuracy / 77.64% F1</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Broad categories; no complete routing</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CORA provides fine-grained classification + routing</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6663060"/>
                  </a:ext>
                </a:extLst>
              </a:tr>
              <a:tr h="1378619">
                <a:tc>
                  <a:txBody>
                    <a:bodyPr/>
                    <a:lstStyle/>
                    <a:p>
                      <a:pPr>
                        <a:buNone/>
                      </a:pPr>
                      <a:r>
                        <a:rPr lang="en-IN" sz="2200" dirty="0">
                          <a:latin typeface="Raleway" panose="020B0604020202020204" charset="0"/>
                        </a:rPr>
                        <a:t>Proposed CORA</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Classify, route &amp; manage banking complaints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Fine-tuned BERT + hierarchical classification + Business Rules</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Current baseline: 83.19% Product Accuracy / 83.17% F1</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a:latin typeface="Raleway" panose="020B0604020202020204" charset="0"/>
                        </a:rPr>
                        <a:t>Fine-grained levels still being improved</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200" dirty="0">
                          <a:latin typeface="Raleway" panose="020B0604020202020204" charset="0"/>
                        </a:rPr>
                        <a:t>Product → Sub-product → Issue → Sub-issue → Ticket → Routing → Tracking</a:t>
                      </a:r>
                    </a:p>
                  </a:txBody>
                  <a:tcPr marL="37405" marR="37405" marT="18702" marB="1870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349427"/>
                  </a:ext>
                </a:extLst>
              </a:tr>
            </a:tbl>
          </a:graphicData>
        </a:graphic>
      </p:graphicFrame>
    </p:spTree>
    <p:extLst>
      <p:ext uri="{BB962C8B-B14F-4D97-AF65-F5344CB8AC3E}">
        <p14:creationId xmlns:p14="http://schemas.microsoft.com/office/powerpoint/2010/main" val="415670880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a:extLst>
            <a:ext uri="{FF2B5EF4-FFF2-40B4-BE49-F238E27FC236}">
              <a16:creationId xmlns:a16="http://schemas.microsoft.com/office/drawing/2014/main" id="{ED0FDA12-D324-4EA0-F3B7-57D07BA179A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ABE657B-F6A5-BC77-3F97-E6BFD72FB61E}"/>
              </a:ext>
            </a:extLst>
          </p:cNvPr>
          <p:cNvGrpSpPr/>
          <p:nvPr/>
        </p:nvGrpSpPr>
        <p:grpSpPr>
          <a:xfrm>
            <a:off x="0" y="9258300"/>
            <a:ext cx="18288000" cy="1028700"/>
            <a:chOff x="0" y="0"/>
            <a:chExt cx="12372622" cy="695960"/>
          </a:xfrm>
        </p:grpSpPr>
        <p:sp>
          <p:nvSpPr>
            <p:cNvPr id="3" name="Freeform 3">
              <a:extLst>
                <a:ext uri="{FF2B5EF4-FFF2-40B4-BE49-F238E27FC236}">
                  <a16:creationId xmlns:a16="http://schemas.microsoft.com/office/drawing/2014/main" id="{A2EEC097-CE5A-4779-9791-2553EB0E500C}"/>
                </a:ext>
              </a:extLst>
            </p:cNvPr>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7" name="TextBox 7">
            <a:extLst>
              <a:ext uri="{FF2B5EF4-FFF2-40B4-BE49-F238E27FC236}">
                <a16:creationId xmlns:a16="http://schemas.microsoft.com/office/drawing/2014/main" id="{E40C7693-87E7-DB49-F973-C0C6891EC395}"/>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9</a:t>
            </a:r>
          </a:p>
        </p:txBody>
      </p:sp>
      <p:sp>
        <p:nvSpPr>
          <p:cNvPr id="8" name="TextBox 8">
            <a:extLst>
              <a:ext uri="{FF2B5EF4-FFF2-40B4-BE49-F238E27FC236}">
                <a16:creationId xmlns:a16="http://schemas.microsoft.com/office/drawing/2014/main" id="{F55CE5E5-CA70-0933-B033-3F1654592CFE}"/>
              </a:ext>
            </a:extLst>
          </p:cNvPr>
          <p:cNvSpPr txBox="1"/>
          <p:nvPr/>
        </p:nvSpPr>
        <p:spPr>
          <a:xfrm>
            <a:off x="3009900" y="360853"/>
            <a:ext cx="12268200" cy="829073"/>
          </a:xfrm>
          <a:prstGeom prst="rect">
            <a:avLst/>
          </a:prstGeom>
        </p:spPr>
        <p:txBody>
          <a:bodyPr wrap="square" lIns="0" tIns="0" rIns="0" bIns="0" rtlCol="0" anchor="t">
            <a:spAutoFit/>
          </a:bodyPr>
          <a:lstStyle/>
          <a:p>
            <a:pPr algn="ctr">
              <a:lnSpc>
                <a:spcPts val="6719"/>
              </a:lnSpc>
            </a:pPr>
            <a:r>
              <a:rPr lang="en-IN" sz="4800" dirty="0">
                <a:latin typeface="Prata" panose="020B0604020202020204" charset="0"/>
              </a:rPr>
              <a:t>OUTPUT</a:t>
            </a:r>
            <a:endParaRPr lang="en-US" sz="4800" dirty="0">
              <a:solidFill>
                <a:srgbClr val="344E41"/>
              </a:solidFill>
              <a:latin typeface="Prata" panose="020B0604020202020204" charset="0"/>
              <a:ea typeface="Prata"/>
              <a:cs typeface="Prata"/>
              <a:sym typeface="Prata"/>
            </a:endParaRPr>
          </a:p>
        </p:txBody>
      </p:sp>
      <p:pic>
        <p:nvPicPr>
          <p:cNvPr id="10" name="Picture 9">
            <a:extLst>
              <a:ext uri="{FF2B5EF4-FFF2-40B4-BE49-F238E27FC236}">
                <a16:creationId xmlns:a16="http://schemas.microsoft.com/office/drawing/2014/main" id="{7325417B-05ED-F43D-4805-BBB5E15407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92553" y="-69011"/>
            <a:ext cx="2395447" cy="1200650"/>
          </a:xfrm>
          <a:prstGeom prst="rect">
            <a:avLst/>
          </a:prstGeom>
          <a:noFill/>
          <a:ln>
            <a:noFill/>
          </a:ln>
        </p:spPr>
      </p:pic>
      <p:pic>
        <p:nvPicPr>
          <p:cNvPr id="5" name="Picture 4">
            <a:extLst>
              <a:ext uri="{FF2B5EF4-FFF2-40B4-BE49-F238E27FC236}">
                <a16:creationId xmlns:a16="http://schemas.microsoft.com/office/drawing/2014/main" id="{E91DC455-F157-448A-76A1-82F116A39DA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1" y="2095500"/>
            <a:ext cx="9306103" cy="4648200"/>
          </a:xfrm>
          <a:prstGeom prst="rect">
            <a:avLst/>
          </a:prstGeom>
        </p:spPr>
      </p:pic>
      <p:pic>
        <p:nvPicPr>
          <p:cNvPr id="12" name="Picture 11">
            <a:extLst>
              <a:ext uri="{FF2B5EF4-FFF2-40B4-BE49-F238E27FC236}">
                <a16:creationId xmlns:a16="http://schemas.microsoft.com/office/drawing/2014/main" id="{BE148D7C-846D-8900-A7BE-A8290B44ED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98082" y="2095499"/>
            <a:ext cx="8897455" cy="4648201"/>
          </a:xfrm>
          <a:prstGeom prst="rect">
            <a:avLst/>
          </a:prstGeom>
        </p:spPr>
      </p:pic>
    </p:spTree>
    <p:extLst>
      <p:ext uri="{BB962C8B-B14F-4D97-AF65-F5344CB8AC3E}">
        <p14:creationId xmlns:p14="http://schemas.microsoft.com/office/powerpoint/2010/main" val="301854579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AD7CD"/>
        </a:solidFill>
        <a:effectLst/>
      </p:bgPr>
    </p:bg>
    <p:spTree>
      <p:nvGrpSpPr>
        <p:cNvPr id="1" name=""/>
        <p:cNvGrpSpPr/>
        <p:nvPr/>
      </p:nvGrpSpPr>
      <p:grpSpPr>
        <a:xfrm>
          <a:off x="0" y="0"/>
          <a:ext cx="0" cy="0"/>
          <a:chOff x="0" y="0"/>
          <a:chExt cx="0" cy="0"/>
        </a:xfrm>
      </p:grpSpPr>
      <p:sp>
        <p:nvSpPr>
          <p:cNvPr id="2" name="TextBox 2"/>
          <p:cNvSpPr txBox="1"/>
          <p:nvPr/>
        </p:nvSpPr>
        <p:spPr>
          <a:xfrm>
            <a:off x="2776554" y="4533900"/>
            <a:ext cx="12734892" cy="1535036"/>
          </a:xfrm>
          <a:prstGeom prst="rect">
            <a:avLst/>
          </a:prstGeom>
        </p:spPr>
        <p:txBody>
          <a:bodyPr lIns="0" tIns="0" rIns="0" bIns="0" rtlCol="0" anchor="t">
            <a:spAutoFit/>
          </a:bodyPr>
          <a:lstStyle/>
          <a:p>
            <a:pPr algn="ctr">
              <a:lnSpc>
                <a:spcPts val="11400"/>
              </a:lnSpc>
            </a:pPr>
            <a:r>
              <a:rPr lang="en-US" sz="11400" dirty="0">
                <a:solidFill>
                  <a:srgbClr val="344E41"/>
                </a:solidFill>
                <a:latin typeface="Prata"/>
                <a:ea typeface="Prata"/>
                <a:cs typeface="Prata"/>
                <a:sym typeface="Prata"/>
              </a:rPr>
              <a:t>THANK YOU</a:t>
            </a:r>
          </a:p>
        </p:txBody>
      </p:sp>
      <p:grpSp>
        <p:nvGrpSpPr>
          <p:cNvPr id="3" name="Group 3"/>
          <p:cNvGrpSpPr/>
          <p:nvPr/>
        </p:nvGrpSpPr>
        <p:grpSpPr>
          <a:xfrm>
            <a:off x="0" y="9258300"/>
            <a:ext cx="18288000" cy="1028700"/>
            <a:chOff x="0" y="0"/>
            <a:chExt cx="12372622" cy="695960"/>
          </a:xfrm>
        </p:grpSpPr>
        <p:sp>
          <p:nvSpPr>
            <p:cNvPr id="4" name="Freeform 4"/>
            <p:cNvSpPr/>
            <p:nvPr/>
          </p:nvSpPr>
          <p:spPr>
            <a:xfrm>
              <a:off x="0" y="0"/>
              <a:ext cx="12372622" cy="695960"/>
            </a:xfrm>
            <a:custGeom>
              <a:avLst/>
              <a:gdLst/>
              <a:ahLst/>
              <a:cxnLst/>
              <a:rect l="l" t="t" r="r" b="b"/>
              <a:pathLst>
                <a:path w="12372622" h="695960">
                  <a:moveTo>
                    <a:pt x="0" y="0"/>
                  </a:moveTo>
                  <a:lnTo>
                    <a:pt x="12372622" y="0"/>
                  </a:lnTo>
                  <a:lnTo>
                    <a:pt x="12372622" y="695960"/>
                  </a:lnTo>
                  <a:lnTo>
                    <a:pt x="0" y="695960"/>
                  </a:lnTo>
                  <a:close/>
                </a:path>
              </a:pathLst>
            </a:custGeom>
            <a:solidFill>
              <a:srgbClr val="A3B18A"/>
            </a:solidFill>
          </p:spPr>
        </p:sp>
      </p:grpSp>
      <p:sp>
        <p:nvSpPr>
          <p:cNvPr id="10" name="TextBox 7">
            <a:extLst>
              <a:ext uri="{FF2B5EF4-FFF2-40B4-BE49-F238E27FC236}">
                <a16:creationId xmlns:a16="http://schemas.microsoft.com/office/drawing/2014/main" id="{AF43FBDD-9F48-12BC-B0E4-FE89E68007E9}"/>
              </a:ext>
            </a:extLst>
          </p:cNvPr>
          <p:cNvSpPr txBox="1"/>
          <p:nvPr/>
        </p:nvSpPr>
        <p:spPr>
          <a:xfrm>
            <a:off x="14091936" y="9510857"/>
            <a:ext cx="3167364" cy="415290"/>
          </a:xfrm>
          <a:prstGeom prst="rect">
            <a:avLst/>
          </a:prstGeom>
        </p:spPr>
        <p:txBody>
          <a:bodyPr lIns="0" tIns="0" rIns="0" bIns="0" rtlCol="0" anchor="t">
            <a:spAutoFit/>
          </a:bodyPr>
          <a:lstStyle/>
          <a:p>
            <a:pPr algn="r">
              <a:lnSpc>
                <a:spcPts val="3359"/>
              </a:lnSpc>
            </a:pPr>
            <a:r>
              <a:rPr lang="en-US" sz="2400" dirty="0">
                <a:solidFill>
                  <a:srgbClr val="344E41"/>
                </a:solidFill>
                <a:latin typeface="Raleway"/>
                <a:ea typeface="Raleway"/>
                <a:cs typeface="Raleway"/>
                <a:sym typeface="Raleway"/>
              </a:rPr>
              <a:t>10</a:t>
            </a:r>
          </a:p>
        </p:txBody>
      </p:sp>
      <p:pic>
        <p:nvPicPr>
          <p:cNvPr id="12" name="Picture 11">
            <a:extLst>
              <a:ext uri="{FF2B5EF4-FFF2-40B4-BE49-F238E27FC236}">
                <a16:creationId xmlns:a16="http://schemas.microsoft.com/office/drawing/2014/main" id="{4FE86A1C-5221-116F-EF68-28F5BEEAE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25800" y="-69011"/>
            <a:ext cx="2395447" cy="120065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TotalTime>
  <Words>1167</Words>
  <Application>Microsoft Office PowerPoint</Application>
  <PresentationFormat>Custom</PresentationFormat>
  <Paragraphs>295</Paragraphs>
  <Slides>14</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Prata</vt:lpstr>
      <vt:lpstr>Raleway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Monochromatic Simple The Minimalist Presentation Template</dc:title>
  <dc:creator>Kundana Mani</dc:creator>
  <cp:lastModifiedBy>Kundana Mani B</cp:lastModifiedBy>
  <cp:revision>17</cp:revision>
  <dcterms:created xsi:type="dcterms:W3CDTF">2006-08-16T00:00:00Z</dcterms:created>
  <dcterms:modified xsi:type="dcterms:W3CDTF">2026-10-16T17:56:14Z</dcterms:modified>
  <dc:identifier>DAHRUIAc530</dc:identifier>
</cp:coreProperties>
</file>